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438" r:id="rId2"/>
    <p:sldId id="462" r:id="rId3"/>
    <p:sldId id="472" r:id="rId4"/>
    <p:sldId id="463" r:id="rId5"/>
    <p:sldId id="475" r:id="rId6"/>
    <p:sldId id="470" r:id="rId7"/>
    <p:sldId id="484" r:id="rId8"/>
    <p:sldId id="490" r:id="rId9"/>
    <p:sldId id="476" r:id="rId10"/>
    <p:sldId id="473" r:id="rId11"/>
    <p:sldId id="486" r:id="rId12"/>
    <p:sldId id="468" r:id="rId13"/>
    <p:sldId id="491" r:id="rId14"/>
    <p:sldId id="492" r:id="rId15"/>
    <p:sldId id="483" r:id="rId16"/>
    <p:sldId id="494" r:id="rId17"/>
    <p:sldId id="495" r:id="rId18"/>
    <p:sldId id="496" r:id="rId19"/>
    <p:sldId id="498" r:id="rId20"/>
    <p:sldId id="499" r:id="rId21"/>
    <p:sldId id="477" r:id="rId22"/>
    <p:sldId id="485" r:id="rId23"/>
    <p:sldId id="489" r:id="rId24"/>
    <p:sldId id="478" r:id="rId25"/>
    <p:sldId id="479" r:id="rId26"/>
    <p:sldId id="487" r:id="rId27"/>
    <p:sldId id="480" r:id="rId28"/>
    <p:sldId id="481" r:id="rId29"/>
    <p:sldId id="482" r:id="rId30"/>
    <p:sldId id="497" r:id="rId31"/>
    <p:sldId id="488" r:id="rId32"/>
    <p:sldId id="474" r:id="rId33"/>
    <p:sldId id="471"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7" autoAdjust="0"/>
    <p:restoredTop sz="94660"/>
  </p:normalViewPr>
  <p:slideViewPr>
    <p:cSldViewPr snapToGrid="0">
      <p:cViewPr varScale="1">
        <p:scale>
          <a:sx n="74" d="100"/>
          <a:sy n="74" d="100"/>
        </p:scale>
        <p:origin x="351"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0F54F2-C77D-48AB-9D93-695360BED672}" type="datetimeFigureOut">
              <a:rPr lang="zh-CN" altLang="en-US" smtClean="0"/>
              <a:t>2025/1/2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95605-F815-4080-8738-C8ED15712A5E}" type="slidenum">
              <a:rPr lang="zh-CN" altLang="en-US" smtClean="0"/>
              <a:t>‹#›</a:t>
            </a:fld>
            <a:endParaRPr lang="zh-CN" altLang="en-US"/>
          </a:p>
        </p:txBody>
      </p:sp>
    </p:spTree>
    <p:extLst>
      <p:ext uri="{BB962C8B-B14F-4D97-AF65-F5344CB8AC3E}">
        <p14:creationId xmlns:p14="http://schemas.microsoft.com/office/powerpoint/2010/main" val="2961919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老师同学们新年快乐</a:t>
            </a:r>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3312160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E8E5-D5BB-42F7-56BE-B3A0E3A1665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F54918-4472-27E0-7CC3-77780777865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72B1F1-C052-E5F8-54E4-9ADB0D7FEE1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B20E148-C361-DD2B-4F54-403DADCB2251}"/>
              </a:ext>
            </a:extLst>
          </p:cNvPr>
          <p:cNvSpPr>
            <a:spLocks noGrp="1"/>
          </p:cNvSpPr>
          <p:nvPr>
            <p:ph type="sldNum" sz="quarter" idx="10"/>
          </p:nvPr>
        </p:nvSpPr>
        <p:spPr/>
        <p:txBody>
          <a:bodyPr/>
          <a:lstStyle/>
          <a:p>
            <a:fld id="{F1CB8912-F0BA-4AD8-8415-DA1F26BCB09F}" type="slidenum">
              <a:rPr lang="zh-CN" altLang="en-US" smtClean="0"/>
              <a:t>2</a:t>
            </a:fld>
            <a:endParaRPr lang="zh-CN" altLang="en-US"/>
          </a:p>
        </p:txBody>
      </p:sp>
    </p:spTree>
    <p:extLst>
      <p:ext uri="{BB962C8B-B14F-4D97-AF65-F5344CB8AC3E}">
        <p14:creationId xmlns:p14="http://schemas.microsoft.com/office/powerpoint/2010/main" val="1960509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F41A3-2F81-7C1E-39A5-E9C0B074D4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BC9E50-7093-E37C-740D-DA71517C81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9648C3-CF45-D70C-3148-1315086D6FFE}"/>
              </a:ext>
            </a:extLst>
          </p:cNvPr>
          <p:cNvSpPr>
            <a:spLocks noGrp="1"/>
          </p:cNvSpPr>
          <p:nvPr>
            <p:ph type="body" idx="1"/>
          </p:nvPr>
        </p:nvSpPr>
        <p:spPr/>
        <p:txBody>
          <a:bodyPr/>
          <a:lstStyle/>
          <a:p>
            <a:r>
              <a:rPr lang="zh-CN" altLang="en-US" dirty="0"/>
              <a:t>没有做精致的开发，主要侧重于课堂上学到的基础方法做系统性的复习和整体应用。</a:t>
            </a:r>
          </a:p>
        </p:txBody>
      </p:sp>
      <p:sp>
        <p:nvSpPr>
          <p:cNvPr id="4" name="灯片编号占位符 3">
            <a:extLst>
              <a:ext uri="{FF2B5EF4-FFF2-40B4-BE49-F238E27FC236}">
                <a16:creationId xmlns:a16="http://schemas.microsoft.com/office/drawing/2014/main" id="{5C790ABA-6DF2-19E6-8405-1FC2AAB6E25C}"/>
              </a:ext>
            </a:extLst>
          </p:cNvPr>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3652985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7CADB-87F5-D3AD-FD60-B30CA07CD6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351083-D2C1-48EE-BD90-A561B999EB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B815A1D-35B0-1131-8882-D66ABB6AED94}"/>
              </a:ext>
            </a:extLst>
          </p:cNvPr>
          <p:cNvSpPr>
            <a:spLocks noGrp="1"/>
          </p:cNvSpPr>
          <p:nvPr>
            <p:ph type="body" idx="1"/>
          </p:nvPr>
        </p:nvSpPr>
        <p:spPr/>
        <p:txBody>
          <a:bodyPr/>
          <a:lstStyle/>
          <a:p>
            <a:r>
              <a:rPr lang="zh-CN" altLang="en-US" dirty="0"/>
              <a:t>使用到的数据集包含两个部分</a:t>
            </a:r>
          </a:p>
        </p:txBody>
      </p:sp>
      <p:sp>
        <p:nvSpPr>
          <p:cNvPr id="4" name="灯片编号占位符 3">
            <a:extLst>
              <a:ext uri="{FF2B5EF4-FFF2-40B4-BE49-F238E27FC236}">
                <a16:creationId xmlns:a16="http://schemas.microsoft.com/office/drawing/2014/main" id="{34505296-037D-3B3A-F8C5-250AF3A2BA59}"/>
              </a:ext>
            </a:extLst>
          </p:cNvPr>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3879691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74128-A010-BA3F-1274-2F0EB5AC8E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836CCA-6291-8024-6A7C-259086DB84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2278EB-E2F2-FC97-27FA-43E335E00101}"/>
              </a:ext>
            </a:extLst>
          </p:cNvPr>
          <p:cNvSpPr>
            <a:spLocks noGrp="1"/>
          </p:cNvSpPr>
          <p:nvPr>
            <p:ph type="body" idx="1"/>
          </p:nvPr>
        </p:nvSpPr>
        <p:spPr/>
        <p:txBody>
          <a:bodyPr/>
          <a:lstStyle/>
          <a:p>
            <a:r>
              <a:rPr lang="zh-CN" altLang="en-US" dirty="0"/>
              <a:t>作为交互验证，我们还收集了另一组数据集</a:t>
            </a:r>
          </a:p>
        </p:txBody>
      </p:sp>
      <p:sp>
        <p:nvSpPr>
          <p:cNvPr id="4" name="灯片编号占位符 3">
            <a:extLst>
              <a:ext uri="{FF2B5EF4-FFF2-40B4-BE49-F238E27FC236}">
                <a16:creationId xmlns:a16="http://schemas.microsoft.com/office/drawing/2014/main" id="{5F186CA1-8B3F-60A1-04DD-6E26354CFBAC}"/>
              </a:ext>
            </a:extLst>
          </p:cNvPr>
          <p:cNvSpPr>
            <a:spLocks noGrp="1"/>
          </p:cNvSpPr>
          <p:nvPr>
            <p:ph type="sldNum" sz="quarter" idx="10"/>
          </p:nvPr>
        </p:nvSpPr>
        <p:spPr/>
        <p:txBody>
          <a:bodyPr/>
          <a:lstStyle/>
          <a:p>
            <a:fld id="{F1CB8912-F0BA-4AD8-8415-DA1F26BCB09F}" type="slidenum">
              <a:rPr lang="zh-CN" altLang="en-US" smtClean="0"/>
              <a:t>5</a:t>
            </a:fld>
            <a:endParaRPr lang="zh-CN" altLang="en-US"/>
          </a:p>
        </p:txBody>
      </p:sp>
    </p:spTree>
    <p:extLst>
      <p:ext uri="{BB962C8B-B14F-4D97-AF65-F5344CB8AC3E}">
        <p14:creationId xmlns:p14="http://schemas.microsoft.com/office/powerpoint/2010/main" val="1261117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ACFD3-95D6-74C9-3A58-FD708947D5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8978A7-2E0E-91B4-34CB-A6EB2A2066D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6D3D9E-99D4-3FD3-75C8-C94EFB091AC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118CF1C-6F93-456F-65DE-A1F678BB17E1}"/>
              </a:ext>
            </a:extLst>
          </p:cNvPr>
          <p:cNvSpPr>
            <a:spLocks noGrp="1"/>
          </p:cNvSpPr>
          <p:nvPr>
            <p:ph type="sldNum" sz="quarter" idx="10"/>
          </p:nvPr>
        </p:nvSpPr>
        <p:spPr/>
        <p:txBody>
          <a:bodyPr/>
          <a:lstStyle/>
          <a:p>
            <a:fld id="{F1CB8912-F0BA-4AD8-8415-DA1F26BCB09F}" type="slidenum">
              <a:rPr lang="zh-CN" altLang="en-US" smtClean="0"/>
              <a:t>6</a:t>
            </a:fld>
            <a:endParaRPr lang="zh-CN" altLang="en-US"/>
          </a:p>
        </p:txBody>
      </p:sp>
    </p:spTree>
    <p:extLst>
      <p:ext uri="{BB962C8B-B14F-4D97-AF65-F5344CB8AC3E}">
        <p14:creationId xmlns:p14="http://schemas.microsoft.com/office/powerpoint/2010/main" val="1750877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AA8F4-D542-933D-EB7F-F749B8B9AC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6A15D9-24E9-CAE7-E83F-6980C06346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18330C-430A-D2F5-1A0A-E0B4508F897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D2C909F-F250-E876-EEE9-7032C6820F98}"/>
              </a:ext>
            </a:extLst>
          </p:cNvPr>
          <p:cNvSpPr>
            <a:spLocks noGrp="1"/>
          </p:cNvSpPr>
          <p:nvPr>
            <p:ph type="sldNum" sz="quarter" idx="10"/>
          </p:nvPr>
        </p:nvSpPr>
        <p:spPr/>
        <p:txBody>
          <a:bodyPr/>
          <a:lstStyle/>
          <a:p>
            <a:fld id="{F1CB8912-F0BA-4AD8-8415-DA1F26BCB09F}" type="slidenum">
              <a:rPr lang="zh-CN" altLang="en-US" smtClean="0"/>
              <a:t>7</a:t>
            </a:fld>
            <a:endParaRPr lang="zh-CN" altLang="en-US"/>
          </a:p>
        </p:txBody>
      </p:sp>
    </p:spTree>
    <p:extLst>
      <p:ext uri="{BB962C8B-B14F-4D97-AF65-F5344CB8AC3E}">
        <p14:creationId xmlns:p14="http://schemas.microsoft.com/office/powerpoint/2010/main" val="2859983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2C7A0-1B6F-7433-1156-ADF4D88E9AB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B09A2-00BB-348D-6A2C-94892E47F1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9E0DA1-8604-6C75-74AF-846D6169143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726B16-EFCF-3372-473A-F4290CB6535A}"/>
              </a:ext>
            </a:extLst>
          </p:cNvPr>
          <p:cNvSpPr>
            <a:spLocks noGrp="1"/>
          </p:cNvSpPr>
          <p:nvPr>
            <p:ph type="sldNum" sz="quarter" idx="10"/>
          </p:nvPr>
        </p:nvSpPr>
        <p:spPr/>
        <p:txBody>
          <a:bodyPr/>
          <a:lstStyle/>
          <a:p>
            <a:fld id="{F1CB8912-F0BA-4AD8-8415-DA1F26BCB09F}" type="slidenum">
              <a:rPr lang="zh-CN" altLang="en-US" smtClean="0"/>
              <a:t>8</a:t>
            </a:fld>
            <a:endParaRPr lang="zh-CN" altLang="en-US"/>
          </a:p>
        </p:txBody>
      </p:sp>
    </p:spTree>
    <p:extLst>
      <p:ext uri="{BB962C8B-B14F-4D97-AF65-F5344CB8AC3E}">
        <p14:creationId xmlns:p14="http://schemas.microsoft.com/office/powerpoint/2010/main" val="4022543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A65D-7F1E-B9AF-41F5-6C8E38E518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C1F7EC-D678-E0FC-2EBB-25CC138407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2590E13-9190-EA10-E14F-D6DD9B3E651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DC7D472-9E83-BB5B-ADE8-26D2EC074CDD}"/>
              </a:ext>
            </a:extLst>
          </p:cNvPr>
          <p:cNvSpPr>
            <a:spLocks noGrp="1"/>
          </p:cNvSpPr>
          <p:nvPr>
            <p:ph type="sldNum" sz="quarter" idx="10"/>
          </p:nvPr>
        </p:nvSpPr>
        <p:spPr/>
        <p:txBody>
          <a:bodyPr/>
          <a:lstStyle/>
          <a:p>
            <a:fld id="{F1CB8912-F0BA-4AD8-8415-DA1F26BCB09F}" type="slidenum">
              <a:rPr lang="zh-CN" altLang="en-US" smtClean="0"/>
              <a:t>9</a:t>
            </a:fld>
            <a:endParaRPr lang="zh-CN" altLang="en-US"/>
          </a:p>
        </p:txBody>
      </p:sp>
    </p:spTree>
    <p:extLst>
      <p:ext uri="{BB962C8B-B14F-4D97-AF65-F5344CB8AC3E}">
        <p14:creationId xmlns:p14="http://schemas.microsoft.com/office/powerpoint/2010/main" val="2520864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D7386-E3A0-08D8-DC42-148B888802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115BA0-A45F-BA0C-6723-CD9E942A22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6CA9D78-F421-9F8E-50BE-D5DF9DCA9C9D}"/>
              </a:ext>
            </a:extLst>
          </p:cNvPr>
          <p:cNvSpPr>
            <a:spLocks noGrp="1"/>
          </p:cNvSpPr>
          <p:nvPr>
            <p:ph type="body" idx="1"/>
          </p:nvPr>
        </p:nvSpPr>
        <p:spPr/>
        <p:txBody>
          <a:bodyPr/>
          <a:lstStyle/>
          <a:p>
            <a:r>
              <a:rPr lang="zh-CN" altLang="en-US" dirty="0"/>
              <a:t>下面的数据分析方法分成两部分，第一部分是对已有数据的分布进行整理和可视化，使得运营方能够对整体分布有了解</a:t>
            </a:r>
          </a:p>
        </p:txBody>
      </p:sp>
      <p:sp>
        <p:nvSpPr>
          <p:cNvPr id="4" name="灯片编号占位符 3">
            <a:extLst>
              <a:ext uri="{FF2B5EF4-FFF2-40B4-BE49-F238E27FC236}">
                <a16:creationId xmlns:a16="http://schemas.microsoft.com/office/drawing/2014/main" id="{4E69C0F7-A1BA-26A4-4ADD-6DA2D6634B4B}"/>
              </a:ext>
            </a:extLst>
          </p:cNvPr>
          <p:cNvSpPr>
            <a:spLocks noGrp="1"/>
          </p:cNvSpPr>
          <p:nvPr>
            <p:ph type="sldNum" sz="quarter" idx="10"/>
          </p:nvPr>
        </p:nvSpPr>
        <p:spPr/>
        <p:txBody>
          <a:bodyPr/>
          <a:lstStyle/>
          <a:p>
            <a:fld id="{F1CB8912-F0BA-4AD8-8415-DA1F26BCB09F}" type="slidenum">
              <a:rPr lang="zh-CN" altLang="en-US" smtClean="0"/>
              <a:t>10</a:t>
            </a:fld>
            <a:endParaRPr lang="zh-CN" altLang="en-US"/>
          </a:p>
        </p:txBody>
      </p:sp>
    </p:spTree>
    <p:extLst>
      <p:ext uri="{BB962C8B-B14F-4D97-AF65-F5344CB8AC3E}">
        <p14:creationId xmlns:p14="http://schemas.microsoft.com/office/powerpoint/2010/main" val="2495899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14CC-4683-A21D-E7D0-EF0C8147B8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AE6EB-1C64-D89D-AA00-762C141E9F3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E87720-BCBC-01C2-B728-468541BC89D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C7AC42-8C03-948E-0790-581E40E1FB4E}"/>
              </a:ext>
            </a:extLst>
          </p:cNvPr>
          <p:cNvSpPr>
            <a:spLocks noGrp="1"/>
          </p:cNvSpPr>
          <p:nvPr>
            <p:ph type="sldNum" sz="quarter" idx="10"/>
          </p:nvPr>
        </p:nvSpPr>
        <p:spPr/>
        <p:txBody>
          <a:bodyPr/>
          <a:lstStyle/>
          <a:p>
            <a:fld id="{F1CB8912-F0BA-4AD8-8415-DA1F26BCB09F}" type="slidenum">
              <a:rPr lang="zh-CN" altLang="en-US" smtClean="0"/>
              <a:t>11</a:t>
            </a:fld>
            <a:endParaRPr lang="zh-CN" altLang="en-US"/>
          </a:p>
        </p:txBody>
      </p:sp>
    </p:spTree>
    <p:extLst>
      <p:ext uri="{BB962C8B-B14F-4D97-AF65-F5344CB8AC3E}">
        <p14:creationId xmlns:p14="http://schemas.microsoft.com/office/powerpoint/2010/main" val="3061590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5B18E-3874-C4E7-9A6F-E1BB30AD56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FF37F0-ED17-4315-42BC-F432598548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2AC3298-D1E3-1A94-824D-13611E102E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7193C4-FE3A-458A-014F-17B269E971B5}"/>
              </a:ext>
            </a:extLst>
          </p:cNvPr>
          <p:cNvSpPr>
            <a:spLocks noGrp="1"/>
          </p:cNvSpPr>
          <p:nvPr>
            <p:ph type="sldNum" sz="quarter" idx="10"/>
          </p:nvPr>
        </p:nvSpPr>
        <p:spPr/>
        <p:txBody>
          <a:bodyPr/>
          <a:lstStyle/>
          <a:p>
            <a:fld id="{F1CB8912-F0BA-4AD8-8415-DA1F26BCB09F}" type="slidenum">
              <a:rPr lang="zh-CN" altLang="en-US" smtClean="0"/>
              <a:t>12</a:t>
            </a:fld>
            <a:endParaRPr lang="zh-CN" altLang="en-US"/>
          </a:p>
        </p:txBody>
      </p:sp>
    </p:spTree>
    <p:extLst>
      <p:ext uri="{BB962C8B-B14F-4D97-AF65-F5344CB8AC3E}">
        <p14:creationId xmlns:p14="http://schemas.microsoft.com/office/powerpoint/2010/main" val="1618696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D3AFA-FCB9-FD5D-F314-5EA46B8151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25C42B-6523-C9C9-9317-615646CFDF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DC7F84-0B48-3D37-ED54-AAD7C6510BA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9DF2A45-B93F-60C2-48EA-C47D5C7101DB}"/>
              </a:ext>
            </a:extLst>
          </p:cNvPr>
          <p:cNvSpPr>
            <a:spLocks noGrp="1"/>
          </p:cNvSpPr>
          <p:nvPr>
            <p:ph type="sldNum" sz="quarter" idx="10"/>
          </p:nvPr>
        </p:nvSpPr>
        <p:spPr/>
        <p:txBody>
          <a:bodyPr/>
          <a:lstStyle/>
          <a:p>
            <a:fld id="{F1CB8912-F0BA-4AD8-8415-DA1F26BCB09F}" type="slidenum">
              <a:rPr lang="zh-CN" altLang="en-US" smtClean="0"/>
              <a:t>13</a:t>
            </a:fld>
            <a:endParaRPr lang="zh-CN" altLang="en-US"/>
          </a:p>
        </p:txBody>
      </p:sp>
    </p:spTree>
    <p:extLst>
      <p:ext uri="{BB962C8B-B14F-4D97-AF65-F5344CB8AC3E}">
        <p14:creationId xmlns:p14="http://schemas.microsoft.com/office/powerpoint/2010/main" val="3643800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F53A6-EFD2-EF12-B1FC-E684B8326B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15D2E8-7246-316D-CE78-C548922CCB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EFC6D5-0BA2-FBC7-E3E0-52616CF579B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F3D96A2-F131-DE17-43CB-8A69C8E3C9F5}"/>
              </a:ext>
            </a:extLst>
          </p:cNvPr>
          <p:cNvSpPr>
            <a:spLocks noGrp="1"/>
          </p:cNvSpPr>
          <p:nvPr>
            <p:ph type="sldNum" sz="quarter" idx="10"/>
          </p:nvPr>
        </p:nvSpPr>
        <p:spPr/>
        <p:txBody>
          <a:bodyPr/>
          <a:lstStyle/>
          <a:p>
            <a:fld id="{F1CB8912-F0BA-4AD8-8415-DA1F26BCB09F}" type="slidenum">
              <a:rPr lang="zh-CN" altLang="en-US" smtClean="0"/>
              <a:t>14</a:t>
            </a:fld>
            <a:endParaRPr lang="zh-CN" altLang="en-US"/>
          </a:p>
        </p:txBody>
      </p:sp>
    </p:spTree>
    <p:extLst>
      <p:ext uri="{BB962C8B-B14F-4D97-AF65-F5344CB8AC3E}">
        <p14:creationId xmlns:p14="http://schemas.microsoft.com/office/powerpoint/2010/main" val="3973200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3C6B-F7B6-CC16-E2E4-671E2575102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1ADC49-1725-F794-E148-C170EA5386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F2BD03-31B5-541C-F29C-57E6519AD40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CD5A136-FF13-EAC7-3E57-112F725B3A1C}"/>
              </a:ext>
            </a:extLst>
          </p:cNvPr>
          <p:cNvSpPr>
            <a:spLocks noGrp="1"/>
          </p:cNvSpPr>
          <p:nvPr>
            <p:ph type="sldNum" sz="quarter" idx="10"/>
          </p:nvPr>
        </p:nvSpPr>
        <p:spPr/>
        <p:txBody>
          <a:bodyPr/>
          <a:lstStyle/>
          <a:p>
            <a:fld id="{F1CB8912-F0BA-4AD8-8415-DA1F26BCB09F}" type="slidenum">
              <a:rPr lang="zh-CN" altLang="en-US" smtClean="0"/>
              <a:t>15</a:t>
            </a:fld>
            <a:endParaRPr lang="zh-CN" altLang="en-US"/>
          </a:p>
        </p:txBody>
      </p:sp>
    </p:spTree>
    <p:extLst>
      <p:ext uri="{BB962C8B-B14F-4D97-AF65-F5344CB8AC3E}">
        <p14:creationId xmlns:p14="http://schemas.microsoft.com/office/powerpoint/2010/main" val="2932721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8889E-2E85-AD0C-4F45-934D7832A4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FEE881-B85C-C2EE-4B1E-80877363EE7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AD1CD3-51A4-603F-FFF4-2B6F9617CBF4}"/>
              </a:ext>
            </a:extLst>
          </p:cNvPr>
          <p:cNvSpPr>
            <a:spLocks noGrp="1"/>
          </p:cNvSpPr>
          <p:nvPr>
            <p:ph type="body" idx="1"/>
          </p:nvPr>
        </p:nvSpPr>
        <p:spPr/>
        <p:txBody>
          <a:bodyPr/>
          <a:lstStyle/>
          <a:p>
            <a:r>
              <a:rPr lang="zh-CN" altLang="en-US" dirty="0"/>
              <a:t>具体展开来看</a:t>
            </a:r>
          </a:p>
        </p:txBody>
      </p:sp>
      <p:sp>
        <p:nvSpPr>
          <p:cNvPr id="4" name="灯片编号占位符 3">
            <a:extLst>
              <a:ext uri="{FF2B5EF4-FFF2-40B4-BE49-F238E27FC236}">
                <a16:creationId xmlns:a16="http://schemas.microsoft.com/office/drawing/2014/main" id="{8860C8A0-9932-D29F-45BB-AFF7433A5F3F}"/>
              </a:ext>
            </a:extLst>
          </p:cNvPr>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720202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E208-D6BE-1101-6DE8-BD231E37BD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94ED32-5919-2DCB-7750-DF212E5416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2EE9D8-A7B1-4B11-2B08-D205D81E3606}"/>
              </a:ext>
            </a:extLst>
          </p:cNvPr>
          <p:cNvSpPr>
            <a:spLocks noGrp="1"/>
          </p:cNvSpPr>
          <p:nvPr>
            <p:ph type="body" idx="1"/>
          </p:nvPr>
        </p:nvSpPr>
        <p:spPr/>
        <p:txBody>
          <a:bodyPr/>
          <a:lstStyle/>
          <a:p>
            <a:r>
              <a:rPr lang="zh-CN" altLang="en-US" dirty="0"/>
              <a:t>具体展开来看</a:t>
            </a:r>
          </a:p>
        </p:txBody>
      </p:sp>
      <p:sp>
        <p:nvSpPr>
          <p:cNvPr id="4" name="灯片编号占位符 3">
            <a:extLst>
              <a:ext uri="{FF2B5EF4-FFF2-40B4-BE49-F238E27FC236}">
                <a16:creationId xmlns:a16="http://schemas.microsoft.com/office/drawing/2014/main" id="{D230FB06-0CD0-4DA9-82FF-B00346A57D10}"/>
              </a:ext>
            </a:extLst>
          </p:cNvPr>
          <p:cNvSpPr>
            <a:spLocks noGrp="1"/>
          </p:cNvSpPr>
          <p:nvPr>
            <p:ph type="sldNum" sz="quarter" idx="10"/>
          </p:nvPr>
        </p:nvSpPr>
        <p:spPr/>
        <p:txBody>
          <a:bodyPr/>
          <a:lstStyle/>
          <a:p>
            <a:fld id="{F1CB8912-F0BA-4AD8-8415-DA1F26BCB09F}" type="slidenum">
              <a:rPr lang="zh-CN" altLang="en-US" smtClean="0"/>
              <a:t>17</a:t>
            </a:fld>
            <a:endParaRPr lang="zh-CN" altLang="en-US"/>
          </a:p>
        </p:txBody>
      </p:sp>
    </p:spTree>
    <p:extLst>
      <p:ext uri="{BB962C8B-B14F-4D97-AF65-F5344CB8AC3E}">
        <p14:creationId xmlns:p14="http://schemas.microsoft.com/office/powerpoint/2010/main" val="2116593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05761-FA60-F904-C9AF-87D619D78D6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58D471-C56D-5AA8-3A50-B06FE178D3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D1E242-512A-CE89-15DB-DD5BCB15BF34}"/>
              </a:ext>
            </a:extLst>
          </p:cNvPr>
          <p:cNvSpPr>
            <a:spLocks noGrp="1"/>
          </p:cNvSpPr>
          <p:nvPr>
            <p:ph type="body" idx="1"/>
          </p:nvPr>
        </p:nvSpPr>
        <p:spPr/>
        <p:txBody>
          <a:bodyPr/>
          <a:lstStyle/>
          <a:p>
            <a:r>
              <a:rPr lang="zh-CN" altLang="en-US" dirty="0"/>
              <a:t>具体展开来看</a:t>
            </a:r>
          </a:p>
        </p:txBody>
      </p:sp>
      <p:sp>
        <p:nvSpPr>
          <p:cNvPr id="4" name="灯片编号占位符 3">
            <a:extLst>
              <a:ext uri="{FF2B5EF4-FFF2-40B4-BE49-F238E27FC236}">
                <a16:creationId xmlns:a16="http://schemas.microsoft.com/office/drawing/2014/main" id="{B7EF102C-975F-A76D-6C3A-F065E2450FA5}"/>
              </a:ext>
            </a:extLst>
          </p:cNvPr>
          <p:cNvSpPr>
            <a:spLocks noGrp="1"/>
          </p:cNvSpPr>
          <p:nvPr>
            <p:ph type="sldNum" sz="quarter" idx="10"/>
          </p:nvPr>
        </p:nvSpPr>
        <p:spPr/>
        <p:txBody>
          <a:bodyPr/>
          <a:lstStyle/>
          <a:p>
            <a:fld id="{F1CB8912-F0BA-4AD8-8415-DA1F26BCB09F}" type="slidenum">
              <a:rPr lang="zh-CN" altLang="en-US" smtClean="0"/>
              <a:t>18</a:t>
            </a:fld>
            <a:endParaRPr lang="zh-CN" altLang="en-US"/>
          </a:p>
        </p:txBody>
      </p:sp>
    </p:spTree>
    <p:extLst>
      <p:ext uri="{BB962C8B-B14F-4D97-AF65-F5344CB8AC3E}">
        <p14:creationId xmlns:p14="http://schemas.microsoft.com/office/powerpoint/2010/main" val="2412722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8F486-6342-4103-4732-5BD4156850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7DAA32-010D-F9CF-0D8E-291A10390A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1F17FE-C285-9FBE-1557-21993D848029}"/>
              </a:ext>
            </a:extLst>
          </p:cNvPr>
          <p:cNvSpPr>
            <a:spLocks noGrp="1"/>
          </p:cNvSpPr>
          <p:nvPr>
            <p:ph type="body" idx="1"/>
          </p:nvPr>
        </p:nvSpPr>
        <p:spPr/>
        <p:txBody>
          <a:bodyPr/>
          <a:lstStyle/>
          <a:p>
            <a:r>
              <a:rPr lang="zh-CN" altLang="en-US" dirty="0"/>
              <a:t>具体展开来看</a:t>
            </a:r>
          </a:p>
        </p:txBody>
      </p:sp>
      <p:sp>
        <p:nvSpPr>
          <p:cNvPr id="4" name="灯片编号占位符 3">
            <a:extLst>
              <a:ext uri="{FF2B5EF4-FFF2-40B4-BE49-F238E27FC236}">
                <a16:creationId xmlns:a16="http://schemas.microsoft.com/office/drawing/2014/main" id="{07B0ED9E-C83E-6639-38FD-99C8A01941B1}"/>
              </a:ext>
            </a:extLst>
          </p:cNvPr>
          <p:cNvSpPr>
            <a:spLocks noGrp="1"/>
          </p:cNvSpPr>
          <p:nvPr>
            <p:ph type="sldNum" sz="quarter" idx="10"/>
          </p:nvPr>
        </p:nvSpPr>
        <p:spPr/>
        <p:txBody>
          <a:bodyPr/>
          <a:lstStyle/>
          <a:p>
            <a:fld id="{F1CB8912-F0BA-4AD8-8415-DA1F26BCB09F}" type="slidenum">
              <a:rPr lang="zh-CN" altLang="en-US" smtClean="0"/>
              <a:t>19</a:t>
            </a:fld>
            <a:endParaRPr lang="zh-CN" altLang="en-US"/>
          </a:p>
        </p:txBody>
      </p:sp>
    </p:spTree>
    <p:extLst>
      <p:ext uri="{BB962C8B-B14F-4D97-AF65-F5344CB8AC3E}">
        <p14:creationId xmlns:p14="http://schemas.microsoft.com/office/powerpoint/2010/main" val="1035960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D442-E7F7-D5F6-0F92-36C22D14D81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64A557-7348-A012-BFFF-DC27E310C9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9D9E5B-1E15-2D79-39DB-37AEBB5A0CF0}"/>
              </a:ext>
            </a:extLst>
          </p:cNvPr>
          <p:cNvSpPr>
            <a:spLocks noGrp="1"/>
          </p:cNvSpPr>
          <p:nvPr>
            <p:ph type="body" idx="1"/>
          </p:nvPr>
        </p:nvSpPr>
        <p:spPr/>
        <p:txBody>
          <a:bodyPr/>
          <a:lstStyle/>
          <a:p>
            <a:r>
              <a:rPr lang="zh-CN" altLang="en-US" dirty="0"/>
              <a:t>具体展开来看</a:t>
            </a:r>
          </a:p>
        </p:txBody>
      </p:sp>
      <p:sp>
        <p:nvSpPr>
          <p:cNvPr id="4" name="灯片编号占位符 3">
            <a:extLst>
              <a:ext uri="{FF2B5EF4-FFF2-40B4-BE49-F238E27FC236}">
                <a16:creationId xmlns:a16="http://schemas.microsoft.com/office/drawing/2014/main" id="{56E93263-5E0F-86EE-FC13-094BEBDA0B7F}"/>
              </a:ext>
            </a:extLst>
          </p:cNvPr>
          <p:cNvSpPr>
            <a:spLocks noGrp="1"/>
          </p:cNvSpPr>
          <p:nvPr>
            <p:ph type="sldNum" sz="quarter" idx="10"/>
          </p:nvPr>
        </p:nvSpPr>
        <p:spPr/>
        <p:txBody>
          <a:bodyPr/>
          <a:lstStyle/>
          <a:p>
            <a:fld id="{F1CB8912-F0BA-4AD8-8415-DA1F26BCB09F}" type="slidenum">
              <a:rPr lang="zh-CN" altLang="en-US" smtClean="0"/>
              <a:t>20</a:t>
            </a:fld>
            <a:endParaRPr lang="zh-CN" altLang="en-US"/>
          </a:p>
        </p:txBody>
      </p:sp>
    </p:spTree>
    <p:extLst>
      <p:ext uri="{BB962C8B-B14F-4D97-AF65-F5344CB8AC3E}">
        <p14:creationId xmlns:p14="http://schemas.microsoft.com/office/powerpoint/2010/main" val="3217783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F792F-D027-E714-7807-0010CA4B99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24B47B-73E8-B305-BE40-9DFF2FD9544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C857209-55A0-29D0-5D18-0EF9E07E00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第二部分我们侧重于对租赁情况进行定量建模和预测，旨在为运营方提供可供参考的预测手段</a:t>
            </a:r>
          </a:p>
        </p:txBody>
      </p:sp>
      <p:sp>
        <p:nvSpPr>
          <p:cNvPr id="4" name="灯片编号占位符 3">
            <a:extLst>
              <a:ext uri="{FF2B5EF4-FFF2-40B4-BE49-F238E27FC236}">
                <a16:creationId xmlns:a16="http://schemas.microsoft.com/office/drawing/2014/main" id="{63D9B5F7-31A4-1513-1641-18F9A0DC1634}"/>
              </a:ext>
            </a:extLst>
          </p:cNvPr>
          <p:cNvSpPr>
            <a:spLocks noGrp="1"/>
          </p:cNvSpPr>
          <p:nvPr>
            <p:ph type="sldNum" sz="quarter" idx="10"/>
          </p:nvPr>
        </p:nvSpPr>
        <p:spPr/>
        <p:txBody>
          <a:bodyPr/>
          <a:lstStyle/>
          <a:p>
            <a:fld id="{F1CB8912-F0BA-4AD8-8415-DA1F26BCB09F}" type="slidenum">
              <a:rPr lang="zh-CN" altLang="en-US" smtClean="0"/>
              <a:t>21</a:t>
            </a:fld>
            <a:endParaRPr lang="zh-CN" altLang="en-US"/>
          </a:p>
        </p:txBody>
      </p:sp>
    </p:spTree>
    <p:extLst>
      <p:ext uri="{BB962C8B-B14F-4D97-AF65-F5344CB8AC3E}">
        <p14:creationId xmlns:p14="http://schemas.microsoft.com/office/powerpoint/2010/main" val="26498177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90088-659C-7986-669A-6998D1E875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DCAB59-A827-778A-AB8E-C912F4218DB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1A365C-458C-A1E1-4C69-4416312CEEE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0393E33-D0B2-BBFC-674D-5DCC31916A35}"/>
              </a:ext>
            </a:extLst>
          </p:cNvPr>
          <p:cNvSpPr>
            <a:spLocks noGrp="1"/>
          </p:cNvSpPr>
          <p:nvPr>
            <p:ph type="sldNum" sz="quarter" idx="10"/>
          </p:nvPr>
        </p:nvSpPr>
        <p:spPr/>
        <p:txBody>
          <a:bodyPr/>
          <a:lstStyle/>
          <a:p>
            <a:fld id="{F1CB8912-F0BA-4AD8-8415-DA1F26BCB09F}" type="slidenum">
              <a:rPr lang="zh-CN" altLang="en-US" smtClean="0"/>
              <a:t>22</a:t>
            </a:fld>
            <a:endParaRPr lang="zh-CN" altLang="en-US"/>
          </a:p>
        </p:txBody>
      </p:sp>
    </p:spTree>
    <p:extLst>
      <p:ext uri="{BB962C8B-B14F-4D97-AF65-F5344CB8AC3E}">
        <p14:creationId xmlns:p14="http://schemas.microsoft.com/office/powerpoint/2010/main" val="3826809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3C78C-6282-9A83-306C-9606AE9835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8B43C7C-F475-1A08-9F24-631DFCBE53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9C63EF-0C8B-C119-04D8-6BCF4CBEA10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6B97612-0455-7098-C91D-DB0784E56B70}"/>
              </a:ext>
            </a:extLst>
          </p:cNvPr>
          <p:cNvSpPr>
            <a:spLocks noGrp="1"/>
          </p:cNvSpPr>
          <p:nvPr>
            <p:ph type="sldNum" sz="quarter" idx="10"/>
          </p:nvPr>
        </p:nvSpPr>
        <p:spPr/>
        <p:txBody>
          <a:bodyPr/>
          <a:lstStyle/>
          <a:p>
            <a:fld id="{F1CB8912-F0BA-4AD8-8415-DA1F26BCB09F}" type="slidenum">
              <a:rPr lang="zh-CN" altLang="en-US" smtClean="0"/>
              <a:t>23</a:t>
            </a:fld>
            <a:endParaRPr lang="zh-CN" altLang="en-US"/>
          </a:p>
        </p:txBody>
      </p:sp>
    </p:spTree>
    <p:extLst>
      <p:ext uri="{BB962C8B-B14F-4D97-AF65-F5344CB8AC3E}">
        <p14:creationId xmlns:p14="http://schemas.microsoft.com/office/powerpoint/2010/main" val="1195263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3D917-0029-81C8-F5D5-C3B988B4E3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B0A442-92AA-2066-76D8-008BF1D36D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8F88E0-8F11-E4C8-A26C-9EA3F32248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7FE32D1-893F-2850-6246-47D37E98236C}"/>
              </a:ext>
            </a:extLst>
          </p:cNvPr>
          <p:cNvSpPr>
            <a:spLocks noGrp="1"/>
          </p:cNvSpPr>
          <p:nvPr>
            <p:ph type="sldNum" sz="quarter" idx="10"/>
          </p:nvPr>
        </p:nvSpPr>
        <p:spPr/>
        <p:txBody>
          <a:bodyPr/>
          <a:lstStyle/>
          <a:p>
            <a:fld id="{F1CB8912-F0BA-4AD8-8415-DA1F26BCB09F}" type="slidenum">
              <a:rPr lang="zh-CN" altLang="en-US" smtClean="0"/>
              <a:t>24</a:t>
            </a:fld>
            <a:endParaRPr lang="zh-CN" altLang="en-US"/>
          </a:p>
        </p:txBody>
      </p:sp>
    </p:spTree>
    <p:extLst>
      <p:ext uri="{BB962C8B-B14F-4D97-AF65-F5344CB8AC3E}">
        <p14:creationId xmlns:p14="http://schemas.microsoft.com/office/powerpoint/2010/main" val="1373315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F5991-34A7-D8DF-9193-C925FC8BD8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D51A02-A2C3-95A7-828D-8B6823001F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5021E3-AB0E-4815-BA9B-A655AB0626C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6E12ED-EEE6-9F35-3A17-8A0CAC315D30}"/>
              </a:ext>
            </a:extLst>
          </p:cNvPr>
          <p:cNvSpPr>
            <a:spLocks noGrp="1"/>
          </p:cNvSpPr>
          <p:nvPr>
            <p:ph type="sldNum" sz="quarter" idx="10"/>
          </p:nvPr>
        </p:nvSpPr>
        <p:spPr/>
        <p:txBody>
          <a:bodyPr/>
          <a:lstStyle/>
          <a:p>
            <a:fld id="{F1CB8912-F0BA-4AD8-8415-DA1F26BCB09F}" type="slidenum">
              <a:rPr lang="zh-CN" altLang="en-US" smtClean="0"/>
              <a:t>25</a:t>
            </a:fld>
            <a:endParaRPr lang="zh-CN" altLang="en-US"/>
          </a:p>
        </p:txBody>
      </p:sp>
    </p:spTree>
    <p:extLst>
      <p:ext uri="{BB962C8B-B14F-4D97-AF65-F5344CB8AC3E}">
        <p14:creationId xmlns:p14="http://schemas.microsoft.com/office/powerpoint/2010/main" val="4050486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CEBC3-6BF0-F9BD-1DD3-9AF12C046C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166FAF-0ABF-8195-0601-7855A1DEBC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5E5898-A0B1-27A6-1753-D8ED683498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A19EB3A-2A30-622C-E2FC-6EC7FFF58023}"/>
              </a:ext>
            </a:extLst>
          </p:cNvPr>
          <p:cNvSpPr>
            <a:spLocks noGrp="1"/>
          </p:cNvSpPr>
          <p:nvPr>
            <p:ph type="sldNum" sz="quarter" idx="10"/>
          </p:nvPr>
        </p:nvSpPr>
        <p:spPr/>
        <p:txBody>
          <a:bodyPr/>
          <a:lstStyle/>
          <a:p>
            <a:fld id="{F1CB8912-F0BA-4AD8-8415-DA1F26BCB09F}" type="slidenum">
              <a:rPr lang="zh-CN" altLang="en-US" smtClean="0"/>
              <a:t>26</a:t>
            </a:fld>
            <a:endParaRPr lang="zh-CN" altLang="en-US"/>
          </a:p>
        </p:txBody>
      </p:sp>
    </p:spTree>
    <p:extLst>
      <p:ext uri="{BB962C8B-B14F-4D97-AF65-F5344CB8AC3E}">
        <p14:creationId xmlns:p14="http://schemas.microsoft.com/office/powerpoint/2010/main" val="2205480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D8691-1DB5-3741-02A9-FAA28A9098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D9FBD5-583E-20F6-6746-FEB26DCD96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E8FB00C-E59F-DC17-75DC-CE28109F659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BA2892A-2AE3-DAF9-79EF-904953E02D9B}"/>
              </a:ext>
            </a:extLst>
          </p:cNvPr>
          <p:cNvSpPr>
            <a:spLocks noGrp="1"/>
          </p:cNvSpPr>
          <p:nvPr>
            <p:ph type="sldNum" sz="quarter" idx="10"/>
          </p:nvPr>
        </p:nvSpPr>
        <p:spPr/>
        <p:txBody>
          <a:bodyPr/>
          <a:lstStyle/>
          <a:p>
            <a:fld id="{F1CB8912-F0BA-4AD8-8415-DA1F26BCB09F}" type="slidenum">
              <a:rPr lang="zh-CN" altLang="en-US" smtClean="0"/>
              <a:t>27</a:t>
            </a:fld>
            <a:endParaRPr lang="zh-CN" altLang="en-US"/>
          </a:p>
        </p:txBody>
      </p:sp>
    </p:spTree>
    <p:extLst>
      <p:ext uri="{BB962C8B-B14F-4D97-AF65-F5344CB8AC3E}">
        <p14:creationId xmlns:p14="http://schemas.microsoft.com/office/powerpoint/2010/main" val="2373654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6F089-BD67-80B4-96FD-450BA9C5D3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553141-5A19-030F-2533-79E73D4D41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E7EA74-1EAD-6C17-4E42-EFFCCDCFF06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552BC0C-51B7-0380-BA8D-08307A95F619}"/>
              </a:ext>
            </a:extLst>
          </p:cNvPr>
          <p:cNvSpPr>
            <a:spLocks noGrp="1"/>
          </p:cNvSpPr>
          <p:nvPr>
            <p:ph type="sldNum" sz="quarter" idx="10"/>
          </p:nvPr>
        </p:nvSpPr>
        <p:spPr/>
        <p:txBody>
          <a:bodyPr/>
          <a:lstStyle/>
          <a:p>
            <a:fld id="{F1CB8912-F0BA-4AD8-8415-DA1F26BCB09F}" type="slidenum">
              <a:rPr lang="zh-CN" altLang="en-US" smtClean="0"/>
              <a:t>28</a:t>
            </a:fld>
            <a:endParaRPr lang="zh-CN" altLang="en-US"/>
          </a:p>
        </p:txBody>
      </p:sp>
    </p:spTree>
    <p:extLst>
      <p:ext uri="{BB962C8B-B14F-4D97-AF65-F5344CB8AC3E}">
        <p14:creationId xmlns:p14="http://schemas.microsoft.com/office/powerpoint/2010/main" val="11752530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6D52-1B4B-716E-2077-56EFD4C47E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654A5D-FE92-230A-A264-7FECDB13ED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5B26D2-48BA-4871-274B-24196625993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20692B5-BB5F-88F8-7268-50AA49150BB1}"/>
              </a:ext>
            </a:extLst>
          </p:cNvPr>
          <p:cNvSpPr>
            <a:spLocks noGrp="1"/>
          </p:cNvSpPr>
          <p:nvPr>
            <p:ph type="sldNum" sz="quarter" idx="10"/>
          </p:nvPr>
        </p:nvSpPr>
        <p:spPr/>
        <p:txBody>
          <a:bodyPr/>
          <a:lstStyle/>
          <a:p>
            <a:fld id="{F1CB8912-F0BA-4AD8-8415-DA1F26BCB09F}" type="slidenum">
              <a:rPr lang="zh-CN" altLang="en-US" smtClean="0"/>
              <a:t>29</a:t>
            </a:fld>
            <a:endParaRPr lang="zh-CN" altLang="en-US"/>
          </a:p>
        </p:txBody>
      </p:sp>
    </p:spTree>
    <p:extLst>
      <p:ext uri="{BB962C8B-B14F-4D97-AF65-F5344CB8AC3E}">
        <p14:creationId xmlns:p14="http://schemas.microsoft.com/office/powerpoint/2010/main" val="684778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B9DA3-30F7-B97A-68A2-230876C45F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7F1012-DC8A-5D19-56FF-5EEBD15FE12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21C8D0E-6AA6-4D02-27EE-74B979FE41A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27E84E5-24FF-8A11-D3F9-179CD51385D0}"/>
              </a:ext>
            </a:extLst>
          </p:cNvPr>
          <p:cNvSpPr>
            <a:spLocks noGrp="1"/>
          </p:cNvSpPr>
          <p:nvPr>
            <p:ph type="sldNum" sz="quarter" idx="10"/>
          </p:nvPr>
        </p:nvSpPr>
        <p:spPr/>
        <p:txBody>
          <a:bodyPr/>
          <a:lstStyle/>
          <a:p>
            <a:fld id="{F1CB8912-F0BA-4AD8-8415-DA1F26BCB09F}" type="slidenum">
              <a:rPr lang="zh-CN" altLang="en-US" smtClean="0"/>
              <a:t>30</a:t>
            </a:fld>
            <a:endParaRPr lang="zh-CN" altLang="en-US"/>
          </a:p>
        </p:txBody>
      </p:sp>
    </p:spTree>
    <p:extLst>
      <p:ext uri="{BB962C8B-B14F-4D97-AF65-F5344CB8AC3E}">
        <p14:creationId xmlns:p14="http://schemas.microsoft.com/office/powerpoint/2010/main" val="3237549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885C-DD83-EC06-5685-B4AE87D6F0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E7E016-73C1-8DF2-CE84-D143F3A3217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755AAF-8440-94EC-2C78-578C7BC3B81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66529AD-546D-276E-286F-EEBA45228FF7}"/>
              </a:ext>
            </a:extLst>
          </p:cNvPr>
          <p:cNvSpPr>
            <a:spLocks noGrp="1"/>
          </p:cNvSpPr>
          <p:nvPr>
            <p:ph type="sldNum" sz="quarter" idx="10"/>
          </p:nvPr>
        </p:nvSpPr>
        <p:spPr/>
        <p:txBody>
          <a:bodyPr/>
          <a:lstStyle/>
          <a:p>
            <a:fld id="{F1CB8912-F0BA-4AD8-8415-DA1F26BCB09F}" type="slidenum">
              <a:rPr lang="zh-CN" altLang="en-US" smtClean="0"/>
              <a:t>31</a:t>
            </a:fld>
            <a:endParaRPr lang="zh-CN" altLang="en-US"/>
          </a:p>
        </p:txBody>
      </p:sp>
    </p:spTree>
    <p:extLst>
      <p:ext uri="{BB962C8B-B14F-4D97-AF65-F5344CB8AC3E}">
        <p14:creationId xmlns:p14="http://schemas.microsoft.com/office/powerpoint/2010/main" val="42199745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3EA43-000D-12BD-F859-EA3DF1A313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88A66C-AB1A-B299-75D4-4F4538906D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5EB9860-E178-164C-E8F4-868E124582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C79BE47-7DCB-F5EA-5C9F-3A01EF05C8D6}"/>
              </a:ext>
            </a:extLst>
          </p:cNvPr>
          <p:cNvSpPr>
            <a:spLocks noGrp="1"/>
          </p:cNvSpPr>
          <p:nvPr>
            <p:ph type="sldNum" sz="quarter" idx="10"/>
          </p:nvPr>
        </p:nvSpPr>
        <p:spPr/>
        <p:txBody>
          <a:bodyPr/>
          <a:lstStyle/>
          <a:p>
            <a:fld id="{F1CB8912-F0BA-4AD8-8415-DA1F26BCB09F}" type="slidenum">
              <a:rPr lang="zh-CN" altLang="en-US" smtClean="0"/>
              <a:t>32</a:t>
            </a:fld>
            <a:endParaRPr lang="zh-CN" altLang="en-US"/>
          </a:p>
        </p:txBody>
      </p:sp>
    </p:spTree>
    <p:extLst>
      <p:ext uri="{BB962C8B-B14F-4D97-AF65-F5344CB8AC3E}">
        <p14:creationId xmlns:p14="http://schemas.microsoft.com/office/powerpoint/2010/main" val="1647128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0D134-2D2F-AF76-97C2-A201454B2F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C2942D8-D4A6-24B7-D95B-0E9589DA64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BE01B56-5632-9D9F-AF20-B27E11948F05}"/>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3B1C5C55-EA4F-8B07-894A-2337A588FC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D130506-9DB6-75A7-C341-7BBEBC9E47B7}"/>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1462761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E30289-8273-77A2-B9CB-909F2AB795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AE2AC8-FFA9-8C5B-C892-0BFCE07622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6C6DA8-5ECB-FAF9-4E40-C6EC2E1CD6B9}"/>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32274FCA-42A8-2DC4-7584-CEE60F35C5D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6A603A7-4B11-BD26-B648-783C05496F24}"/>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3946630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E94DC-3B3E-CBF3-E96D-ADF929C4550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3665B4C-01BA-7978-89D9-2E33552D72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884FFE-04C2-51C7-A2CE-17C8A4E2DA8B}"/>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691D5D26-5269-AC4A-0783-017B33246E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289BF2-3158-7455-434C-B2FFAFC8355F}"/>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3945505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DC46CE-35C1-CBBB-B742-61D747DC704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A4AE45-15E0-97B5-7142-6FF8445A9F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C9CC67F-0E04-C41F-73B5-B6756043C37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87AD4B1-82FC-04F5-81AC-0A1BD0285722}"/>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6" name="页脚占位符 5">
            <a:extLst>
              <a:ext uri="{FF2B5EF4-FFF2-40B4-BE49-F238E27FC236}">
                <a16:creationId xmlns:a16="http://schemas.microsoft.com/office/drawing/2014/main" id="{1BCA6B3B-7506-0A45-87A0-4F93B69FC64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6579C25-D3B8-C3F4-A17E-CBD9195A6B98}"/>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3603497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FE996-2EED-C8BE-2E89-C5BB605FAEE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CE74FFC-9362-9F99-5E34-0531C0BB68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E6C0729-776A-01DD-D358-82DAE86B07F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7D4BF3A-6E58-3F54-681A-39134464B2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F9B90E1-CEE0-15BA-D70A-B42C0DE5A51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BCB9923-205C-3D70-0F08-CE4C9DAACD5E}"/>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8" name="页脚占位符 7">
            <a:extLst>
              <a:ext uri="{FF2B5EF4-FFF2-40B4-BE49-F238E27FC236}">
                <a16:creationId xmlns:a16="http://schemas.microsoft.com/office/drawing/2014/main" id="{37A1FB25-5DAC-00B8-3769-012F721B2A0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8C87A15-AEB4-0EBA-44EB-28642E54FCC3}"/>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95718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E8BA2-B465-364F-0E66-A06AB103F3F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526727-9305-E88F-5A28-798BF933E4CF}"/>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4" name="页脚占位符 3">
            <a:extLst>
              <a:ext uri="{FF2B5EF4-FFF2-40B4-BE49-F238E27FC236}">
                <a16:creationId xmlns:a16="http://schemas.microsoft.com/office/drawing/2014/main" id="{E55EADA0-DE6A-69D1-743D-26C895F4350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7911334-DBEF-65C4-47E6-F887F8DF45EF}"/>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240388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BCFA2A6-A2A4-6160-073D-DEB1CD1464B4}"/>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3" name="页脚占位符 2">
            <a:extLst>
              <a:ext uri="{FF2B5EF4-FFF2-40B4-BE49-F238E27FC236}">
                <a16:creationId xmlns:a16="http://schemas.microsoft.com/office/drawing/2014/main" id="{8EE79BDA-63AF-2F50-4603-E960EB7D6DF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DBCA567-977D-C7A2-0B5E-5023271C2AD0}"/>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2014684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F86EB5-6D9D-4828-4C3A-0C6010EDDD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483AAE-DE35-9BF0-5ABD-93F46DA52E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22A7AC8-F872-B202-2F41-C04DC237B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C2F1AE-995B-0A19-A086-56DBD91EF4E3}"/>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6" name="页脚占位符 5">
            <a:extLst>
              <a:ext uri="{FF2B5EF4-FFF2-40B4-BE49-F238E27FC236}">
                <a16:creationId xmlns:a16="http://schemas.microsoft.com/office/drawing/2014/main" id="{6EFA7332-5EBA-263B-96CB-D1F013B048C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01756CF-8D19-A6EA-739C-FC6915241F33}"/>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2828670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E48630-7A4C-9A01-5E52-9A3485DD03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1370058-B94A-46C8-0620-FD2BB117A7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D188DA6-E803-5C55-256B-0AF41E1DA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55BA848-A562-A6AD-4B64-4840A6339427}"/>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6" name="页脚占位符 5">
            <a:extLst>
              <a:ext uri="{FF2B5EF4-FFF2-40B4-BE49-F238E27FC236}">
                <a16:creationId xmlns:a16="http://schemas.microsoft.com/office/drawing/2014/main" id="{90281D24-8081-14E9-DE40-314326DAA14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593429-6B5A-8712-0177-7724D1568E13}"/>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2804483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BE555-EA25-B054-3F97-E0756E9E43F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6C9B090-5146-8E77-964D-F7EC048E7AD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F8C5F3-0FB7-5D8C-5DD9-DAC1A72D250A}"/>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ADC16886-75FC-BA98-A17A-B91E57025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71BABE-0DBA-5733-1FD4-1ADE6FABAFCC}"/>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4183013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181478C-88B4-6A92-BBC3-D10AE4275D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00F41B5-0D2B-27FD-4ED8-33B5EF6B8C8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4592EE2-E7E2-5D79-68A2-1065C3D975D0}"/>
              </a:ext>
            </a:extLst>
          </p:cNvPr>
          <p:cNvSpPr>
            <a:spLocks noGrp="1"/>
          </p:cNvSpPr>
          <p:nvPr>
            <p:ph type="dt" sz="half" idx="10"/>
          </p:nvPr>
        </p:nvSpPr>
        <p:spPr/>
        <p:txBody>
          <a:body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0ABFD8B4-ACB2-C17B-E703-01AD2D9A15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F07278-583F-BB30-9446-798D9D9A5DF7}"/>
              </a:ext>
            </a:extLst>
          </p:cNvPr>
          <p:cNvSpPr>
            <a:spLocks noGrp="1"/>
          </p:cNvSpPr>
          <p:nvPr>
            <p:ph type="sldNum" sz="quarter" idx="12"/>
          </p:nvPr>
        </p:nvSpPr>
        <p:spPr/>
        <p:txBody>
          <a:body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3517027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475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7377107-118B-6F31-DACF-2F208C3F0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AD83F6-3455-99A4-9F95-4E703ADA55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47AC59-EE4D-BAB6-EED0-DC29466ADA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AB43D-19FB-4A2E-8358-8266D9C4FDB9}" type="datetimeFigureOut">
              <a:rPr lang="zh-CN" altLang="en-US" smtClean="0"/>
              <a:t>2025/1/2</a:t>
            </a:fld>
            <a:endParaRPr lang="zh-CN" altLang="en-US"/>
          </a:p>
        </p:txBody>
      </p:sp>
      <p:sp>
        <p:nvSpPr>
          <p:cNvPr id="5" name="页脚占位符 4">
            <a:extLst>
              <a:ext uri="{FF2B5EF4-FFF2-40B4-BE49-F238E27FC236}">
                <a16:creationId xmlns:a16="http://schemas.microsoft.com/office/drawing/2014/main" id="{B33C8CAB-02DB-0861-5F68-65AA3AA6A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1E2C09E-6740-BD5E-01A0-6EFEC8D30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D4FD98-0FD2-4B81-8B8B-22531DAB7342}" type="slidenum">
              <a:rPr lang="zh-CN" altLang="en-US" smtClean="0"/>
              <a:t>‹#›</a:t>
            </a:fld>
            <a:endParaRPr lang="zh-CN" altLang="en-US"/>
          </a:p>
        </p:txBody>
      </p:sp>
    </p:spTree>
    <p:extLst>
      <p:ext uri="{BB962C8B-B14F-4D97-AF65-F5344CB8AC3E}">
        <p14:creationId xmlns:p14="http://schemas.microsoft.com/office/powerpoint/2010/main" val="244663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hyperlink" Target="https://zhuanlan.zhihu.com/p/38281571" TargetMode="External"/><Relationship Id="rId3" Type="http://schemas.openxmlformats.org/officeDocument/2006/relationships/hyperlink" Target="https://fe.uibe.edu.cn/qflab/docs/20180327111352173050.pdf" TargetMode="External"/><Relationship Id="rId7" Type="http://schemas.openxmlformats.org/officeDocument/2006/relationships/hyperlink" Target="https://xueshu.baidu.com/usercenter/paper/show?paperid=7ecc5d72e2eb5920db0d72cb0d0fa102"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hyperlink" Target="https://www.xueweilunwen.com/doc/1657941" TargetMode="External"/><Relationship Id="rId5" Type="http://schemas.openxmlformats.org/officeDocument/2006/relationships/hyperlink" Target="https://www.sas.com/en_us/navigation/header/global-header/navigation/support/documentation.html" TargetMode="External"/><Relationship Id="rId4" Type="http://schemas.openxmlformats.org/officeDocument/2006/relationships/hyperlink" Target="https://support.sas.com/en/documentation.html"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BB6727C-538F-F11F-2841-8167F734910D}"/>
              </a:ext>
            </a:extLst>
          </p:cNvPr>
          <p:cNvPicPr>
            <a:picLocks noChangeAspect="1"/>
          </p:cNvPicPr>
          <p:nvPr/>
        </p:nvPicPr>
        <p:blipFill>
          <a:blip r:embed="rId3"/>
          <a:stretch>
            <a:fillRect/>
          </a:stretch>
        </p:blipFill>
        <p:spPr>
          <a:xfrm>
            <a:off x="-1" y="0"/>
            <a:ext cx="9086309" cy="6858000"/>
          </a:xfrm>
          <a:prstGeom prst="rect">
            <a:avLst/>
          </a:prstGeom>
        </p:spPr>
      </p:pic>
      <p:sp>
        <p:nvSpPr>
          <p:cNvPr id="3" name="文本框 2"/>
          <p:cNvSpPr txBox="1"/>
          <p:nvPr userDrawn="1"/>
        </p:nvSpPr>
        <p:spPr>
          <a:xfrm>
            <a:off x="4327525" y="2981325"/>
            <a:ext cx="3556000" cy="229870"/>
          </a:xfrm>
          <a:prstGeom prst="rect">
            <a:avLst/>
          </a:prstGeom>
          <a:noFill/>
        </p:spPr>
        <p:txBody>
          <a:bodyPr wrap="square" rtlCol="0">
            <a:spAutoFit/>
          </a:bodyPr>
          <a:lstStyle/>
          <a:p>
            <a:r>
              <a:rPr lang="zh-CN" altLang="en-US" sz="300" dirty="0">
                <a:solidFill>
                  <a:schemeClr val="bg1">
                    <a:alpha val="0"/>
                  </a:schemeClr>
                </a:solidFill>
                <a:latin typeface="Times New Roman" panose="02020603050405020304" pitchFamily="18" charset="0"/>
                <a:ea typeface="微软雅黑" panose="020B0503020204020204" pitchFamily="34" charset="-122"/>
                <a:sym typeface="Times New Roman" panose="02020603050405020304" pitchFamily="18" charset="0"/>
              </a:rPr>
              <a:t>感谢您下载包图网平台上提供的</a:t>
            </a:r>
            <a:r>
              <a:rPr lang="en-US" altLang="zh-CN" sz="300" dirty="0">
                <a:solidFill>
                  <a:schemeClr val="bg1">
                    <a:alpha val="0"/>
                  </a:schemeClr>
                </a:solidFill>
                <a:latin typeface="Times New Roman" panose="02020603050405020304" pitchFamily="18" charset="0"/>
                <a:ea typeface="微软雅黑" panose="020B0503020204020204" pitchFamily="34" charset="-122"/>
                <a:sym typeface="Times New Roman" panose="02020603050405020304" pitchFamily="18" charset="0"/>
              </a:rPr>
              <a:t>PPT</a:t>
            </a:r>
            <a:r>
              <a:rPr lang="zh-CN" altLang="en-US" sz="300" dirty="0">
                <a:solidFill>
                  <a:schemeClr val="bg1">
                    <a:alpha val="0"/>
                  </a:schemeClr>
                </a:solidFill>
                <a:latin typeface="Times New Roman" panose="02020603050405020304" pitchFamily="18" charset="0"/>
                <a:ea typeface="微软雅黑" panose="020B0503020204020204" pitchFamily="34" charset="-122"/>
                <a:sym typeface="Times New Roman" panose="02020603050405020304" pitchFamily="18" charset="0"/>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Times New Roman" panose="02020603050405020304" pitchFamily="18" charset="0"/>
                <a:ea typeface="微软雅黑" panose="020B0503020204020204" pitchFamily="34" charset="-122"/>
                <a:sym typeface="Times New Roman" panose="02020603050405020304" pitchFamily="18" charset="0"/>
              </a:rPr>
              <a:t>ibaotu.com</a:t>
            </a:r>
          </a:p>
        </p:txBody>
      </p:sp>
      <p:sp>
        <p:nvSpPr>
          <p:cNvPr id="4" name="文本框 3"/>
          <p:cNvSpPr txBox="1"/>
          <p:nvPr/>
        </p:nvSpPr>
        <p:spPr>
          <a:xfrm>
            <a:off x="5212373" y="3310498"/>
            <a:ext cx="5778518" cy="922020"/>
          </a:xfrm>
          <a:prstGeom prst="rect">
            <a:avLst/>
          </a:prstGeom>
          <a:noFill/>
        </p:spPr>
        <p:txBody>
          <a:bodyPr wrap="square" rtlCol="0">
            <a:spAutoFit/>
            <a:scene3d>
              <a:camera prst="orthographicFront"/>
              <a:lightRig rig="threePt" dir="t"/>
            </a:scene3d>
            <a:sp3d contourW="12700"/>
          </a:bodyPr>
          <a:lstStyle/>
          <a:p>
            <a:pPr algn="r"/>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rPr>
              <a:t>简约工作汇报模板</a:t>
            </a:r>
          </a:p>
        </p:txBody>
      </p:sp>
      <p:sp>
        <p:nvSpPr>
          <p:cNvPr id="2" name="矩形 1">
            <a:extLst>
              <a:ext uri="{FF2B5EF4-FFF2-40B4-BE49-F238E27FC236}">
                <a16:creationId xmlns:a16="http://schemas.microsoft.com/office/drawing/2014/main" id="{1F9F8D8A-AF21-2ED4-2F06-A7F7A0216C9D}"/>
              </a:ext>
            </a:extLst>
          </p:cNvPr>
          <p:cNvSpPr/>
          <p:nvPr/>
        </p:nvSpPr>
        <p:spPr>
          <a:xfrm>
            <a:off x="-2" y="0"/>
            <a:ext cx="12192001" cy="6858000"/>
          </a:xfrm>
          <a:prstGeom prst="rect">
            <a:avLst/>
          </a:prstGeom>
          <a:gradFill>
            <a:gsLst>
              <a:gs pos="0">
                <a:schemeClr val="bg1">
                  <a:alpha val="0"/>
                  <a:lumMod val="100000"/>
                </a:schemeClr>
              </a:gs>
              <a:gs pos="42000">
                <a:schemeClr val="bg1">
                  <a:lumMod val="100000"/>
                  <a:alpha val="51314"/>
                </a:schemeClr>
              </a:gs>
              <a:gs pos="52000">
                <a:schemeClr val="bg1">
                  <a:alpha val="92343"/>
                </a:schemeClr>
              </a:gs>
              <a:gs pos="100000">
                <a:schemeClr val="bg1"/>
              </a:gs>
            </a:gsLst>
            <a:lin ang="19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p:cNvSpPr txBox="1"/>
          <p:nvPr/>
        </p:nvSpPr>
        <p:spPr>
          <a:xfrm>
            <a:off x="6096000" y="1470022"/>
            <a:ext cx="4991184" cy="2000548"/>
          </a:xfrm>
          <a:prstGeom prst="rect">
            <a:avLst/>
          </a:prstGeom>
          <a:noFill/>
        </p:spPr>
        <p:txBody>
          <a:bodyPr wrap="square" rtlCol="0">
            <a:spAutoFit/>
            <a:scene3d>
              <a:camera prst="orthographicFront"/>
              <a:lightRig rig="threePt" dir="t"/>
            </a:scene3d>
            <a:sp3d contourW="12700"/>
          </a:bodyPr>
          <a:lstStyle/>
          <a:p>
            <a:pPr algn="r"/>
            <a:r>
              <a:rPr lang="zh-CN" altLang="en-US" sz="6000" b="1"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rPr>
              <a:t>为何共享单车</a:t>
            </a:r>
            <a:endParaRPr lang="en-US" altLang="zh-CN" sz="6000" b="1"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endParaRPr>
          </a:p>
          <a:p>
            <a:pPr algn="r"/>
            <a:r>
              <a:rPr lang="zh-CN" altLang="en-US" sz="3200"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rPr>
              <a:t>基于</a:t>
            </a:r>
            <a:r>
              <a:rPr lang="en-US" altLang="zh-CN" sz="3200"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rPr>
              <a:t>SAS</a:t>
            </a:r>
            <a:r>
              <a:rPr lang="zh-CN" altLang="en-US" sz="3200"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rPr>
              <a:t>的用户使用共享单车意愿分析和综合表征</a:t>
            </a:r>
            <a:endParaRPr lang="en-US" altLang="zh-CN" sz="3200" dirty="0">
              <a:solidFill>
                <a:srgbClr val="1259A5"/>
              </a:solidFill>
              <a:latin typeface="Times New Roman" panose="02020603050405020304" pitchFamily="18" charset="0"/>
              <a:ea typeface="微软雅黑" panose="020B0503020204020204" pitchFamily="34" charset="-122"/>
              <a:cs typeface="经典综艺体简" panose="02010609000101010101" pitchFamily="49" charset="-122"/>
              <a:sym typeface="Times New Roman" panose="02020603050405020304" pitchFamily="18" charset="0"/>
            </a:endParaRPr>
          </a:p>
        </p:txBody>
      </p:sp>
      <p:sp>
        <p:nvSpPr>
          <p:cNvPr id="19" name="文本框 18"/>
          <p:cNvSpPr txBox="1"/>
          <p:nvPr/>
        </p:nvSpPr>
        <p:spPr>
          <a:xfrm>
            <a:off x="6916867" y="5537967"/>
            <a:ext cx="4074024" cy="338554"/>
          </a:xfrm>
          <a:prstGeom prst="rect">
            <a:avLst/>
          </a:prstGeom>
          <a:noFill/>
        </p:spPr>
        <p:txBody>
          <a:bodyPr wrap="square" rtlCol="0">
            <a:spAutoFit/>
            <a:scene3d>
              <a:camera prst="orthographicFront"/>
              <a:lightRig rig="threePt" dir="t"/>
            </a:scene3d>
            <a:sp3d contourW="12700"/>
          </a:bodyPr>
          <a:lstStyle/>
          <a:p>
            <a:pPr algn="r"/>
            <a:r>
              <a:rPr lang="zh-CN" altLang="en-US" sz="1600" b="1" dirty="0">
                <a:solidFill>
                  <a:schemeClr val="tx1">
                    <a:lumMod val="50000"/>
                    <a:lumOff val="50000"/>
                  </a:schemeClr>
                </a:solidFill>
                <a:latin typeface="Times New Roman" panose="02020603050405020304" pitchFamily="18" charset="0"/>
                <a:ea typeface="微软雅黑" panose="020B0503020204020204" pitchFamily="34" charset="-122"/>
                <a:sym typeface="Times New Roman" panose="02020603050405020304" pitchFamily="18" charset="0"/>
              </a:rPr>
              <a:t>吴宇森，</a:t>
            </a:r>
            <a:r>
              <a:rPr lang="en-US" altLang="zh-CN" sz="1600" b="1" dirty="0">
                <a:solidFill>
                  <a:schemeClr val="tx1">
                    <a:lumMod val="50000"/>
                    <a:lumOff val="50000"/>
                  </a:schemeClr>
                </a:solidFill>
                <a:latin typeface="Times New Roman" panose="02020603050405020304" pitchFamily="18" charset="0"/>
                <a:ea typeface="微软雅黑" panose="020B0503020204020204" pitchFamily="34" charset="-122"/>
                <a:sym typeface="Times New Roman" panose="02020603050405020304" pitchFamily="18" charset="0"/>
              </a:rPr>
              <a:t>2025/01/02</a:t>
            </a:r>
          </a:p>
        </p:txBody>
      </p:sp>
    </p:spTree>
    <p:extLst>
      <p:ext uri="{BB962C8B-B14F-4D97-AF65-F5344CB8AC3E}">
        <p14:creationId xmlns:p14="http://schemas.microsoft.com/office/powerpoint/2010/main" val="2934318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07F8B-EBEE-984A-5BAD-37F47EB4548B}"/>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93E5DF55-A46C-9D25-A293-8BA9A944607B}"/>
              </a:ext>
            </a:extLst>
          </p:cNvPr>
          <p:cNvSpPr txBox="1"/>
          <p:nvPr/>
        </p:nvSpPr>
        <p:spPr>
          <a:xfrm>
            <a:off x="4146597" y="895114"/>
            <a:ext cx="3898824"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共享单车业务背景概述</a:t>
            </a:r>
          </a:p>
        </p:txBody>
      </p:sp>
      <p:sp>
        <p:nvSpPr>
          <p:cNvPr id="33" name="矩形 32">
            <a:extLst>
              <a:ext uri="{FF2B5EF4-FFF2-40B4-BE49-F238E27FC236}">
                <a16:creationId xmlns:a16="http://schemas.microsoft.com/office/drawing/2014/main" id="{9F1EFC0E-5209-7831-58BC-BA092DC6D0B0}"/>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6CD58024-5824-4C58-6044-C83EF6F7BF56}"/>
              </a:ext>
            </a:extLst>
          </p:cNvPr>
          <p:cNvSpPr txBox="1"/>
          <p:nvPr/>
        </p:nvSpPr>
        <p:spPr>
          <a:xfrm>
            <a:off x="1203158" y="1620859"/>
            <a:ext cx="4531895" cy="1877437"/>
          </a:xfrm>
          <a:prstGeom prst="rect">
            <a:avLst/>
          </a:prstGeom>
          <a:noFill/>
        </p:spPr>
        <p:txBody>
          <a:bodyPr wrap="square" rtlCol="0">
            <a:spAutoFit/>
          </a:bodyPr>
          <a:lstStyle/>
          <a:p>
            <a:r>
              <a:rPr lang="zh-CN" altLang="en-US" sz="2000" b="1" dirty="0"/>
              <a:t>共享单车租赁业务简介</a:t>
            </a:r>
            <a:endParaRPr lang="en-US" altLang="zh-CN" sz="2000" b="1" dirty="0"/>
          </a:p>
          <a:p>
            <a:pPr marL="342900" indent="-342900">
              <a:buFont typeface="Arial" panose="020B0604020202020204" pitchFamily="34" charset="0"/>
              <a:buChar char="•"/>
            </a:pPr>
            <a:r>
              <a:rPr lang="zh-CN" altLang="en-US" sz="1600" dirty="0"/>
              <a:t>共享单车业务通过提供便捷的</a:t>
            </a:r>
            <a:r>
              <a:rPr lang="zh-CN" altLang="en-US" sz="1600" b="1" dirty="0"/>
              <a:t>短途出行</a:t>
            </a:r>
            <a:r>
              <a:rPr lang="zh-CN" altLang="en-US" sz="1600" dirty="0"/>
              <a:t>解决方案，利用智能锁和移动支付技术，实现用户</a:t>
            </a:r>
            <a:r>
              <a:rPr lang="zh-CN" altLang="en-US" sz="1600" b="1" dirty="0"/>
              <a:t>随取随还</a:t>
            </a:r>
            <a:r>
              <a:rPr lang="zh-CN" altLang="en-US" sz="1600" dirty="0"/>
              <a:t>，按使用时间收费的</a:t>
            </a:r>
            <a:r>
              <a:rPr lang="zh-CN" altLang="en-US" sz="1600" b="1" dirty="0"/>
              <a:t>商业模式</a:t>
            </a:r>
            <a:endParaRPr lang="en-US" altLang="zh-CN" sz="1600" b="1" dirty="0"/>
          </a:p>
          <a:p>
            <a:pPr marL="342900" indent="-342900">
              <a:buFont typeface="Arial" panose="020B0604020202020204" pitchFamily="34" charset="0"/>
              <a:buChar char="•"/>
            </a:pPr>
            <a:r>
              <a:rPr lang="zh-CN" altLang="en-US" sz="1600" dirty="0"/>
              <a:t>共享单车持续增长、用户群体稳定、政策持续扶持、通过科技化自动化提供更好的服务</a:t>
            </a:r>
            <a:endParaRPr lang="en-US" altLang="zh-CN" sz="1600" dirty="0"/>
          </a:p>
          <a:p>
            <a:endParaRPr lang="en-US" altLang="zh-CN" sz="1600" dirty="0"/>
          </a:p>
        </p:txBody>
      </p:sp>
      <p:sp>
        <p:nvSpPr>
          <p:cNvPr id="3" name="文本框 2">
            <a:extLst>
              <a:ext uri="{FF2B5EF4-FFF2-40B4-BE49-F238E27FC236}">
                <a16:creationId xmlns:a16="http://schemas.microsoft.com/office/drawing/2014/main" id="{3D21BA21-D0A1-5A85-FBF7-B81FFAA4B732}"/>
              </a:ext>
            </a:extLst>
          </p:cNvPr>
          <p:cNvSpPr txBox="1"/>
          <p:nvPr/>
        </p:nvSpPr>
        <p:spPr>
          <a:xfrm>
            <a:off x="1203157" y="4017268"/>
            <a:ext cx="4531895" cy="2369880"/>
          </a:xfrm>
          <a:prstGeom prst="rect">
            <a:avLst/>
          </a:prstGeom>
          <a:noFill/>
        </p:spPr>
        <p:txBody>
          <a:bodyPr wrap="square" rtlCol="0">
            <a:spAutoFit/>
          </a:bodyPr>
          <a:lstStyle/>
          <a:p>
            <a:r>
              <a:rPr lang="zh-CN" altLang="en-US" sz="2000" b="1" dirty="0"/>
              <a:t>选题背景</a:t>
            </a:r>
          </a:p>
          <a:p>
            <a:pPr marL="342900" indent="-342900">
              <a:buFont typeface="Arial" panose="020B0604020202020204" pitchFamily="34" charset="0"/>
              <a:buChar char="•"/>
            </a:pPr>
            <a:r>
              <a:rPr lang="zh-CN" altLang="en-US" sz="1600" dirty="0"/>
              <a:t>共享单车用户的使用行为受到多个因素的影响，为了更好地确定会员和非会员群体关心的因素，在最有影响力的方面上提升服务水平，有必要进行变量分析</a:t>
            </a:r>
            <a:endParaRPr lang="en-US" altLang="zh-CN" sz="1600" dirty="0"/>
          </a:p>
          <a:p>
            <a:pPr marL="342900" indent="-342900">
              <a:buFont typeface="Arial" panose="020B0604020202020204" pitchFamily="34" charset="0"/>
              <a:buChar char="•"/>
            </a:pPr>
            <a:r>
              <a:rPr lang="zh-CN" altLang="en-US" sz="1600" dirty="0"/>
              <a:t>共享单车的租用数量随时序不断变化，不同季节、天气、温度下动荡幅度较大，提升对其预测的准度对于共享单车运营企业进行动态调度和投放具有重要意义</a:t>
            </a:r>
            <a:endParaRPr lang="en-US" altLang="zh-CN" sz="1600" dirty="0"/>
          </a:p>
        </p:txBody>
      </p:sp>
      <p:pic>
        <p:nvPicPr>
          <p:cNvPr id="7" name="图片 6">
            <a:extLst>
              <a:ext uri="{FF2B5EF4-FFF2-40B4-BE49-F238E27FC236}">
                <a16:creationId xmlns:a16="http://schemas.microsoft.com/office/drawing/2014/main" id="{4E87DA39-2186-9BE3-3724-CAE3D38ED453}"/>
              </a:ext>
            </a:extLst>
          </p:cNvPr>
          <p:cNvPicPr>
            <a:picLocks noChangeAspect="1"/>
          </p:cNvPicPr>
          <p:nvPr/>
        </p:nvPicPr>
        <p:blipFill>
          <a:blip r:embed="rId3"/>
          <a:stretch>
            <a:fillRect/>
          </a:stretch>
        </p:blipFill>
        <p:spPr>
          <a:xfrm>
            <a:off x="6832648" y="4307319"/>
            <a:ext cx="3493911" cy="2133816"/>
          </a:xfrm>
          <a:prstGeom prst="rect">
            <a:avLst/>
          </a:prstGeom>
        </p:spPr>
      </p:pic>
      <p:pic>
        <p:nvPicPr>
          <p:cNvPr id="9" name="图片 8">
            <a:extLst>
              <a:ext uri="{FF2B5EF4-FFF2-40B4-BE49-F238E27FC236}">
                <a16:creationId xmlns:a16="http://schemas.microsoft.com/office/drawing/2014/main" id="{677F8622-70EC-CC4D-19AD-F01E948BD931}"/>
              </a:ext>
            </a:extLst>
          </p:cNvPr>
          <p:cNvPicPr>
            <a:picLocks noChangeAspect="1"/>
          </p:cNvPicPr>
          <p:nvPr/>
        </p:nvPicPr>
        <p:blipFill>
          <a:blip r:embed="rId4"/>
          <a:stretch>
            <a:fillRect/>
          </a:stretch>
        </p:blipFill>
        <p:spPr>
          <a:xfrm>
            <a:off x="6967769" y="1680693"/>
            <a:ext cx="3085189" cy="2273480"/>
          </a:xfrm>
          <a:prstGeom prst="rect">
            <a:avLst/>
          </a:prstGeom>
        </p:spPr>
      </p:pic>
    </p:spTree>
    <p:extLst>
      <p:ext uri="{BB962C8B-B14F-4D97-AF65-F5344CB8AC3E}">
        <p14:creationId xmlns:p14="http://schemas.microsoft.com/office/powerpoint/2010/main" val="2334829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B0878-159A-28FA-AF23-C44E7C3558B4}"/>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C98C4AA6-E20B-A2B4-DB7B-14DD5EE5C689}"/>
              </a:ext>
            </a:extLst>
          </p:cNvPr>
          <p:cNvSpPr txBox="1"/>
          <p:nvPr/>
        </p:nvSpPr>
        <p:spPr>
          <a:xfrm>
            <a:off x="5285531" y="895114"/>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小组分工</a:t>
            </a:r>
          </a:p>
        </p:txBody>
      </p:sp>
      <p:sp>
        <p:nvSpPr>
          <p:cNvPr id="33" name="矩形 32">
            <a:extLst>
              <a:ext uri="{FF2B5EF4-FFF2-40B4-BE49-F238E27FC236}">
                <a16:creationId xmlns:a16="http://schemas.microsoft.com/office/drawing/2014/main" id="{EECAAD93-0C74-B5E3-F455-0BCF9E2E7ED4}"/>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D94AD145-991E-1652-AEFB-410DEFF71649}"/>
              </a:ext>
            </a:extLst>
          </p:cNvPr>
          <p:cNvSpPr txBox="1"/>
          <p:nvPr/>
        </p:nvSpPr>
        <p:spPr>
          <a:xfrm>
            <a:off x="1647478" y="1923512"/>
            <a:ext cx="9434791" cy="369332"/>
          </a:xfrm>
          <a:prstGeom prst="rect">
            <a:avLst/>
          </a:prstGeom>
          <a:noFill/>
        </p:spPr>
        <p:txBody>
          <a:bodyPr wrap="square" rtlCol="0">
            <a:spAutoFit/>
          </a:bodyPr>
          <a:lstStyle/>
          <a:p>
            <a:r>
              <a:rPr lang="zh-CN" altLang="en-US" dirty="0"/>
              <a:t>自己独立搓的数据收集，方案设计，实验进行和结果分析</a:t>
            </a:r>
            <a:endParaRPr lang="en-US" altLang="zh-CN" dirty="0"/>
          </a:p>
        </p:txBody>
      </p:sp>
    </p:spTree>
    <p:extLst>
      <p:ext uri="{BB962C8B-B14F-4D97-AF65-F5344CB8AC3E}">
        <p14:creationId xmlns:p14="http://schemas.microsoft.com/office/powerpoint/2010/main" val="2356464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B9938-7FC6-F28B-3590-1003FDC3B7D6}"/>
            </a:ext>
          </a:extLst>
        </p:cNvPr>
        <p:cNvGrpSpPr/>
        <p:nvPr/>
      </p:nvGrpSpPr>
      <p:grpSpPr>
        <a:xfrm>
          <a:off x="0" y="0"/>
          <a:ext cx="0" cy="0"/>
          <a:chOff x="0" y="0"/>
          <a:chExt cx="0" cy="0"/>
        </a:xfrm>
      </p:grpSpPr>
      <p:sp>
        <p:nvSpPr>
          <p:cNvPr id="4" name="圆角矩形 3">
            <a:extLst>
              <a:ext uri="{FF2B5EF4-FFF2-40B4-BE49-F238E27FC236}">
                <a16:creationId xmlns:a16="http://schemas.microsoft.com/office/drawing/2014/main" id="{61E26F19-9E33-1BF0-14AE-F8273F38575A}"/>
              </a:ext>
            </a:extLst>
          </p:cNvPr>
          <p:cNvSpPr/>
          <p:nvPr/>
        </p:nvSpPr>
        <p:spPr>
          <a:xfrm>
            <a:off x="392806" y="196929"/>
            <a:ext cx="11423560" cy="6577358"/>
          </a:xfrm>
          <a:prstGeom prst="roundRect">
            <a:avLst>
              <a:gd name="adj" fmla="val 454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DE254FA1-07FF-0B23-A40D-DF80296E6F04}"/>
              </a:ext>
            </a:extLst>
          </p:cNvPr>
          <p:cNvSpPr txBox="1"/>
          <p:nvPr/>
        </p:nvSpPr>
        <p:spPr>
          <a:xfrm>
            <a:off x="5285533" y="895114"/>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数据描述</a:t>
            </a:r>
          </a:p>
        </p:txBody>
      </p:sp>
      <p:sp>
        <p:nvSpPr>
          <p:cNvPr id="33" name="矩形 32">
            <a:extLst>
              <a:ext uri="{FF2B5EF4-FFF2-40B4-BE49-F238E27FC236}">
                <a16:creationId xmlns:a16="http://schemas.microsoft.com/office/drawing/2014/main" id="{1AC9B3D2-191F-1EAF-4AA7-F937E8402E8D}"/>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F6767DC5-AC3B-D792-92D9-0F633091CFB3}"/>
              </a:ext>
            </a:extLst>
          </p:cNvPr>
          <p:cNvSpPr txBox="1"/>
          <p:nvPr/>
        </p:nvSpPr>
        <p:spPr>
          <a:xfrm>
            <a:off x="881745" y="1790447"/>
            <a:ext cx="4488746" cy="3170099"/>
          </a:xfrm>
          <a:prstGeom prst="rect">
            <a:avLst/>
          </a:prstGeom>
          <a:noFill/>
        </p:spPr>
        <p:txBody>
          <a:bodyPr wrap="square" rtlCol="0">
            <a:spAutoFit/>
          </a:bodyPr>
          <a:lstStyle/>
          <a:p>
            <a:r>
              <a:rPr lang="en-US" altLang="zh-CN" sz="2000" b="1" dirty="0" err="1"/>
              <a:t>kaggle</a:t>
            </a:r>
            <a:r>
              <a:rPr lang="zh-CN" altLang="en-US" sz="2000" b="1" dirty="0"/>
              <a:t>共享单车数据</a:t>
            </a:r>
            <a:endParaRPr lang="en-US" altLang="zh-CN" sz="2000" b="1" dirty="0"/>
          </a:p>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数据来源</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p>
          <a:p>
            <a:pPr marL="1200150" lvl="2" indent="-285750" algn="just">
              <a:buFont typeface="Arial" panose="020B0604020202020204" pitchFamily="34" charset="0"/>
              <a:buChar char="•"/>
            </a:pP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Kaggle</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项目</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bike-sharing-demand</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中来自华盛顿</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Capital Bikeshare </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项目的数据</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数据量大小</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1200150" lvl="2" indent="-285750" algn="just">
              <a:buFont typeface="Arial" panose="020B0604020202020204" pitchFamily="34" charset="0"/>
              <a:buChar char="•"/>
            </a:pPr>
            <a:r>
              <a:rPr lang="en-US" altLang="zh-CN" b="0" i="0" dirty="0">
                <a:solidFill>
                  <a:srgbClr val="191B1F"/>
                </a:solidFill>
                <a:effectLst/>
                <a:latin typeface="-apple-system"/>
              </a:rPr>
              <a:t>2011</a:t>
            </a:r>
            <a:r>
              <a:rPr lang="zh-CN" altLang="en-US" b="0" i="0" dirty="0">
                <a:solidFill>
                  <a:srgbClr val="191B1F"/>
                </a:solidFill>
                <a:effectLst/>
                <a:latin typeface="-apple-system"/>
              </a:rPr>
              <a:t>年到</a:t>
            </a:r>
            <a:r>
              <a:rPr lang="en-US" altLang="zh-CN" b="0" i="0" dirty="0">
                <a:solidFill>
                  <a:srgbClr val="191B1F"/>
                </a:solidFill>
                <a:effectLst/>
                <a:latin typeface="-apple-system"/>
              </a:rPr>
              <a:t>2012</a:t>
            </a:r>
            <a:r>
              <a:rPr lang="zh-CN" altLang="en-US" b="0" i="0" dirty="0">
                <a:solidFill>
                  <a:srgbClr val="191B1F"/>
                </a:solidFill>
                <a:effectLst/>
                <a:latin typeface="-apple-system"/>
              </a:rPr>
              <a:t>年的共享单车租用数据集</a:t>
            </a:r>
            <a:endParaRPr lang="en-US" altLang="zh-CN" b="0" i="0" dirty="0">
              <a:solidFill>
                <a:srgbClr val="191B1F"/>
              </a:solidFill>
              <a:effectLst/>
              <a:latin typeface="-apple-system"/>
            </a:endParaRPr>
          </a:p>
          <a:p>
            <a:pPr marL="1200150" lvl="2" indent="-285750" algn="just">
              <a:buFont typeface="Arial" panose="020B0604020202020204" pitchFamily="34" charset="0"/>
              <a:buChar char="•"/>
            </a:pPr>
            <a:r>
              <a:rPr lang="zh-CN" altLang="en-US" sz="1800" kern="100" dirty="0">
                <a:solidFill>
                  <a:srgbClr val="191B1F"/>
                </a:solidFill>
                <a:latin typeface="-apple-system"/>
                <a:ea typeface="宋体" panose="02010600030101010101" pitchFamily="2" charset="-122"/>
                <a:cs typeface="Times New Roman" panose="02020603050405020304" pitchFamily="18" charset="0"/>
              </a:rPr>
              <a:t>共</a:t>
            </a:r>
            <a:r>
              <a:rPr lang="en-US" altLang="zh-CN" sz="1800" kern="100" dirty="0">
                <a:solidFill>
                  <a:srgbClr val="191B1F"/>
                </a:solidFill>
                <a:latin typeface="-apple-system"/>
                <a:ea typeface="宋体" panose="02010600030101010101" pitchFamily="2" charset="-122"/>
                <a:cs typeface="Times New Roman" panose="02020603050405020304" pitchFamily="18" charset="0"/>
              </a:rPr>
              <a:t>10886</a:t>
            </a:r>
            <a:r>
              <a:rPr lang="zh-CN" altLang="en-US" sz="1800" kern="100" dirty="0">
                <a:solidFill>
                  <a:srgbClr val="191B1F"/>
                </a:solidFill>
                <a:latin typeface="-apple-system"/>
                <a:ea typeface="宋体" panose="02010600030101010101" pitchFamily="2" charset="-122"/>
                <a:cs typeface="Times New Roman" panose="02020603050405020304" pitchFamily="18" charset="0"/>
              </a:rPr>
              <a:t>行，</a:t>
            </a:r>
            <a:r>
              <a:rPr lang="en-US" altLang="zh-CN" sz="1800" kern="100" dirty="0">
                <a:solidFill>
                  <a:srgbClr val="191B1F"/>
                </a:solidFill>
                <a:latin typeface="-apple-system"/>
                <a:ea typeface="宋体" panose="02010600030101010101" pitchFamily="2" charset="-122"/>
                <a:cs typeface="Times New Roman" panose="02020603050405020304" pitchFamily="18" charset="0"/>
              </a:rPr>
              <a:t>15</a:t>
            </a:r>
            <a:r>
              <a:rPr lang="zh-CN" altLang="en-US" sz="1800" kern="100" dirty="0">
                <a:solidFill>
                  <a:srgbClr val="191B1F"/>
                </a:solidFill>
                <a:latin typeface="-apple-system"/>
                <a:ea typeface="宋体" panose="02010600030101010101" pitchFamily="2" charset="-122"/>
                <a:cs typeface="Times New Roman" panose="02020603050405020304" pitchFamily="18" charset="0"/>
              </a:rPr>
              <a:t>列</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1200150" lvl="2" indent="-285750" algn="just">
              <a:buFont typeface="Arial" panose="020B0604020202020204" pitchFamily="34" charset="0"/>
              <a:buChar char="•"/>
            </a:pP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数据中</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列向</a:t>
            </a: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量的介绍</a:t>
            </a:r>
          </a:p>
        </p:txBody>
      </p:sp>
      <p:graphicFrame>
        <p:nvGraphicFramePr>
          <p:cNvPr id="5" name="表格 4">
            <a:extLst>
              <a:ext uri="{FF2B5EF4-FFF2-40B4-BE49-F238E27FC236}">
                <a16:creationId xmlns:a16="http://schemas.microsoft.com/office/drawing/2014/main" id="{B8213B29-1B8C-7A0E-831C-1E142FA439B3}"/>
              </a:ext>
            </a:extLst>
          </p:cNvPr>
          <p:cNvGraphicFramePr>
            <a:graphicFrameLocks noGrp="1"/>
          </p:cNvGraphicFramePr>
          <p:nvPr>
            <p:extLst>
              <p:ext uri="{D42A27DB-BD31-4B8C-83A1-F6EECF244321}">
                <p14:modId xmlns:p14="http://schemas.microsoft.com/office/powerpoint/2010/main" val="3129069317"/>
              </p:ext>
            </p:extLst>
          </p:nvPr>
        </p:nvGraphicFramePr>
        <p:xfrm>
          <a:off x="7432509" y="351711"/>
          <a:ext cx="3812148" cy="6309360"/>
        </p:xfrm>
        <a:graphic>
          <a:graphicData uri="http://schemas.openxmlformats.org/drawingml/2006/table">
            <a:tbl>
              <a:tblPr firstRow="1" bandRow="1">
                <a:tableStyleId>{5C22544A-7EE6-4342-B048-85BDC9FD1C3A}</a:tableStyleId>
              </a:tblPr>
              <a:tblGrid>
                <a:gridCol w="1287482">
                  <a:extLst>
                    <a:ext uri="{9D8B030D-6E8A-4147-A177-3AD203B41FA5}">
                      <a16:colId xmlns:a16="http://schemas.microsoft.com/office/drawing/2014/main" val="2192447052"/>
                    </a:ext>
                  </a:extLst>
                </a:gridCol>
                <a:gridCol w="2524666">
                  <a:extLst>
                    <a:ext uri="{9D8B030D-6E8A-4147-A177-3AD203B41FA5}">
                      <a16:colId xmlns:a16="http://schemas.microsoft.com/office/drawing/2014/main" val="1676420954"/>
                    </a:ext>
                  </a:extLst>
                </a:gridCol>
              </a:tblGrid>
              <a:tr h="302908">
                <a:tc>
                  <a:txBody>
                    <a:bodyPr/>
                    <a:lstStyle/>
                    <a:p>
                      <a:r>
                        <a:rPr lang="en-US" altLang="zh-CN" dirty="0" err="1"/>
                        <a:t>datatime</a:t>
                      </a:r>
                      <a:endParaRPr lang="zh-CN" altLang="en-US" dirty="0"/>
                    </a:p>
                  </a:txBody>
                  <a:tcPr/>
                </a:tc>
                <a:tc>
                  <a:txBody>
                    <a:bodyPr/>
                    <a:lstStyle/>
                    <a:p>
                      <a:r>
                        <a:rPr lang="zh-CN" altLang="en-US" dirty="0"/>
                        <a:t>共享单车租用时间</a:t>
                      </a:r>
                    </a:p>
                  </a:txBody>
                  <a:tcPr/>
                </a:tc>
                <a:extLst>
                  <a:ext uri="{0D108BD9-81ED-4DB2-BD59-A6C34878D82A}">
                    <a16:rowId xmlns:a16="http://schemas.microsoft.com/office/drawing/2014/main" val="3944010947"/>
                  </a:ext>
                </a:extLst>
              </a:tr>
              <a:tr h="530090">
                <a:tc>
                  <a:txBody>
                    <a:bodyPr/>
                    <a:lstStyle/>
                    <a:p>
                      <a:r>
                        <a:rPr lang="en-US" altLang="zh-CN" dirty="0"/>
                        <a:t>season</a:t>
                      </a:r>
                      <a:endParaRPr lang="zh-CN" altLang="en-US" dirty="0"/>
                    </a:p>
                  </a:txBody>
                  <a:tcPr/>
                </a:tc>
                <a:tc>
                  <a:txBody>
                    <a:bodyPr/>
                    <a:lstStyle/>
                    <a:p>
                      <a:r>
                        <a:rPr lang="zh-CN" altLang="en-US" dirty="0"/>
                        <a:t>季节，数字</a:t>
                      </a:r>
                      <a:r>
                        <a:rPr lang="en-US" altLang="zh-CN" dirty="0"/>
                        <a:t>1-4</a:t>
                      </a:r>
                      <a:r>
                        <a:rPr lang="zh-CN" altLang="en-US" dirty="0"/>
                        <a:t>分别代表不同季节</a:t>
                      </a:r>
                    </a:p>
                  </a:txBody>
                  <a:tcPr/>
                </a:tc>
                <a:extLst>
                  <a:ext uri="{0D108BD9-81ED-4DB2-BD59-A6C34878D82A}">
                    <a16:rowId xmlns:a16="http://schemas.microsoft.com/office/drawing/2014/main" val="3542361817"/>
                  </a:ext>
                </a:extLst>
              </a:tr>
              <a:tr h="302908">
                <a:tc>
                  <a:txBody>
                    <a:bodyPr/>
                    <a:lstStyle/>
                    <a:p>
                      <a:r>
                        <a:rPr lang="en-US" altLang="zh-CN" dirty="0"/>
                        <a:t>holiday</a:t>
                      </a:r>
                      <a:endParaRPr lang="zh-CN" altLang="en-US" dirty="0"/>
                    </a:p>
                  </a:txBody>
                  <a:tcPr/>
                </a:tc>
                <a:tc>
                  <a:txBody>
                    <a:bodyPr/>
                    <a:lstStyle/>
                    <a:p>
                      <a:r>
                        <a:rPr lang="en-US" altLang="zh-CN" dirty="0"/>
                        <a:t>0/1</a:t>
                      </a:r>
                      <a:r>
                        <a:rPr lang="zh-CN" altLang="en-US" dirty="0"/>
                        <a:t>代表是否是节假日</a:t>
                      </a:r>
                    </a:p>
                  </a:txBody>
                  <a:tcPr/>
                </a:tc>
                <a:extLst>
                  <a:ext uri="{0D108BD9-81ED-4DB2-BD59-A6C34878D82A}">
                    <a16:rowId xmlns:a16="http://schemas.microsoft.com/office/drawing/2014/main" val="3049793326"/>
                  </a:ext>
                </a:extLst>
              </a:tr>
              <a:tr h="530090">
                <a:tc>
                  <a:txBody>
                    <a:bodyPr/>
                    <a:lstStyle/>
                    <a:p>
                      <a:r>
                        <a:rPr lang="en-US" altLang="zh-CN" dirty="0" err="1"/>
                        <a:t>workingday</a:t>
                      </a:r>
                      <a:endParaRPr lang="zh-CN" altLang="en-US" dirty="0"/>
                    </a:p>
                  </a:txBody>
                  <a:tcPr/>
                </a:tc>
                <a:tc>
                  <a:txBody>
                    <a:bodyPr/>
                    <a:lstStyle/>
                    <a:p>
                      <a:r>
                        <a:rPr lang="en-US" altLang="zh-CN" dirty="0"/>
                        <a:t>1</a:t>
                      </a:r>
                      <a:r>
                        <a:rPr lang="zh-CN" altLang="en-US" dirty="0"/>
                        <a:t>代表工作日，</a:t>
                      </a:r>
                      <a:r>
                        <a:rPr lang="en-US" altLang="zh-CN" dirty="0"/>
                        <a:t>0</a:t>
                      </a:r>
                      <a:r>
                        <a:rPr lang="zh-CN" altLang="en-US" dirty="0"/>
                        <a:t>代表周末</a:t>
                      </a:r>
                    </a:p>
                  </a:txBody>
                  <a:tcPr/>
                </a:tc>
                <a:extLst>
                  <a:ext uri="{0D108BD9-81ED-4DB2-BD59-A6C34878D82A}">
                    <a16:rowId xmlns:a16="http://schemas.microsoft.com/office/drawing/2014/main" val="2939545153"/>
                  </a:ext>
                </a:extLst>
              </a:tr>
              <a:tr h="302908">
                <a:tc rowSpan="4">
                  <a:txBody>
                    <a:bodyPr/>
                    <a:lstStyle/>
                    <a:p>
                      <a:r>
                        <a:rPr lang="en-US" altLang="zh-CN" dirty="0"/>
                        <a:t>weather</a:t>
                      </a:r>
                      <a:endParaRPr lang="zh-CN" altLang="en-US" dirty="0"/>
                    </a:p>
                  </a:txBody>
                  <a:tcPr/>
                </a:tc>
                <a:tc>
                  <a:txBody>
                    <a:bodyPr/>
                    <a:lstStyle/>
                    <a:p>
                      <a:r>
                        <a:rPr lang="en-US" altLang="zh-CN" dirty="0"/>
                        <a:t>1</a:t>
                      </a:r>
                      <a:r>
                        <a:rPr lang="zh-CN" altLang="en-US" dirty="0"/>
                        <a:t>代表晴天，多云</a:t>
                      </a:r>
                    </a:p>
                  </a:txBody>
                  <a:tcPr/>
                </a:tc>
                <a:extLst>
                  <a:ext uri="{0D108BD9-81ED-4DB2-BD59-A6C34878D82A}">
                    <a16:rowId xmlns:a16="http://schemas.microsoft.com/office/drawing/2014/main" val="947996063"/>
                  </a:ext>
                </a:extLst>
              </a:tr>
              <a:tr h="302908">
                <a:tc vMerge="1">
                  <a:txBody>
                    <a:bodyPr/>
                    <a:lstStyle/>
                    <a:p>
                      <a:endParaRPr lang="zh-CN" altLang="en-US"/>
                    </a:p>
                  </a:txBody>
                  <a:tcPr/>
                </a:tc>
                <a:tc>
                  <a:txBody>
                    <a:bodyPr/>
                    <a:lstStyle/>
                    <a:p>
                      <a:r>
                        <a:rPr lang="en-US" altLang="zh-CN" dirty="0"/>
                        <a:t>2</a:t>
                      </a:r>
                      <a:r>
                        <a:rPr lang="zh-CN" altLang="en-US" dirty="0"/>
                        <a:t>代表雾天，阴天</a:t>
                      </a:r>
                    </a:p>
                  </a:txBody>
                  <a:tcPr/>
                </a:tc>
                <a:extLst>
                  <a:ext uri="{0D108BD9-81ED-4DB2-BD59-A6C34878D82A}">
                    <a16:rowId xmlns:a16="http://schemas.microsoft.com/office/drawing/2014/main" val="648471195"/>
                  </a:ext>
                </a:extLst>
              </a:tr>
              <a:tr h="302908">
                <a:tc vMerge="1">
                  <a:txBody>
                    <a:bodyPr/>
                    <a:lstStyle/>
                    <a:p>
                      <a:endParaRPr lang="zh-CN" altLang="en-US"/>
                    </a:p>
                  </a:txBody>
                  <a:tcPr/>
                </a:tc>
                <a:tc>
                  <a:txBody>
                    <a:bodyPr/>
                    <a:lstStyle/>
                    <a:p>
                      <a:r>
                        <a:rPr lang="en-US" altLang="zh-CN" dirty="0"/>
                        <a:t>3</a:t>
                      </a:r>
                      <a:r>
                        <a:rPr lang="zh-CN" altLang="en-US" dirty="0"/>
                        <a:t>代表小雪，小雨</a:t>
                      </a:r>
                    </a:p>
                  </a:txBody>
                  <a:tcPr/>
                </a:tc>
                <a:extLst>
                  <a:ext uri="{0D108BD9-81ED-4DB2-BD59-A6C34878D82A}">
                    <a16:rowId xmlns:a16="http://schemas.microsoft.com/office/drawing/2014/main" val="1654495657"/>
                  </a:ext>
                </a:extLst>
              </a:tr>
              <a:tr h="302908">
                <a:tc vMerge="1">
                  <a:txBody>
                    <a:bodyPr/>
                    <a:lstStyle/>
                    <a:p>
                      <a:endParaRPr lang="zh-CN" altLang="en-US"/>
                    </a:p>
                  </a:txBody>
                  <a:tcPr/>
                </a:tc>
                <a:tc>
                  <a:txBody>
                    <a:bodyPr/>
                    <a:lstStyle/>
                    <a:p>
                      <a:r>
                        <a:rPr lang="en-US" altLang="zh-CN" dirty="0"/>
                        <a:t>4</a:t>
                      </a:r>
                      <a:r>
                        <a:rPr lang="zh-CN" altLang="en-US" dirty="0"/>
                        <a:t>代表大雨，大雪</a:t>
                      </a:r>
                    </a:p>
                  </a:txBody>
                  <a:tcPr/>
                </a:tc>
                <a:extLst>
                  <a:ext uri="{0D108BD9-81ED-4DB2-BD59-A6C34878D82A}">
                    <a16:rowId xmlns:a16="http://schemas.microsoft.com/office/drawing/2014/main" val="2125142887"/>
                  </a:ext>
                </a:extLst>
              </a:tr>
              <a:tr h="302908">
                <a:tc>
                  <a:txBody>
                    <a:bodyPr/>
                    <a:lstStyle/>
                    <a:p>
                      <a:r>
                        <a:rPr lang="en-US" altLang="zh-CN" dirty="0"/>
                        <a:t>temp</a:t>
                      </a:r>
                      <a:endParaRPr lang="zh-CN" altLang="en-US" dirty="0"/>
                    </a:p>
                  </a:txBody>
                  <a:tcPr/>
                </a:tc>
                <a:tc>
                  <a:txBody>
                    <a:bodyPr/>
                    <a:lstStyle/>
                    <a:p>
                      <a:r>
                        <a:rPr lang="zh-CN" altLang="en-US" dirty="0"/>
                        <a:t>气温摄氏度</a:t>
                      </a:r>
                    </a:p>
                  </a:txBody>
                  <a:tcPr/>
                </a:tc>
                <a:extLst>
                  <a:ext uri="{0D108BD9-81ED-4DB2-BD59-A6C34878D82A}">
                    <a16:rowId xmlns:a16="http://schemas.microsoft.com/office/drawing/2014/main" val="3577113360"/>
                  </a:ext>
                </a:extLst>
              </a:tr>
              <a:tr h="302908">
                <a:tc>
                  <a:txBody>
                    <a:bodyPr/>
                    <a:lstStyle/>
                    <a:p>
                      <a:r>
                        <a:rPr lang="en-US" altLang="zh-CN" dirty="0" err="1"/>
                        <a:t>atemp</a:t>
                      </a:r>
                      <a:endParaRPr lang="zh-CN" altLang="en-US" dirty="0"/>
                    </a:p>
                  </a:txBody>
                  <a:tcPr/>
                </a:tc>
                <a:tc>
                  <a:txBody>
                    <a:bodyPr/>
                    <a:lstStyle/>
                    <a:p>
                      <a:r>
                        <a:rPr lang="zh-CN" altLang="en-US" dirty="0"/>
                        <a:t>体感温度</a:t>
                      </a:r>
                    </a:p>
                  </a:txBody>
                  <a:tcPr/>
                </a:tc>
                <a:extLst>
                  <a:ext uri="{0D108BD9-81ED-4DB2-BD59-A6C34878D82A}">
                    <a16:rowId xmlns:a16="http://schemas.microsoft.com/office/drawing/2014/main" val="3714075833"/>
                  </a:ext>
                </a:extLst>
              </a:tr>
              <a:tr h="302908">
                <a:tc>
                  <a:txBody>
                    <a:bodyPr/>
                    <a:lstStyle/>
                    <a:p>
                      <a:r>
                        <a:rPr lang="en-US" altLang="zh-CN" dirty="0"/>
                        <a:t>humidity</a:t>
                      </a:r>
                      <a:endParaRPr lang="zh-CN" altLang="en-US" dirty="0"/>
                    </a:p>
                  </a:txBody>
                  <a:tcPr/>
                </a:tc>
                <a:tc>
                  <a:txBody>
                    <a:bodyPr/>
                    <a:lstStyle/>
                    <a:p>
                      <a:r>
                        <a:rPr lang="zh-CN" altLang="en-US" dirty="0"/>
                        <a:t>湿度</a:t>
                      </a:r>
                    </a:p>
                  </a:txBody>
                  <a:tcPr/>
                </a:tc>
                <a:extLst>
                  <a:ext uri="{0D108BD9-81ED-4DB2-BD59-A6C34878D82A}">
                    <a16:rowId xmlns:a16="http://schemas.microsoft.com/office/drawing/2014/main" val="611287846"/>
                  </a:ext>
                </a:extLst>
              </a:tr>
              <a:tr h="302908">
                <a:tc>
                  <a:txBody>
                    <a:bodyPr/>
                    <a:lstStyle/>
                    <a:p>
                      <a:r>
                        <a:rPr lang="en-US" altLang="zh-CN" dirty="0"/>
                        <a:t>windspeed</a:t>
                      </a:r>
                      <a:endParaRPr lang="zh-CN" altLang="en-US" dirty="0"/>
                    </a:p>
                  </a:txBody>
                  <a:tcPr/>
                </a:tc>
                <a:tc>
                  <a:txBody>
                    <a:bodyPr/>
                    <a:lstStyle/>
                    <a:p>
                      <a:r>
                        <a:rPr lang="zh-CN" altLang="en-US" dirty="0"/>
                        <a:t>风速</a:t>
                      </a:r>
                    </a:p>
                  </a:txBody>
                  <a:tcPr/>
                </a:tc>
                <a:extLst>
                  <a:ext uri="{0D108BD9-81ED-4DB2-BD59-A6C34878D82A}">
                    <a16:rowId xmlns:a16="http://schemas.microsoft.com/office/drawing/2014/main" val="3208791389"/>
                  </a:ext>
                </a:extLst>
              </a:tr>
              <a:tr h="302908">
                <a:tc>
                  <a:txBody>
                    <a:bodyPr/>
                    <a:lstStyle/>
                    <a:p>
                      <a:r>
                        <a:rPr lang="en-US" altLang="zh-CN" dirty="0"/>
                        <a:t>casual</a:t>
                      </a:r>
                      <a:endParaRPr lang="zh-CN" altLang="en-US" dirty="0"/>
                    </a:p>
                  </a:txBody>
                  <a:tcPr/>
                </a:tc>
                <a:tc>
                  <a:txBody>
                    <a:bodyPr/>
                    <a:lstStyle/>
                    <a:p>
                      <a:r>
                        <a:rPr lang="zh-CN" altLang="en-US" dirty="0"/>
                        <a:t>当地非注册用户人数</a:t>
                      </a:r>
                    </a:p>
                  </a:txBody>
                  <a:tcPr/>
                </a:tc>
                <a:extLst>
                  <a:ext uri="{0D108BD9-81ED-4DB2-BD59-A6C34878D82A}">
                    <a16:rowId xmlns:a16="http://schemas.microsoft.com/office/drawing/2014/main" val="2507633649"/>
                  </a:ext>
                </a:extLst>
              </a:tr>
              <a:tr h="302908">
                <a:tc>
                  <a:txBody>
                    <a:bodyPr/>
                    <a:lstStyle/>
                    <a:p>
                      <a:r>
                        <a:rPr lang="en-US" altLang="zh-CN" dirty="0"/>
                        <a:t>registered</a:t>
                      </a:r>
                      <a:endParaRPr lang="zh-CN" altLang="en-US" dirty="0"/>
                    </a:p>
                  </a:txBody>
                  <a:tcPr/>
                </a:tc>
                <a:tc>
                  <a:txBody>
                    <a:bodyPr/>
                    <a:lstStyle/>
                    <a:p>
                      <a:r>
                        <a:rPr lang="zh-CN" altLang="en-US" dirty="0"/>
                        <a:t>当地注册用户人数</a:t>
                      </a:r>
                    </a:p>
                  </a:txBody>
                  <a:tcPr/>
                </a:tc>
                <a:extLst>
                  <a:ext uri="{0D108BD9-81ED-4DB2-BD59-A6C34878D82A}">
                    <a16:rowId xmlns:a16="http://schemas.microsoft.com/office/drawing/2014/main" val="1633547148"/>
                  </a:ext>
                </a:extLst>
              </a:tr>
              <a:tr h="302908">
                <a:tc>
                  <a:txBody>
                    <a:bodyPr/>
                    <a:lstStyle/>
                    <a:p>
                      <a:r>
                        <a:rPr lang="en-US" altLang="zh-CN" dirty="0"/>
                        <a:t>count</a:t>
                      </a:r>
                      <a:endParaRPr lang="zh-CN" altLang="en-US" dirty="0"/>
                    </a:p>
                  </a:txBody>
                  <a:tcPr/>
                </a:tc>
                <a:tc>
                  <a:txBody>
                    <a:bodyPr/>
                    <a:lstStyle/>
                    <a:p>
                      <a:r>
                        <a:rPr lang="zh-CN" altLang="en-US" dirty="0"/>
                        <a:t>给定日期时间每小时租车人数</a:t>
                      </a:r>
                    </a:p>
                  </a:txBody>
                  <a:tcPr/>
                </a:tc>
                <a:extLst>
                  <a:ext uri="{0D108BD9-81ED-4DB2-BD59-A6C34878D82A}">
                    <a16:rowId xmlns:a16="http://schemas.microsoft.com/office/drawing/2014/main" val="121464074"/>
                  </a:ext>
                </a:extLst>
              </a:tr>
            </a:tbl>
          </a:graphicData>
        </a:graphic>
      </p:graphicFrame>
    </p:spTree>
    <p:extLst>
      <p:ext uri="{BB962C8B-B14F-4D97-AF65-F5344CB8AC3E}">
        <p14:creationId xmlns:p14="http://schemas.microsoft.com/office/powerpoint/2010/main" val="3577168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B481D-6E63-F4A6-DE0B-2B8CFF79F260}"/>
            </a:ext>
          </a:extLst>
        </p:cNvPr>
        <p:cNvGrpSpPr/>
        <p:nvPr/>
      </p:nvGrpSpPr>
      <p:grpSpPr>
        <a:xfrm>
          <a:off x="0" y="0"/>
          <a:ext cx="0" cy="0"/>
          <a:chOff x="0" y="0"/>
          <a:chExt cx="0" cy="0"/>
        </a:xfrm>
      </p:grpSpPr>
      <p:sp>
        <p:nvSpPr>
          <p:cNvPr id="4" name="圆角矩形 3">
            <a:extLst>
              <a:ext uri="{FF2B5EF4-FFF2-40B4-BE49-F238E27FC236}">
                <a16:creationId xmlns:a16="http://schemas.microsoft.com/office/drawing/2014/main" id="{0D9440A2-229B-F144-B6C1-D5B4F59E79C9}"/>
              </a:ext>
            </a:extLst>
          </p:cNvPr>
          <p:cNvSpPr/>
          <p:nvPr/>
        </p:nvSpPr>
        <p:spPr>
          <a:xfrm>
            <a:off x="392806" y="196929"/>
            <a:ext cx="11423560" cy="6577358"/>
          </a:xfrm>
          <a:prstGeom prst="roundRect">
            <a:avLst>
              <a:gd name="adj" fmla="val 454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77F7EE10-634C-4174-F4CE-1095252EEA4B}"/>
              </a:ext>
            </a:extLst>
          </p:cNvPr>
          <p:cNvSpPr txBox="1"/>
          <p:nvPr/>
        </p:nvSpPr>
        <p:spPr>
          <a:xfrm>
            <a:off x="5285533" y="895114"/>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数据描述</a:t>
            </a:r>
          </a:p>
        </p:txBody>
      </p:sp>
      <p:sp>
        <p:nvSpPr>
          <p:cNvPr id="33" name="矩形 32">
            <a:extLst>
              <a:ext uri="{FF2B5EF4-FFF2-40B4-BE49-F238E27FC236}">
                <a16:creationId xmlns:a16="http://schemas.microsoft.com/office/drawing/2014/main" id="{54891796-E451-67DC-AA81-B339BF8D4BC9}"/>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A98C4842-A3DC-90E8-03D6-B1A5D1B0A7D3}"/>
              </a:ext>
            </a:extLst>
          </p:cNvPr>
          <p:cNvSpPr txBox="1"/>
          <p:nvPr/>
        </p:nvSpPr>
        <p:spPr>
          <a:xfrm>
            <a:off x="881745" y="1790447"/>
            <a:ext cx="4488746" cy="3170099"/>
          </a:xfrm>
          <a:prstGeom prst="rect">
            <a:avLst/>
          </a:prstGeom>
          <a:noFill/>
        </p:spPr>
        <p:txBody>
          <a:bodyPr wrap="square" rtlCol="0">
            <a:spAutoFit/>
          </a:bodyPr>
          <a:lstStyle/>
          <a:p>
            <a:r>
              <a:rPr lang="en-US" altLang="zh-CN" sz="2000" b="1" dirty="0"/>
              <a:t>Nice Ride MN</a:t>
            </a:r>
            <a:r>
              <a:rPr lang="zh-CN" altLang="en-US" sz="2000" b="1" dirty="0"/>
              <a:t>共享单车数据</a:t>
            </a:r>
            <a:endParaRPr lang="en-US" altLang="zh-CN" sz="2000" b="1" dirty="0"/>
          </a:p>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数据来源</a:t>
            </a:r>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 </a:t>
            </a:r>
          </a:p>
          <a:p>
            <a:pPr marL="1200150" lvl="2" indent="-285750" algn="just">
              <a:buFont typeface="Arial" panose="020B0604020202020204" pitchFamily="34" charset="0"/>
              <a:buChar char="•"/>
            </a:pP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Nice Ride MN </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在双子城（明尼苏达州明尼阿波利斯</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圣保罗）提供的历史数据</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数据量大小</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1200150" lvl="2" indent="-285750" algn="just">
              <a:buFont typeface="Arial" panose="020B0604020202020204" pitchFamily="34" charset="0"/>
              <a:buChar char="•"/>
            </a:pPr>
            <a:r>
              <a:rPr lang="en-US" altLang="zh-CN" b="0" i="0" dirty="0">
                <a:solidFill>
                  <a:srgbClr val="191B1F"/>
                </a:solidFill>
                <a:effectLst/>
                <a:latin typeface="-apple-system"/>
              </a:rPr>
              <a:t>2017</a:t>
            </a:r>
            <a:r>
              <a:rPr lang="zh-CN" altLang="en-US" b="0" i="0" dirty="0">
                <a:solidFill>
                  <a:srgbClr val="191B1F"/>
                </a:solidFill>
                <a:effectLst/>
                <a:latin typeface="-apple-system"/>
              </a:rPr>
              <a:t>年</a:t>
            </a:r>
            <a:r>
              <a:rPr lang="en-US" altLang="zh-CN" b="0" i="0" dirty="0">
                <a:solidFill>
                  <a:srgbClr val="191B1F"/>
                </a:solidFill>
                <a:effectLst/>
                <a:latin typeface="-apple-system"/>
              </a:rPr>
              <a:t>3</a:t>
            </a:r>
            <a:r>
              <a:rPr lang="zh-CN" altLang="en-US" b="0" i="0" dirty="0">
                <a:solidFill>
                  <a:srgbClr val="191B1F"/>
                </a:solidFill>
                <a:effectLst/>
                <a:latin typeface="-apple-system"/>
              </a:rPr>
              <a:t>到</a:t>
            </a:r>
            <a:r>
              <a:rPr lang="en-US" altLang="zh-CN" b="0" i="0" dirty="0">
                <a:solidFill>
                  <a:srgbClr val="191B1F"/>
                </a:solidFill>
                <a:effectLst/>
                <a:latin typeface="-apple-system"/>
              </a:rPr>
              <a:t>5</a:t>
            </a:r>
            <a:r>
              <a:rPr lang="zh-CN" altLang="en-US" b="0" i="0" dirty="0">
                <a:solidFill>
                  <a:srgbClr val="191B1F"/>
                </a:solidFill>
                <a:effectLst/>
                <a:latin typeface="-apple-system"/>
              </a:rPr>
              <a:t>月的共享单车租用数据集</a:t>
            </a:r>
            <a:endParaRPr lang="en-US" altLang="zh-CN" b="0" i="0" dirty="0">
              <a:solidFill>
                <a:srgbClr val="191B1F"/>
              </a:solidFill>
              <a:effectLst/>
              <a:latin typeface="-apple-system"/>
            </a:endParaRPr>
          </a:p>
          <a:p>
            <a:pPr marL="1200150" lvl="2" indent="-285750" algn="just">
              <a:buFont typeface="Arial" panose="020B0604020202020204" pitchFamily="34" charset="0"/>
              <a:buChar char="•"/>
            </a:pPr>
            <a:r>
              <a:rPr lang="zh-CN" altLang="en-US" sz="1800" kern="100" dirty="0">
                <a:solidFill>
                  <a:srgbClr val="191B1F"/>
                </a:solidFill>
                <a:latin typeface="-apple-system"/>
                <a:ea typeface="宋体" panose="02010600030101010101" pitchFamily="2" charset="-122"/>
                <a:cs typeface="Times New Roman" panose="02020603050405020304" pitchFamily="18" charset="0"/>
              </a:rPr>
              <a:t>共</a:t>
            </a:r>
            <a:r>
              <a:rPr lang="en-US" altLang="zh-CN" sz="1800" kern="100" dirty="0">
                <a:solidFill>
                  <a:srgbClr val="191B1F"/>
                </a:solidFill>
                <a:latin typeface="-apple-system"/>
                <a:ea typeface="宋体" panose="02010600030101010101" pitchFamily="2" charset="-122"/>
                <a:cs typeface="Times New Roman" panose="02020603050405020304" pitchFamily="18" charset="0"/>
              </a:rPr>
              <a:t>460720</a:t>
            </a:r>
            <a:r>
              <a:rPr lang="zh-CN" altLang="en-US" sz="1800" kern="100" dirty="0">
                <a:solidFill>
                  <a:srgbClr val="191B1F"/>
                </a:solidFill>
                <a:latin typeface="-apple-system"/>
                <a:ea typeface="宋体" panose="02010600030101010101" pitchFamily="2" charset="-122"/>
                <a:cs typeface="Times New Roman" panose="02020603050405020304" pitchFamily="18" charset="0"/>
              </a:rPr>
              <a:t>行，</a:t>
            </a:r>
            <a:r>
              <a:rPr lang="en-US" altLang="zh-CN" kern="100" dirty="0">
                <a:solidFill>
                  <a:srgbClr val="191B1F"/>
                </a:solidFill>
                <a:latin typeface="-apple-system"/>
                <a:ea typeface="宋体" panose="02010600030101010101" pitchFamily="2" charset="-122"/>
                <a:cs typeface="Times New Roman" panose="02020603050405020304" pitchFamily="18" charset="0"/>
              </a:rPr>
              <a:t>8</a:t>
            </a:r>
            <a:r>
              <a:rPr lang="zh-CN" altLang="en-US" sz="1800" kern="100" dirty="0">
                <a:solidFill>
                  <a:srgbClr val="191B1F"/>
                </a:solidFill>
                <a:latin typeface="-apple-system"/>
                <a:ea typeface="宋体" panose="02010600030101010101" pitchFamily="2" charset="-122"/>
                <a:cs typeface="Times New Roman" panose="02020603050405020304" pitchFamily="18" charset="0"/>
              </a:rPr>
              <a:t>列</a:t>
            </a:r>
            <a:endParaRPr lang="en-US" altLang="zh-CN" sz="1800" kern="100" dirty="0">
              <a:solidFill>
                <a:srgbClr val="191B1F"/>
              </a:solidFill>
              <a:latin typeface="-apple-system"/>
              <a:ea typeface="宋体" panose="02010600030101010101" pitchFamily="2" charset="-122"/>
              <a:cs typeface="Times New Roman" panose="02020603050405020304" pitchFamily="18" charset="0"/>
            </a:endParaRPr>
          </a:p>
          <a:p>
            <a:pPr lvl="2" algn="just"/>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数据中</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列向</a:t>
            </a:r>
            <a:r>
              <a:rPr lang="zh-CN" altLang="zh-CN" kern="100" dirty="0">
                <a:effectLst/>
                <a:latin typeface="Calibri" panose="020F0502020204030204" pitchFamily="34" charset="0"/>
                <a:ea typeface="宋体" panose="02010600030101010101" pitchFamily="2" charset="-122"/>
                <a:cs typeface="Times New Roman" panose="02020603050405020304" pitchFamily="18" charset="0"/>
              </a:rPr>
              <a:t>量的介绍</a:t>
            </a:r>
          </a:p>
        </p:txBody>
      </p:sp>
      <p:graphicFrame>
        <p:nvGraphicFramePr>
          <p:cNvPr id="5" name="表格 4">
            <a:extLst>
              <a:ext uri="{FF2B5EF4-FFF2-40B4-BE49-F238E27FC236}">
                <a16:creationId xmlns:a16="http://schemas.microsoft.com/office/drawing/2014/main" id="{ABC6DCE4-F4ED-E41D-47F6-729D5C536661}"/>
              </a:ext>
            </a:extLst>
          </p:cNvPr>
          <p:cNvGraphicFramePr>
            <a:graphicFrameLocks noGrp="1"/>
          </p:cNvGraphicFramePr>
          <p:nvPr>
            <p:extLst>
              <p:ext uri="{D42A27DB-BD31-4B8C-83A1-F6EECF244321}">
                <p14:modId xmlns:p14="http://schemas.microsoft.com/office/powerpoint/2010/main" val="1778315753"/>
              </p:ext>
            </p:extLst>
          </p:nvPr>
        </p:nvGraphicFramePr>
        <p:xfrm>
          <a:off x="6954593" y="2335057"/>
          <a:ext cx="4141958" cy="2523220"/>
        </p:xfrm>
        <a:graphic>
          <a:graphicData uri="http://schemas.openxmlformats.org/drawingml/2006/table">
            <a:tbl>
              <a:tblPr firstRow="1" bandRow="1">
                <a:tableStyleId>{5C22544A-7EE6-4342-B048-85BDC9FD1C3A}</a:tableStyleId>
              </a:tblPr>
              <a:tblGrid>
                <a:gridCol w="1571221">
                  <a:extLst>
                    <a:ext uri="{9D8B030D-6E8A-4147-A177-3AD203B41FA5}">
                      <a16:colId xmlns:a16="http://schemas.microsoft.com/office/drawing/2014/main" val="2192447052"/>
                    </a:ext>
                  </a:extLst>
                </a:gridCol>
                <a:gridCol w="2570737">
                  <a:extLst>
                    <a:ext uri="{9D8B030D-6E8A-4147-A177-3AD203B41FA5}">
                      <a16:colId xmlns:a16="http://schemas.microsoft.com/office/drawing/2014/main" val="1676420954"/>
                    </a:ext>
                  </a:extLst>
                </a:gridCol>
              </a:tblGrid>
              <a:tr h="302908">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Start date</a:t>
                      </a:r>
                      <a:endParaRPr lang="zh-CN" altLang="en-US" dirty="0"/>
                    </a:p>
                  </a:txBody>
                  <a:tcPr/>
                </a:tc>
                <a:tc>
                  <a:txBody>
                    <a:bodyPr/>
                    <a:lstStyle/>
                    <a:p>
                      <a:r>
                        <a:rPr lang="zh-CN" altLang="en-US" dirty="0"/>
                        <a:t>开始租用时间点</a:t>
                      </a:r>
                    </a:p>
                  </a:txBody>
                  <a:tcPr/>
                </a:tc>
                <a:extLst>
                  <a:ext uri="{0D108BD9-81ED-4DB2-BD59-A6C34878D82A}">
                    <a16:rowId xmlns:a16="http://schemas.microsoft.com/office/drawing/2014/main" val="3944010947"/>
                  </a:ext>
                </a:extLst>
              </a:tr>
              <a:tr h="530090">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Start station</a:t>
                      </a:r>
                      <a:endParaRPr lang="zh-CN" altLang="en-US" dirty="0"/>
                    </a:p>
                  </a:txBody>
                  <a:tcPr/>
                </a:tc>
                <a:tc>
                  <a:txBody>
                    <a:bodyPr/>
                    <a:lstStyle/>
                    <a:p>
                      <a:r>
                        <a:rPr lang="zh-CN" altLang="en-US" dirty="0"/>
                        <a:t>开始租用的站点</a:t>
                      </a:r>
                    </a:p>
                  </a:txBody>
                  <a:tcPr/>
                </a:tc>
                <a:extLst>
                  <a:ext uri="{0D108BD9-81ED-4DB2-BD59-A6C34878D82A}">
                    <a16:rowId xmlns:a16="http://schemas.microsoft.com/office/drawing/2014/main" val="3542361817"/>
                  </a:ext>
                </a:extLst>
              </a:tr>
              <a:tr h="530090">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End date</a:t>
                      </a:r>
                      <a:endParaRPr lang="zh-CN" altLang="en-US" dirty="0"/>
                    </a:p>
                  </a:txBody>
                  <a:tcPr/>
                </a:tc>
                <a:tc>
                  <a:txBody>
                    <a:bodyPr/>
                    <a:lstStyle/>
                    <a:p>
                      <a:r>
                        <a:rPr lang="zh-CN" altLang="en-US" dirty="0"/>
                        <a:t>租用结束的时间点</a:t>
                      </a:r>
                    </a:p>
                  </a:txBody>
                  <a:tcPr/>
                </a:tc>
                <a:extLst>
                  <a:ext uri="{0D108BD9-81ED-4DB2-BD59-A6C34878D82A}">
                    <a16:rowId xmlns:a16="http://schemas.microsoft.com/office/drawing/2014/main" val="2939545153"/>
                  </a:ext>
                </a:extLst>
              </a:tr>
              <a:tr h="302908">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End station</a:t>
                      </a:r>
                      <a:endParaRPr lang="zh-CN" altLang="en-US" dirty="0"/>
                    </a:p>
                  </a:txBody>
                  <a:tcPr/>
                </a:tc>
                <a:tc>
                  <a:txBody>
                    <a:bodyPr/>
                    <a:lstStyle/>
                    <a:p>
                      <a:r>
                        <a:rPr lang="zh-CN" altLang="en-US" dirty="0"/>
                        <a:t>租用结束的站点</a:t>
                      </a:r>
                    </a:p>
                  </a:txBody>
                  <a:tcPr/>
                </a:tc>
                <a:extLst>
                  <a:ext uri="{0D108BD9-81ED-4DB2-BD59-A6C34878D82A}">
                    <a16:rowId xmlns:a16="http://schemas.microsoft.com/office/drawing/2014/main" val="3577113360"/>
                  </a:ext>
                </a:extLst>
              </a:tr>
              <a:tr h="302908">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Account type</a:t>
                      </a:r>
                      <a:endParaRPr lang="zh-CN" altLang="en-US" dirty="0"/>
                    </a:p>
                  </a:txBody>
                  <a:tcPr/>
                </a:tc>
                <a:tc>
                  <a:txBody>
                    <a:bodyPr/>
                    <a:lstStyle/>
                    <a:p>
                      <a:r>
                        <a:rPr lang="zh-CN" altLang="en-US" dirty="0"/>
                        <a:t>账户类型</a:t>
                      </a:r>
                    </a:p>
                  </a:txBody>
                  <a:tcPr/>
                </a:tc>
                <a:extLst>
                  <a:ext uri="{0D108BD9-81ED-4DB2-BD59-A6C34878D82A}">
                    <a16:rowId xmlns:a16="http://schemas.microsoft.com/office/drawing/2014/main" val="3714075833"/>
                  </a:ext>
                </a:extLst>
              </a:tr>
              <a:tr h="302908">
                <a:tc>
                  <a:txBody>
                    <a:bodyPr/>
                    <a:lstStyle/>
                    <a:p>
                      <a:r>
                        <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rPr>
                        <a:t>Total duration</a:t>
                      </a:r>
                      <a:endParaRPr lang="zh-CN" altLang="en-US" dirty="0"/>
                    </a:p>
                  </a:txBody>
                  <a:tcPr/>
                </a:tc>
                <a:tc>
                  <a:txBody>
                    <a:bodyPr/>
                    <a:lstStyle/>
                    <a:p>
                      <a:r>
                        <a:rPr lang="zh-CN" altLang="en-US" dirty="0"/>
                        <a:t>总租用时长</a:t>
                      </a:r>
                    </a:p>
                  </a:txBody>
                  <a:tcPr/>
                </a:tc>
                <a:extLst>
                  <a:ext uri="{0D108BD9-81ED-4DB2-BD59-A6C34878D82A}">
                    <a16:rowId xmlns:a16="http://schemas.microsoft.com/office/drawing/2014/main" val="611287846"/>
                  </a:ext>
                </a:extLst>
              </a:tr>
            </a:tbl>
          </a:graphicData>
        </a:graphic>
      </p:graphicFrame>
    </p:spTree>
    <p:extLst>
      <p:ext uri="{BB962C8B-B14F-4D97-AF65-F5344CB8AC3E}">
        <p14:creationId xmlns:p14="http://schemas.microsoft.com/office/powerpoint/2010/main" val="3079161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6A0A-0787-5E3E-6E53-3DD2B391463E}"/>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45288DB1-653F-0A34-7267-32364747AC7C}"/>
              </a:ext>
            </a:extLst>
          </p:cNvPr>
          <p:cNvSpPr txBox="1"/>
          <p:nvPr/>
        </p:nvSpPr>
        <p:spPr>
          <a:xfrm>
            <a:off x="4926461" y="895114"/>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数据处理过程</a:t>
            </a:r>
          </a:p>
        </p:txBody>
      </p:sp>
      <p:sp>
        <p:nvSpPr>
          <p:cNvPr id="33" name="矩形 32">
            <a:extLst>
              <a:ext uri="{FF2B5EF4-FFF2-40B4-BE49-F238E27FC236}">
                <a16:creationId xmlns:a16="http://schemas.microsoft.com/office/drawing/2014/main" id="{AFB2A223-2087-FA65-6580-6261205790AF}"/>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文本框 5">
            <a:extLst>
              <a:ext uri="{FF2B5EF4-FFF2-40B4-BE49-F238E27FC236}">
                <a16:creationId xmlns:a16="http://schemas.microsoft.com/office/drawing/2014/main" id="{73AB5DED-2FFC-4656-975A-881B20D0C348}"/>
              </a:ext>
            </a:extLst>
          </p:cNvPr>
          <p:cNvSpPr txBox="1"/>
          <p:nvPr/>
        </p:nvSpPr>
        <p:spPr>
          <a:xfrm>
            <a:off x="987033" y="1688643"/>
            <a:ext cx="4464424" cy="2585323"/>
          </a:xfrm>
          <a:prstGeom prst="rect">
            <a:avLst/>
          </a:prstGeom>
          <a:noFill/>
        </p:spPr>
        <p:txBody>
          <a:bodyPr wrap="square" rtlCol="0">
            <a:spAutoFit/>
          </a:bodyPr>
          <a:lstStyle/>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数据清洗原因</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存在部分空数据</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数据清洗过程</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填充空数据</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去掉包含空值的行</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对空行填充均值</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a:latin typeface="Calibri" panose="020F0502020204030204" pitchFamily="34" charset="0"/>
                <a:ea typeface="宋体" panose="02010600030101010101" pitchFamily="2" charset="-122"/>
                <a:cs typeface="Times New Roman" panose="02020603050405020304" pitchFamily="18" charset="0"/>
              </a:rPr>
              <a:t>proc mi</a:t>
            </a:r>
            <a:r>
              <a:rPr lang="zh-CN" altLang="en-US" kern="100" dirty="0">
                <a:latin typeface="Calibri" panose="020F0502020204030204" pitchFamily="34" charset="0"/>
                <a:ea typeface="宋体" panose="02010600030101010101" pitchFamily="2" charset="-122"/>
                <a:cs typeface="Times New Roman" panose="02020603050405020304" pitchFamily="18" charset="0"/>
              </a:rPr>
              <a:t>做回归填充</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23EFBF9E-CAE7-F97D-E028-94F5AD32447B}"/>
              </a:ext>
            </a:extLst>
          </p:cNvPr>
          <p:cNvPicPr>
            <a:picLocks noChangeAspect="1"/>
          </p:cNvPicPr>
          <p:nvPr/>
        </p:nvPicPr>
        <p:blipFill>
          <a:blip r:embed="rId3"/>
          <a:stretch>
            <a:fillRect/>
          </a:stretch>
        </p:blipFill>
        <p:spPr>
          <a:xfrm>
            <a:off x="4548395" y="2112135"/>
            <a:ext cx="7155770" cy="2374642"/>
          </a:xfrm>
          <a:prstGeom prst="rect">
            <a:avLst/>
          </a:prstGeom>
        </p:spPr>
      </p:pic>
    </p:spTree>
    <p:extLst>
      <p:ext uri="{BB962C8B-B14F-4D97-AF65-F5344CB8AC3E}">
        <p14:creationId xmlns:p14="http://schemas.microsoft.com/office/powerpoint/2010/main" val="3992726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D989-8EC5-FE1E-D39D-9B2BD20378E9}"/>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70C1AC6C-2C7C-B9D7-A040-0BC51627754B}"/>
              </a:ext>
            </a:extLst>
          </p:cNvPr>
          <p:cNvSpPr txBox="1"/>
          <p:nvPr/>
        </p:nvSpPr>
        <p:spPr>
          <a:xfrm>
            <a:off x="4926461" y="895114"/>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数据处理过程</a:t>
            </a:r>
          </a:p>
        </p:txBody>
      </p:sp>
      <p:sp>
        <p:nvSpPr>
          <p:cNvPr id="33" name="矩形 32">
            <a:extLst>
              <a:ext uri="{FF2B5EF4-FFF2-40B4-BE49-F238E27FC236}">
                <a16:creationId xmlns:a16="http://schemas.microsoft.com/office/drawing/2014/main" id="{79A1B78D-BA38-7B0D-0013-B83F9CE913DC}"/>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文本框 5">
            <a:extLst>
              <a:ext uri="{FF2B5EF4-FFF2-40B4-BE49-F238E27FC236}">
                <a16:creationId xmlns:a16="http://schemas.microsoft.com/office/drawing/2014/main" id="{220477D8-7423-6C1B-D008-31809C5280DE}"/>
              </a:ext>
            </a:extLst>
          </p:cNvPr>
          <p:cNvSpPr txBox="1"/>
          <p:nvPr/>
        </p:nvSpPr>
        <p:spPr>
          <a:xfrm>
            <a:off x="987033" y="1688643"/>
            <a:ext cx="4464424" cy="2862322"/>
          </a:xfrm>
          <a:prstGeom prst="rect">
            <a:avLst/>
          </a:prstGeom>
          <a:noFill/>
        </p:spPr>
        <p:txBody>
          <a:bodyPr wrap="square" rtlCol="0">
            <a:spAutoFit/>
          </a:bodyPr>
          <a:lstStyle/>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数据清洗原因</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时间数据不符合</a:t>
            </a:r>
            <a:r>
              <a:rPr lang="en-US" altLang="zh-CN" kern="100" dirty="0" err="1">
                <a:latin typeface="Calibri" panose="020F0502020204030204" pitchFamily="34" charset="0"/>
                <a:ea typeface="宋体" panose="02010600030101010101" pitchFamily="2" charset="-122"/>
                <a:cs typeface="Times New Roman" panose="02020603050405020304" pitchFamily="18" charset="0"/>
              </a:rPr>
              <a:t>sas</a:t>
            </a:r>
            <a:r>
              <a:rPr lang="zh-CN" altLang="en-US" kern="100" dirty="0">
                <a:latin typeface="Calibri" panose="020F0502020204030204" pitchFamily="34" charset="0"/>
                <a:ea typeface="宋体" panose="02010600030101010101" pitchFamily="2" charset="-122"/>
                <a:cs typeface="Times New Roman" panose="02020603050405020304" pitchFamily="18" charset="0"/>
              </a:rPr>
              <a:t>标准格式的案例，无法用标准格式读取和解析</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数据清洗过程</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用字符串格式解析时间数据，取前若干位转换日期，后若干位转换时间格式数据</a:t>
            </a:r>
            <a:endParaRPr lang="zh-CN" altLang="en-US" dirty="0"/>
          </a:p>
          <a:p>
            <a:pPr lvl="1"/>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647826C-59E2-F1F6-A843-8D3EFF73FEB2}"/>
              </a:ext>
            </a:extLst>
          </p:cNvPr>
          <p:cNvPicPr>
            <a:picLocks noChangeAspect="1"/>
          </p:cNvPicPr>
          <p:nvPr/>
        </p:nvPicPr>
        <p:blipFill>
          <a:blip r:embed="rId3"/>
          <a:stretch>
            <a:fillRect/>
          </a:stretch>
        </p:blipFill>
        <p:spPr>
          <a:xfrm>
            <a:off x="5451457" y="2473498"/>
            <a:ext cx="5595578" cy="1330389"/>
          </a:xfrm>
          <a:prstGeom prst="rect">
            <a:avLst/>
          </a:prstGeom>
        </p:spPr>
      </p:pic>
    </p:spTree>
    <p:extLst>
      <p:ext uri="{BB962C8B-B14F-4D97-AF65-F5344CB8AC3E}">
        <p14:creationId xmlns:p14="http://schemas.microsoft.com/office/powerpoint/2010/main" val="2997026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39515-E142-0133-37FA-7B52F1FB9646}"/>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7127BF2C-1902-EB85-0A65-BBD9558C2C19}"/>
              </a:ext>
            </a:extLst>
          </p:cNvPr>
          <p:cNvSpPr txBox="1"/>
          <p:nvPr/>
        </p:nvSpPr>
        <p:spPr>
          <a:xfrm>
            <a:off x="4926461" y="895114"/>
            <a:ext cx="2339102"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数据处理过程</a:t>
            </a:r>
          </a:p>
        </p:txBody>
      </p:sp>
      <p:sp>
        <p:nvSpPr>
          <p:cNvPr id="33" name="矩形 32">
            <a:extLst>
              <a:ext uri="{FF2B5EF4-FFF2-40B4-BE49-F238E27FC236}">
                <a16:creationId xmlns:a16="http://schemas.microsoft.com/office/drawing/2014/main" id="{EE13D5CC-71A3-F141-A46D-C1F7EC68CF56}"/>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文本框 5">
            <a:extLst>
              <a:ext uri="{FF2B5EF4-FFF2-40B4-BE49-F238E27FC236}">
                <a16:creationId xmlns:a16="http://schemas.microsoft.com/office/drawing/2014/main" id="{CBC87BF8-1165-E1F2-6FCC-D461DA484104}"/>
              </a:ext>
            </a:extLst>
          </p:cNvPr>
          <p:cNvSpPr txBox="1"/>
          <p:nvPr/>
        </p:nvSpPr>
        <p:spPr>
          <a:xfrm>
            <a:off x="987032" y="1688643"/>
            <a:ext cx="9728191" cy="2862322"/>
          </a:xfrm>
          <a:prstGeom prst="rect">
            <a:avLst/>
          </a:prstGeom>
          <a:noFill/>
        </p:spPr>
        <p:txBody>
          <a:bodyPr wrap="square" rtlCol="0">
            <a:spAutoFit/>
          </a:bodyPr>
          <a:lstStyle/>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数据清洗原因</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kern="100" dirty="0">
                <a:latin typeface="Calibri" panose="020F0502020204030204" pitchFamily="34" charset="0"/>
                <a:ea typeface="宋体" panose="02010600030101010101" pitchFamily="2" charset="-122"/>
                <a:cs typeface="Times New Roman" panose="02020603050405020304" pitchFamily="18" charset="0"/>
              </a:rPr>
              <a:t>PCA</a:t>
            </a:r>
            <a:r>
              <a:rPr lang="zh-CN" altLang="en-US" kern="100" dirty="0">
                <a:latin typeface="Calibri" panose="020F0502020204030204" pitchFamily="34" charset="0"/>
                <a:ea typeface="宋体" panose="02010600030101010101" pitchFamily="2" charset="-122"/>
                <a:cs typeface="Times New Roman" panose="02020603050405020304" pitchFamily="18" charset="0"/>
              </a:rPr>
              <a:t>等过程对数据的尺度敏感，需要先对数据进行标准化处理，使得每个变量的均值为</a:t>
            </a:r>
            <a:r>
              <a:rPr lang="en-US" altLang="zh-CN" kern="100" dirty="0">
                <a:latin typeface="Calibri" panose="020F0502020204030204" pitchFamily="34" charset="0"/>
                <a:ea typeface="宋体" panose="02010600030101010101" pitchFamily="2" charset="-122"/>
                <a:cs typeface="Times New Roman" panose="02020603050405020304" pitchFamily="18" charset="0"/>
              </a:rPr>
              <a:t>0</a:t>
            </a:r>
            <a:r>
              <a:rPr lang="zh-CN" altLang="en-US" kern="100" dirty="0">
                <a:latin typeface="Calibri" panose="020F0502020204030204" pitchFamily="34" charset="0"/>
                <a:ea typeface="宋体" panose="02010600030101010101" pitchFamily="2" charset="-122"/>
                <a:cs typeface="Times New Roman" panose="02020603050405020304" pitchFamily="18" charset="0"/>
              </a:rPr>
              <a:t>，方差为</a:t>
            </a:r>
            <a:r>
              <a:rPr lang="en-US" altLang="zh-CN" kern="100" dirty="0">
                <a:latin typeface="Calibri" panose="020F0502020204030204" pitchFamily="34" charset="0"/>
                <a:ea typeface="宋体" panose="02010600030101010101" pitchFamily="2" charset="-122"/>
                <a:cs typeface="Times New Roman" panose="02020603050405020304" pitchFamily="18" charset="0"/>
              </a:rPr>
              <a:t>1</a:t>
            </a:r>
          </a:p>
          <a:p>
            <a:pPr marL="285750" indent="-285750">
              <a:buFont typeface="Arial" panose="020B0604020202020204" pitchFamily="34" charset="0"/>
              <a:buChar char="•"/>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数据清洗过程</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a:latin typeface="Calibri" panose="020F0502020204030204" pitchFamily="34" charset="0"/>
                <a:ea typeface="宋体" panose="02010600030101010101" pitchFamily="2" charset="-122"/>
                <a:cs typeface="Times New Roman" panose="02020603050405020304" pitchFamily="18" charset="0"/>
              </a:rPr>
              <a:t>standard</a:t>
            </a:r>
            <a:r>
              <a:rPr lang="zh-CN" altLang="en-US" kern="100" dirty="0">
                <a:latin typeface="Calibri" panose="020F0502020204030204" pitchFamily="34" charset="0"/>
                <a:ea typeface="宋体" panose="02010600030101010101" pitchFamily="2" charset="-122"/>
                <a:cs typeface="Times New Roman" panose="02020603050405020304" pitchFamily="18" charset="0"/>
              </a:rPr>
              <a:t>步进行标准化，这个过程对数据集中的每个变量应用</a:t>
            </a:r>
            <a:r>
              <a:rPr lang="en-US" altLang="zh-CN" kern="100" dirty="0">
                <a:latin typeface="Calibri" panose="020F0502020204030204" pitchFamily="34" charset="0"/>
                <a:ea typeface="宋体" panose="02010600030101010101" pitchFamily="2" charset="-122"/>
                <a:cs typeface="Times New Roman" panose="02020603050405020304" pitchFamily="18" charset="0"/>
              </a:rPr>
              <a:t>Z-score</a:t>
            </a:r>
            <a:r>
              <a:rPr lang="zh-CN" altLang="en-US" kern="100" dirty="0">
                <a:latin typeface="Calibri" panose="020F0502020204030204" pitchFamily="34" charset="0"/>
                <a:ea typeface="宋体" panose="02010600030101010101" pitchFamily="2" charset="-122"/>
                <a:cs typeface="Times New Roman" panose="02020603050405020304" pitchFamily="18" charset="0"/>
              </a:rPr>
              <a:t>标准化，即每个变量的值减去其均值然后除以其标准差。</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B789D5FA-CCC2-E31A-CC4E-BB8BF7FFA8CE}"/>
              </a:ext>
            </a:extLst>
          </p:cNvPr>
          <p:cNvPicPr>
            <a:picLocks noChangeAspect="1"/>
          </p:cNvPicPr>
          <p:nvPr/>
        </p:nvPicPr>
        <p:blipFill>
          <a:blip r:embed="rId3"/>
          <a:stretch>
            <a:fillRect/>
          </a:stretch>
        </p:blipFill>
        <p:spPr>
          <a:xfrm>
            <a:off x="1101144" y="2758714"/>
            <a:ext cx="8925059" cy="670286"/>
          </a:xfrm>
          <a:prstGeom prst="rect">
            <a:avLst/>
          </a:prstGeom>
        </p:spPr>
      </p:pic>
    </p:spTree>
    <p:extLst>
      <p:ext uri="{BB962C8B-B14F-4D97-AF65-F5344CB8AC3E}">
        <p14:creationId xmlns:p14="http://schemas.microsoft.com/office/powerpoint/2010/main" val="3596580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23CC0-BD4C-509E-7AA2-28D94115B7ED}"/>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718C32CC-FF13-303F-DA92-4881948FE584}"/>
              </a:ext>
            </a:extLst>
          </p:cNvPr>
          <p:cNvSpPr txBox="1"/>
          <p:nvPr/>
        </p:nvSpPr>
        <p:spPr>
          <a:xfrm>
            <a:off x="5285533" y="895114"/>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数据转换</a:t>
            </a:r>
          </a:p>
        </p:txBody>
      </p:sp>
      <p:sp>
        <p:nvSpPr>
          <p:cNvPr id="33" name="矩形 32">
            <a:extLst>
              <a:ext uri="{FF2B5EF4-FFF2-40B4-BE49-F238E27FC236}">
                <a16:creationId xmlns:a16="http://schemas.microsoft.com/office/drawing/2014/main" id="{D3670B6D-8C61-12A1-24B6-66BF471A24FB}"/>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6" name="文本框 5">
            <a:extLst>
              <a:ext uri="{FF2B5EF4-FFF2-40B4-BE49-F238E27FC236}">
                <a16:creationId xmlns:a16="http://schemas.microsoft.com/office/drawing/2014/main" id="{0E4F15C9-C6A8-7A25-B438-8038CBA1EF1B}"/>
              </a:ext>
            </a:extLst>
          </p:cNvPr>
          <p:cNvSpPr txBox="1"/>
          <p:nvPr/>
        </p:nvSpPr>
        <p:spPr>
          <a:xfrm>
            <a:off x="6595782" y="1572733"/>
            <a:ext cx="4464424" cy="4247317"/>
          </a:xfrm>
          <a:prstGeom prst="rect">
            <a:avLst/>
          </a:prstGeom>
          <a:noFill/>
        </p:spPr>
        <p:txBody>
          <a:bodyPr wrap="square" rtlCol="0">
            <a:spAutoFit/>
          </a:bodyPr>
          <a:lstStyle/>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数据转换原因</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第二组数据原始数据中只包含一段时间内用户的租用记录，处理格式并统计后可以得到某个具体日期的租用人数分布，但是我们没有该日期的天气情况，因此需要收集天气数据并匹配，构造验证数据集</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数据转换过程</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r>
              <a:rPr lang="zh-CN" altLang="en-US" kern="100" dirty="0">
                <a:latin typeface="Calibri" panose="020F0502020204030204" pitchFamily="34" charset="0"/>
                <a:ea typeface="宋体" panose="02010600030101010101" pitchFamily="2" charset="-122"/>
                <a:cs typeface="Times New Roman" panose="02020603050405020304" pitchFamily="18" charset="0"/>
              </a:rPr>
              <a:t>在</a:t>
            </a:r>
            <a:r>
              <a:rPr lang="zh-CN" altLang="en-US" b="0" i="0" dirty="0">
                <a:solidFill>
                  <a:srgbClr val="4D4D4D"/>
                </a:solidFill>
                <a:effectLst/>
                <a:latin typeface="-apple-system"/>
              </a:rPr>
              <a:t>美国国家海洋和大气管理局</a:t>
            </a:r>
            <a:r>
              <a:rPr lang="en-US" altLang="zh-CN" b="0" i="0" dirty="0">
                <a:solidFill>
                  <a:srgbClr val="4D4D4D"/>
                </a:solidFill>
                <a:effectLst/>
                <a:latin typeface="-apple-system"/>
              </a:rPr>
              <a:t>NOAA</a:t>
            </a:r>
            <a:r>
              <a:rPr lang="zh-CN" altLang="en-US" b="0" i="0" dirty="0">
                <a:solidFill>
                  <a:srgbClr val="4D4D4D"/>
                </a:solidFill>
                <a:effectLst/>
                <a:latin typeface="-apple-system"/>
              </a:rPr>
              <a:t>的官网可以查询特定站点某一历史时期的天气情况，从中选取了日期</a:t>
            </a:r>
            <a:r>
              <a:rPr lang="en-US" altLang="zh-CN" b="0" i="0" dirty="0">
                <a:solidFill>
                  <a:srgbClr val="4D4D4D"/>
                </a:solidFill>
                <a:effectLst/>
                <a:latin typeface="-apple-system"/>
              </a:rPr>
              <a:t>-</a:t>
            </a:r>
            <a:r>
              <a:rPr lang="zh-CN" altLang="en-US" dirty="0">
                <a:solidFill>
                  <a:srgbClr val="4D4D4D"/>
                </a:solidFill>
                <a:latin typeface="-apple-system"/>
              </a:rPr>
              <a:t>最高气温</a:t>
            </a:r>
            <a:r>
              <a:rPr lang="en-US" altLang="zh-CN" dirty="0">
                <a:solidFill>
                  <a:srgbClr val="4D4D4D"/>
                </a:solidFill>
                <a:latin typeface="-apple-system"/>
              </a:rPr>
              <a:t>-</a:t>
            </a:r>
            <a:r>
              <a:rPr lang="zh-CN" altLang="en-US" dirty="0">
                <a:solidFill>
                  <a:srgbClr val="4D4D4D"/>
                </a:solidFill>
                <a:latin typeface="-apple-system"/>
              </a:rPr>
              <a:t>最低气温</a:t>
            </a:r>
            <a:r>
              <a:rPr lang="en-US" altLang="zh-CN" dirty="0">
                <a:solidFill>
                  <a:srgbClr val="4D4D4D"/>
                </a:solidFill>
                <a:latin typeface="-apple-system"/>
              </a:rPr>
              <a:t>-</a:t>
            </a:r>
            <a:r>
              <a:rPr lang="zh-CN" altLang="en-US" dirty="0">
                <a:solidFill>
                  <a:srgbClr val="4D4D4D"/>
                </a:solidFill>
                <a:latin typeface="-apple-system"/>
              </a:rPr>
              <a:t>降水量这几个指标获取表格</a:t>
            </a:r>
            <a:endParaRPr lang="en-US" altLang="zh-CN" dirty="0">
              <a:solidFill>
                <a:srgbClr val="4D4D4D"/>
              </a:solidFill>
              <a:latin typeface="-apple-system"/>
            </a:endParaRPr>
          </a:p>
          <a:p>
            <a:r>
              <a:rPr lang="zh-CN" altLang="en-US" dirty="0">
                <a:solidFill>
                  <a:srgbClr val="4D4D4D"/>
                </a:solidFill>
                <a:latin typeface="-apple-system"/>
              </a:rPr>
              <a:t>用</a:t>
            </a:r>
            <a:r>
              <a:rPr lang="en-US" altLang="zh-CN" dirty="0">
                <a:solidFill>
                  <a:srgbClr val="4D4D4D"/>
                </a:solidFill>
                <a:latin typeface="-apple-system"/>
              </a:rPr>
              <a:t>python</a:t>
            </a:r>
            <a:r>
              <a:rPr lang="zh-CN" altLang="en-US" dirty="0">
                <a:solidFill>
                  <a:srgbClr val="4D4D4D"/>
                </a:solidFill>
                <a:latin typeface="-apple-system"/>
              </a:rPr>
              <a:t>填充缺失数据，整合后得到日期</a:t>
            </a:r>
            <a:r>
              <a:rPr lang="en-US" altLang="zh-CN" dirty="0">
                <a:solidFill>
                  <a:srgbClr val="4D4D4D"/>
                </a:solidFill>
                <a:latin typeface="-apple-system"/>
              </a:rPr>
              <a:t>-</a:t>
            </a:r>
            <a:r>
              <a:rPr lang="zh-CN" altLang="en-US" dirty="0">
                <a:solidFill>
                  <a:srgbClr val="4D4D4D"/>
                </a:solidFill>
                <a:latin typeface="-apple-system"/>
              </a:rPr>
              <a:t>天气</a:t>
            </a:r>
            <a:r>
              <a:rPr lang="en-US" altLang="zh-CN" dirty="0">
                <a:solidFill>
                  <a:srgbClr val="4D4D4D"/>
                </a:solidFill>
                <a:latin typeface="-apple-system"/>
              </a:rPr>
              <a:t>-</a:t>
            </a:r>
            <a:r>
              <a:rPr lang="zh-CN" altLang="en-US" dirty="0">
                <a:solidFill>
                  <a:srgbClr val="4D4D4D"/>
                </a:solidFill>
                <a:latin typeface="-apple-system"/>
              </a:rPr>
              <a:t>租用人数的统计表</a:t>
            </a:r>
            <a:endParaRPr lang="zh-CN" altLang="en-US" dirty="0"/>
          </a:p>
        </p:txBody>
      </p:sp>
      <p:pic>
        <p:nvPicPr>
          <p:cNvPr id="3" name="图片 2">
            <a:extLst>
              <a:ext uri="{FF2B5EF4-FFF2-40B4-BE49-F238E27FC236}">
                <a16:creationId xmlns:a16="http://schemas.microsoft.com/office/drawing/2014/main" id="{8DBACF07-C43B-CA02-5596-6F360D03D719}"/>
              </a:ext>
            </a:extLst>
          </p:cNvPr>
          <p:cNvPicPr>
            <a:picLocks noChangeAspect="1"/>
          </p:cNvPicPr>
          <p:nvPr/>
        </p:nvPicPr>
        <p:blipFill>
          <a:blip r:embed="rId3"/>
          <a:stretch>
            <a:fillRect/>
          </a:stretch>
        </p:blipFill>
        <p:spPr>
          <a:xfrm>
            <a:off x="547351" y="3895858"/>
            <a:ext cx="5425962" cy="1799059"/>
          </a:xfrm>
          <a:prstGeom prst="rect">
            <a:avLst/>
          </a:prstGeom>
        </p:spPr>
      </p:pic>
      <p:pic>
        <p:nvPicPr>
          <p:cNvPr id="5" name="图片 4">
            <a:extLst>
              <a:ext uri="{FF2B5EF4-FFF2-40B4-BE49-F238E27FC236}">
                <a16:creationId xmlns:a16="http://schemas.microsoft.com/office/drawing/2014/main" id="{09780571-D365-1130-6D82-B9B6C2986FD9}"/>
              </a:ext>
            </a:extLst>
          </p:cNvPr>
          <p:cNvPicPr>
            <a:picLocks noChangeAspect="1"/>
          </p:cNvPicPr>
          <p:nvPr/>
        </p:nvPicPr>
        <p:blipFill>
          <a:blip r:embed="rId4"/>
          <a:stretch>
            <a:fillRect/>
          </a:stretch>
        </p:blipFill>
        <p:spPr>
          <a:xfrm>
            <a:off x="1131794" y="1418334"/>
            <a:ext cx="4132817" cy="2067232"/>
          </a:xfrm>
          <a:prstGeom prst="rect">
            <a:avLst/>
          </a:prstGeom>
        </p:spPr>
      </p:pic>
    </p:spTree>
    <p:extLst>
      <p:ext uri="{BB962C8B-B14F-4D97-AF65-F5344CB8AC3E}">
        <p14:creationId xmlns:p14="http://schemas.microsoft.com/office/powerpoint/2010/main" val="174321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CC79C-A802-4E10-6DEE-EDCDBBF9E330}"/>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D3BD02B9-9B79-73DF-7B76-8475982E1351}"/>
              </a:ext>
            </a:extLst>
          </p:cNvPr>
          <p:cNvSpPr txBox="1"/>
          <p:nvPr/>
        </p:nvSpPr>
        <p:spPr>
          <a:xfrm>
            <a:off x="2951571" y="895114"/>
            <a:ext cx="6288901"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数据分析方法和实现：数据分布可视化</a:t>
            </a:r>
          </a:p>
        </p:txBody>
      </p:sp>
      <p:sp>
        <p:nvSpPr>
          <p:cNvPr id="33" name="矩形 32">
            <a:extLst>
              <a:ext uri="{FF2B5EF4-FFF2-40B4-BE49-F238E27FC236}">
                <a16:creationId xmlns:a16="http://schemas.microsoft.com/office/drawing/2014/main" id="{D873B60D-8784-2BF7-77C9-0D37E8BD44D9}"/>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B54EC20A-6301-3DB4-3A44-AEC3F335FE12}"/>
              </a:ext>
            </a:extLst>
          </p:cNvPr>
          <p:cNvSpPr txBox="1"/>
          <p:nvPr/>
        </p:nvSpPr>
        <p:spPr>
          <a:xfrm>
            <a:off x="1203158" y="1620859"/>
            <a:ext cx="4531895" cy="1754326"/>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使用</a:t>
            </a:r>
            <a:r>
              <a:rPr kumimoji="1" lang="en-US" altLang="zh-CN" kern="100" dirty="0" err="1">
                <a:latin typeface="Calibri" panose="020F0502020204030204" pitchFamily="34" charset="0"/>
                <a:ea typeface="宋体" panose="02010600030101010101" pitchFamily="2" charset="-122"/>
                <a:cs typeface="Times New Roman" panose="02020603050405020304" pitchFamily="18" charset="0"/>
              </a:rPr>
              <a:t>sgplot</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步把记录年份期间的</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TMAX</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和</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TMIN</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数据分布分别用不同颜色绘制折线图</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可以看夏季</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TMAX</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和</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TMIN</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较高，冬季较低，同时夏季温差较大</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4D192F77-3A1F-9321-CCEA-6CA1178D264F}"/>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4C7D50CD-3565-7E7A-452F-B82EA8CBA280}"/>
              </a:ext>
            </a:extLst>
          </p:cNvPr>
          <p:cNvPicPr>
            <a:picLocks noChangeAspect="1"/>
          </p:cNvPicPr>
          <p:nvPr/>
        </p:nvPicPr>
        <p:blipFill>
          <a:blip r:embed="rId3"/>
          <a:stretch>
            <a:fillRect/>
          </a:stretch>
        </p:blipFill>
        <p:spPr>
          <a:xfrm>
            <a:off x="840238" y="3686186"/>
            <a:ext cx="5616709" cy="2004476"/>
          </a:xfrm>
          <a:prstGeom prst="rect">
            <a:avLst/>
          </a:prstGeom>
        </p:spPr>
      </p:pic>
      <p:pic>
        <p:nvPicPr>
          <p:cNvPr id="7" name="图片 6">
            <a:extLst>
              <a:ext uri="{FF2B5EF4-FFF2-40B4-BE49-F238E27FC236}">
                <a16:creationId xmlns:a16="http://schemas.microsoft.com/office/drawing/2014/main" id="{7EA89DBF-18F8-D989-F2B9-ED4052E1B7A9}"/>
              </a:ext>
            </a:extLst>
          </p:cNvPr>
          <p:cNvPicPr>
            <a:picLocks noChangeAspect="1"/>
          </p:cNvPicPr>
          <p:nvPr/>
        </p:nvPicPr>
        <p:blipFill>
          <a:blip r:embed="rId4"/>
          <a:stretch>
            <a:fillRect/>
          </a:stretch>
        </p:blipFill>
        <p:spPr>
          <a:xfrm>
            <a:off x="7079768" y="2361908"/>
            <a:ext cx="4414625" cy="3328754"/>
          </a:xfrm>
          <a:prstGeom prst="rect">
            <a:avLst/>
          </a:prstGeom>
        </p:spPr>
      </p:pic>
    </p:spTree>
    <p:extLst>
      <p:ext uri="{BB962C8B-B14F-4D97-AF65-F5344CB8AC3E}">
        <p14:creationId xmlns:p14="http://schemas.microsoft.com/office/powerpoint/2010/main" val="1184584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7FD7-22A1-68A6-AECD-5D2B7047DF1D}"/>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29D5D052-0F9C-DD63-9AD4-0F3CFA1EA2C7}"/>
              </a:ext>
            </a:extLst>
          </p:cNvPr>
          <p:cNvSpPr txBox="1"/>
          <p:nvPr/>
        </p:nvSpPr>
        <p:spPr>
          <a:xfrm>
            <a:off x="2951571" y="895114"/>
            <a:ext cx="6288901"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数据分析方法和实现：数据分布可视化</a:t>
            </a:r>
          </a:p>
        </p:txBody>
      </p:sp>
      <p:sp>
        <p:nvSpPr>
          <p:cNvPr id="33" name="矩形 32">
            <a:extLst>
              <a:ext uri="{FF2B5EF4-FFF2-40B4-BE49-F238E27FC236}">
                <a16:creationId xmlns:a16="http://schemas.microsoft.com/office/drawing/2014/main" id="{ACE1EBE3-A4E4-5B73-7ABA-D32BCCF06D45}"/>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DE674CD2-DEA5-D9E8-1F73-36BDB53136DE}"/>
              </a:ext>
            </a:extLst>
          </p:cNvPr>
          <p:cNvSpPr txBox="1"/>
          <p:nvPr/>
        </p:nvSpPr>
        <p:spPr>
          <a:xfrm>
            <a:off x="1203158" y="1620859"/>
            <a:ext cx="4531895" cy="2862322"/>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a:t>
            </a:r>
            <a:r>
              <a:rPr lang="zh-CN" altLang="en-US" kern="100" dirty="0">
                <a:latin typeface="Calibri" panose="020F0502020204030204" pitchFamily="34" charset="0"/>
                <a:ea typeface="宋体" panose="02010600030101010101" pitchFamily="2" charset="-122"/>
                <a:cs typeface="Times New Roman" panose="02020603050405020304" pitchFamily="18" charset="0"/>
              </a:rPr>
              <a:t>方法</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err="1">
                <a:effectLst/>
                <a:latin typeface="Calibri" panose="020F0502020204030204" pitchFamily="34" charset="0"/>
                <a:ea typeface="宋体" panose="02010600030101010101" pitchFamily="2" charset="-122"/>
                <a:cs typeface="Times New Roman" panose="02020603050405020304" pitchFamily="18" charset="0"/>
              </a:rPr>
              <a:t>sgplot</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步绘制每日共享单车租赁次数</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COUNT</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TMAX</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en-US" kern="100" dirty="0">
                <a:latin typeface="Calibri" panose="020F0502020204030204" pitchFamily="34" charset="0"/>
                <a:ea typeface="宋体" panose="02010600030101010101" pitchFamily="2" charset="-122"/>
                <a:cs typeface="Times New Roman" panose="02020603050405020304" pitchFamily="18" charset="0"/>
              </a:rPr>
              <a:t>最气温</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）的散点分布</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内部调用</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neg</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步对自变量和因变量做线性回归，绘制拟合曲线</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调整参数修改曲线效果</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能够看出具有较强的正相关性，散点较为均匀地分布在拟合曲线两侧</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C60FE666-8FC3-DB8E-2A9C-8CA6EB7BEBC8}"/>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F360B609-2A72-D05F-0535-58268F3EB092}"/>
              </a:ext>
            </a:extLst>
          </p:cNvPr>
          <p:cNvPicPr>
            <a:picLocks noChangeAspect="1"/>
          </p:cNvPicPr>
          <p:nvPr/>
        </p:nvPicPr>
        <p:blipFill>
          <a:blip r:embed="rId3"/>
          <a:stretch>
            <a:fillRect/>
          </a:stretch>
        </p:blipFill>
        <p:spPr>
          <a:xfrm>
            <a:off x="7133390" y="2412193"/>
            <a:ext cx="4531895" cy="3428375"/>
          </a:xfrm>
          <a:prstGeom prst="rect">
            <a:avLst/>
          </a:prstGeom>
        </p:spPr>
      </p:pic>
      <p:pic>
        <p:nvPicPr>
          <p:cNvPr id="9" name="图片 8">
            <a:extLst>
              <a:ext uri="{FF2B5EF4-FFF2-40B4-BE49-F238E27FC236}">
                <a16:creationId xmlns:a16="http://schemas.microsoft.com/office/drawing/2014/main" id="{563F6D31-6456-E516-0975-2C6C4ED58818}"/>
              </a:ext>
            </a:extLst>
          </p:cNvPr>
          <p:cNvPicPr>
            <a:picLocks noChangeAspect="1"/>
          </p:cNvPicPr>
          <p:nvPr/>
        </p:nvPicPr>
        <p:blipFill>
          <a:blip r:embed="rId4"/>
          <a:stretch>
            <a:fillRect/>
          </a:stretch>
        </p:blipFill>
        <p:spPr>
          <a:xfrm>
            <a:off x="1494304" y="4604547"/>
            <a:ext cx="5051779" cy="1169114"/>
          </a:xfrm>
          <a:prstGeom prst="rect">
            <a:avLst/>
          </a:prstGeom>
        </p:spPr>
      </p:pic>
    </p:spTree>
    <p:extLst>
      <p:ext uri="{BB962C8B-B14F-4D97-AF65-F5344CB8AC3E}">
        <p14:creationId xmlns:p14="http://schemas.microsoft.com/office/powerpoint/2010/main" val="16045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E3589-6FFA-7304-7EEC-5BA5BD94F87A}"/>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431F98E4-D42A-149E-8183-FF243B2C36B3}"/>
              </a:ext>
            </a:extLst>
          </p:cNvPr>
          <p:cNvSpPr txBox="1"/>
          <p:nvPr/>
        </p:nvSpPr>
        <p:spPr>
          <a:xfrm>
            <a:off x="3310642" y="895114"/>
            <a:ext cx="5570756"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数据分析方法和实现：主成分分析</a:t>
            </a:r>
          </a:p>
        </p:txBody>
      </p:sp>
      <p:sp>
        <p:nvSpPr>
          <p:cNvPr id="33" name="矩形 32">
            <a:extLst>
              <a:ext uri="{FF2B5EF4-FFF2-40B4-BE49-F238E27FC236}">
                <a16:creationId xmlns:a16="http://schemas.microsoft.com/office/drawing/2014/main" id="{E5910007-B188-4BAB-EE29-E833FD035CED}"/>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0D76B4AF-F682-B2F8-6EA3-060AD389EC47}"/>
              </a:ext>
            </a:extLst>
          </p:cNvPr>
          <p:cNvSpPr txBox="1"/>
          <p:nvPr/>
        </p:nvSpPr>
        <p:spPr>
          <a:xfrm>
            <a:off x="1203158" y="1620859"/>
            <a:ext cx="10104493" cy="615553"/>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princomp</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步分析数据中的主要成分，组合的特征向量的分布，以及不同成分可解释的方差占比</a:t>
            </a:r>
            <a:endParaRPr kumimoji="1" lang="zh-CN" altLang="en-US" sz="1600" dirty="0"/>
          </a:p>
        </p:txBody>
      </p:sp>
      <p:sp>
        <p:nvSpPr>
          <p:cNvPr id="3" name="文本框 2">
            <a:extLst>
              <a:ext uri="{FF2B5EF4-FFF2-40B4-BE49-F238E27FC236}">
                <a16:creationId xmlns:a16="http://schemas.microsoft.com/office/drawing/2014/main" id="{E2DC14EB-A2CE-F656-1130-FCBA43523DCF}"/>
              </a:ext>
            </a:extLst>
          </p:cNvPr>
          <p:cNvSpPr txBox="1"/>
          <p:nvPr/>
        </p:nvSpPr>
        <p:spPr>
          <a:xfrm>
            <a:off x="1150850" y="2888308"/>
            <a:ext cx="8720806" cy="110799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lang="en-US" altLang="zh-CN" dirty="0"/>
          </a:p>
          <a:p>
            <a:pPr marL="742950" lvl="1" indent="-285750">
              <a:buFont typeface="Arial" panose="020B0604020202020204" pitchFamily="34" charset="0"/>
              <a:buChar char="•"/>
            </a:pPr>
            <a:r>
              <a:rPr kumimoji="1" lang="zh-CN" altLang="en-US" sz="1600" dirty="0"/>
              <a:t>方差解释占比整体分布较为均匀</a:t>
            </a:r>
            <a:endParaRPr kumimoji="1" lang="en-US" altLang="zh-CN" sz="1600" dirty="0"/>
          </a:p>
          <a:p>
            <a:pPr marL="742950" lvl="1" indent="-285750">
              <a:buFont typeface="Arial" panose="020B0604020202020204" pitchFamily="34" charset="0"/>
              <a:buChar char="•"/>
            </a:pPr>
            <a:r>
              <a:rPr kumimoji="1" lang="zh-CN" altLang="en-US" sz="1600" dirty="0"/>
              <a:t>累积</a:t>
            </a:r>
            <a:r>
              <a:rPr kumimoji="1" lang="en-US" altLang="zh-CN" sz="1600" dirty="0"/>
              <a:t>80%</a:t>
            </a:r>
            <a:r>
              <a:rPr kumimoji="1" lang="zh-CN" altLang="en-US" sz="1600" dirty="0"/>
              <a:t>解释方差位置共</a:t>
            </a:r>
            <a:r>
              <a:rPr kumimoji="1" lang="en-US" altLang="zh-CN" sz="1600" dirty="0"/>
              <a:t>5</a:t>
            </a:r>
            <a:r>
              <a:rPr kumimoji="1" lang="zh-CN" altLang="en-US" sz="1600" dirty="0"/>
              <a:t>个主成分；</a:t>
            </a:r>
            <a:r>
              <a:rPr lang="zh-CN" altLang="en-US" sz="1600" b="0" i="0" dirty="0">
                <a:solidFill>
                  <a:srgbClr val="060607"/>
                </a:solidFill>
                <a:effectLst/>
                <a:latin typeface="-apple-system"/>
              </a:rPr>
              <a:t>根据</a:t>
            </a:r>
            <a:r>
              <a:rPr lang="en-US" altLang="zh-CN" sz="1600" b="0" i="0" dirty="0">
                <a:solidFill>
                  <a:srgbClr val="060607"/>
                </a:solidFill>
                <a:effectLst/>
                <a:latin typeface="-apple-system"/>
              </a:rPr>
              <a:t>Kaiser</a:t>
            </a:r>
            <a:r>
              <a:rPr lang="zh-CN" altLang="en-US" sz="1600" b="0" i="0" dirty="0">
                <a:solidFill>
                  <a:srgbClr val="060607"/>
                </a:solidFill>
                <a:effectLst/>
                <a:latin typeface="-apple-system"/>
              </a:rPr>
              <a:t>准则，只保留特征值大于</a:t>
            </a:r>
            <a:r>
              <a:rPr lang="en-US" altLang="zh-CN" sz="1600" b="0" i="0" dirty="0">
                <a:solidFill>
                  <a:srgbClr val="060607"/>
                </a:solidFill>
                <a:effectLst/>
                <a:latin typeface="-apple-system"/>
              </a:rPr>
              <a:t>1</a:t>
            </a:r>
            <a:r>
              <a:rPr lang="zh-CN" altLang="en-US" sz="1600" b="0" i="0" dirty="0">
                <a:solidFill>
                  <a:srgbClr val="060607"/>
                </a:solidFill>
                <a:effectLst/>
                <a:latin typeface="-apple-system"/>
              </a:rPr>
              <a:t>的主成分，同样为</a:t>
            </a:r>
            <a:r>
              <a:rPr lang="en-US" altLang="zh-CN" sz="1600" b="0" i="0" dirty="0">
                <a:solidFill>
                  <a:srgbClr val="060607"/>
                </a:solidFill>
                <a:effectLst/>
                <a:latin typeface="-apple-system"/>
              </a:rPr>
              <a:t>5</a:t>
            </a:r>
            <a:r>
              <a:rPr lang="zh-CN" altLang="en-US" sz="1600" b="0" i="0" dirty="0">
                <a:solidFill>
                  <a:srgbClr val="060607"/>
                </a:solidFill>
                <a:effectLst/>
                <a:latin typeface="-apple-system"/>
              </a:rPr>
              <a:t>个</a:t>
            </a:r>
            <a:endParaRPr kumimoji="1" lang="zh-CN" altLang="en-US" sz="1600" dirty="0"/>
          </a:p>
        </p:txBody>
      </p:sp>
      <p:pic>
        <p:nvPicPr>
          <p:cNvPr id="5" name="图片 4">
            <a:extLst>
              <a:ext uri="{FF2B5EF4-FFF2-40B4-BE49-F238E27FC236}">
                <a16:creationId xmlns:a16="http://schemas.microsoft.com/office/drawing/2014/main" id="{28FE6034-5900-FE95-1E8A-99BB0C3D9B61}"/>
              </a:ext>
            </a:extLst>
          </p:cNvPr>
          <p:cNvPicPr>
            <a:picLocks noChangeAspect="1"/>
          </p:cNvPicPr>
          <p:nvPr/>
        </p:nvPicPr>
        <p:blipFill>
          <a:blip r:embed="rId3"/>
          <a:stretch>
            <a:fillRect/>
          </a:stretch>
        </p:blipFill>
        <p:spPr>
          <a:xfrm>
            <a:off x="1712890" y="2217394"/>
            <a:ext cx="6740282" cy="556216"/>
          </a:xfrm>
          <a:prstGeom prst="rect">
            <a:avLst/>
          </a:prstGeom>
        </p:spPr>
      </p:pic>
      <p:pic>
        <p:nvPicPr>
          <p:cNvPr id="7" name="图片 6">
            <a:extLst>
              <a:ext uri="{FF2B5EF4-FFF2-40B4-BE49-F238E27FC236}">
                <a16:creationId xmlns:a16="http://schemas.microsoft.com/office/drawing/2014/main" id="{4FE1AF4C-052F-78DF-2C88-6658C6D42C4B}"/>
              </a:ext>
            </a:extLst>
          </p:cNvPr>
          <p:cNvPicPr>
            <a:picLocks noChangeAspect="1"/>
          </p:cNvPicPr>
          <p:nvPr/>
        </p:nvPicPr>
        <p:blipFill>
          <a:blip r:embed="rId4"/>
          <a:stretch>
            <a:fillRect/>
          </a:stretch>
        </p:blipFill>
        <p:spPr>
          <a:xfrm>
            <a:off x="1313644" y="3996304"/>
            <a:ext cx="4993544" cy="2758416"/>
          </a:xfrm>
          <a:prstGeom prst="rect">
            <a:avLst/>
          </a:prstGeom>
        </p:spPr>
      </p:pic>
      <p:pic>
        <p:nvPicPr>
          <p:cNvPr id="9" name="图片 8">
            <a:extLst>
              <a:ext uri="{FF2B5EF4-FFF2-40B4-BE49-F238E27FC236}">
                <a16:creationId xmlns:a16="http://schemas.microsoft.com/office/drawing/2014/main" id="{1D234392-1229-2B9E-C4A2-F8CB694C3E6D}"/>
              </a:ext>
            </a:extLst>
          </p:cNvPr>
          <p:cNvPicPr>
            <a:picLocks noChangeAspect="1"/>
          </p:cNvPicPr>
          <p:nvPr/>
        </p:nvPicPr>
        <p:blipFill>
          <a:blip r:embed="rId5"/>
          <a:stretch>
            <a:fillRect/>
          </a:stretch>
        </p:blipFill>
        <p:spPr>
          <a:xfrm>
            <a:off x="8249304" y="3813074"/>
            <a:ext cx="2975458" cy="2941646"/>
          </a:xfrm>
          <a:prstGeom prst="rect">
            <a:avLst/>
          </a:prstGeom>
        </p:spPr>
      </p:pic>
    </p:spTree>
    <p:extLst>
      <p:ext uri="{BB962C8B-B14F-4D97-AF65-F5344CB8AC3E}">
        <p14:creationId xmlns:p14="http://schemas.microsoft.com/office/powerpoint/2010/main" val="778019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66FA-C984-8DE1-1D4A-959F0DD68205}"/>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E91793B1-EC12-8CBD-1DF2-CC15F99DBEEA}"/>
              </a:ext>
            </a:extLst>
          </p:cNvPr>
          <p:cNvSpPr txBox="1"/>
          <p:nvPr/>
        </p:nvSpPr>
        <p:spPr>
          <a:xfrm>
            <a:off x="3081416" y="895114"/>
            <a:ext cx="6029215"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数据分析方法和实现：租赁行为聚类</a:t>
            </a:r>
          </a:p>
        </p:txBody>
      </p:sp>
      <p:sp>
        <p:nvSpPr>
          <p:cNvPr id="33" name="矩形 32">
            <a:extLst>
              <a:ext uri="{FF2B5EF4-FFF2-40B4-BE49-F238E27FC236}">
                <a16:creationId xmlns:a16="http://schemas.microsoft.com/office/drawing/2014/main" id="{38A26FE4-D1DA-C3C9-1F48-304423329BB7}"/>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03FF00CD-6933-651D-4FBD-06C85FEE2F91}"/>
              </a:ext>
            </a:extLst>
          </p:cNvPr>
          <p:cNvSpPr txBox="1"/>
          <p:nvPr/>
        </p:nvSpPr>
        <p:spPr>
          <a:xfrm>
            <a:off x="1203158" y="1620859"/>
            <a:ext cx="9788960" cy="1538883"/>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cluster</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步分别使用不同的聚类方法对共享单车租赁数据进行聚类，然后可以用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tree</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步对聚类结果进行可视化</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聚类运行时间较长</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聚类类别较多，可视化并不清晰</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endParaRPr kumimoji="1" lang="zh-CN" altLang="en-US" sz="1200" dirty="0"/>
          </a:p>
        </p:txBody>
      </p:sp>
      <p:pic>
        <p:nvPicPr>
          <p:cNvPr id="11" name="图片 10">
            <a:extLst>
              <a:ext uri="{FF2B5EF4-FFF2-40B4-BE49-F238E27FC236}">
                <a16:creationId xmlns:a16="http://schemas.microsoft.com/office/drawing/2014/main" id="{82DDEC3E-D262-31F9-C064-CFF8E00D1D1D}"/>
              </a:ext>
            </a:extLst>
          </p:cNvPr>
          <p:cNvPicPr>
            <a:picLocks noChangeAspect="1"/>
          </p:cNvPicPr>
          <p:nvPr/>
        </p:nvPicPr>
        <p:blipFill>
          <a:blip r:embed="rId3"/>
          <a:stretch>
            <a:fillRect/>
          </a:stretch>
        </p:blipFill>
        <p:spPr>
          <a:xfrm>
            <a:off x="666494" y="3928055"/>
            <a:ext cx="2360572" cy="2425857"/>
          </a:xfrm>
          <a:prstGeom prst="rect">
            <a:avLst/>
          </a:prstGeom>
        </p:spPr>
      </p:pic>
      <p:pic>
        <p:nvPicPr>
          <p:cNvPr id="13" name="图片 12">
            <a:extLst>
              <a:ext uri="{FF2B5EF4-FFF2-40B4-BE49-F238E27FC236}">
                <a16:creationId xmlns:a16="http://schemas.microsoft.com/office/drawing/2014/main" id="{E9532726-9FE0-969F-98DC-CF51AC5A5631}"/>
              </a:ext>
            </a:extLst>
          </p:cNvPr>
          <p:cNvPicPr>
            <a:picLocks noChangeAspect="1"/>
          </p:cNvPicPr>
          <p:nvPr/>
        </p:nvPicPr>
        <p:blipFill>
          <a:blip r:embed="rId4"/>
          <a:stretch>
            <a:fillRect/>
          </a:stretch>
        </p:blipFill>
        <p:spPr>
          <a:xfrm>
            <a:off x="322502" y="2925167"/>
            <a:ext cx="5409127" cy="374674"/>
          </a:xfrm>
          <a:prstGeom prst="rect">
            <a:avLst/>
          </a:prstGeom>
        </p:spPr>
      </p:pic>
      <p:pic>
        <p:nvPicPr>
          <p:cNvPr id="15" name="图片 14">
            <a:extLst>
              <a:ext uri="{FF2B5EF4-FFF2-40B4-BE49-F238E27FC236}">
                <a16:creationId xmlns:a16="http://schemas.microsoft.com/office/drawing/2014/main" id="{0F745A28-A787-FC56-54E0-2F8D97418B93}"/>
              </a:ext>
            </a:extLst>
          </p:cNvPr>
          <p:cNvPicPr>
            <a:picLocks noChangeAspect="1"/>
          </p:cNvPicPr>
          <p:nvPr/>
        </p:nvPicPr>
        <p:blipFill>
          <a:blip r:embed="rId5"/>
          <a:stretch>
            <a:fillRect/>
          </a:stretch>
        </p:blipFill>
        <p:spPr>
          <a:xfrm>
            <a:off x="3536493" y="3998890"/>
            <a:ext cx="2249486" cy="2182428"/>
          </a:xfrm>
          <a:prstGeom prst="rect">
            <a:avLst/>
          </a:prstGeom>
        </p:spPr>
      </p:pic>
      <p:pic>
        <p:nvPicPr>
          <p:cNvPr id="17" name="图片 16">
            <a:extLst>
              <a:ext uri="{FF2B5EF4-FFF2-40B4-BE49-F238E27FC236}">
                <a16:creationId xmlns:a16="http://schemas.microsoft.com/office/drawing/2014/main" id="{23324E8A-C7C8-1EB6-608F-E8530399B181}"/>
              </a:ext>
            </a:extLst>
          </p:cNvPr>
          <p:cNvPicPr>
            <a:picLocks noChangeAspect="1"/>
          </p:cNvPicPr>
          <p:nvPr/>
        </p:nvPicPr>
        <p:blipFill>
          <a:blip r:embed="rId6"/>
          <a:stretch>
            <a:fillRect/>
          </a:stretch>
        </p:blipFill>
        <p:spPr>
          <a:xfrm>
            <a:off x="2897747" y="3381734"/>
            <a:ext cx="5499279" cy="393594"/>
          </a:xfrm>
          <a:prstGeom prst="rect">
            <a:avLst/>
          </a:prstGeom>
        </p:spPr>
      </p:pic>
      <p:pic>
        <p:nvPicPr>
          <p:cNvPr id="19" name="图片 18">
            <a:extLst>
              <a:ext uri="{FF2B5EF4-FFF2-40B4-BE49-F238E27FC236}">
                <a16:creationId xmlns:a16="http://schemas.microsoft.com/office/drawing/2014/main" id="{86EC15C3-FA6D-307E-5E78-F7BC9A6D48C9}"/>
              </a:ext>
            </a:extLst>
          </p:cNvPr>
          <p:cNvPicPr>
            <a:picLocks noChangeAspect="1"/>
          </p:cNvPicPr>
          <p:nvPr/>
        </p:nvPicPr>
        <p:blipFill>
          <a:blip r:embed="rId7"/>
          <a:stretch>
            <a:fillRect/>
          </a:stretch>
        </p:blipFill>
        <p:spPr>
          <a:xfrm>
            <a:off x="8158766" y="3771293"/>
            <a:ext cx="3515406" cy="2745609"/>
          </a:xfrm>
          <a:prstGeom prst="rect">
            <a:avLst/>
          </a:prstGeom>
        </p:spPr>
      </p:pic>
    </p:spTree>
    <p:extLst>
      <p:ext uri="{BB962C8B-B14F-4D97-AF65-F5344CB8AC3E}">
        <p14:creationId xmlns:p14="http://schemas.microsoft.com/office/powerpoint/2010/main" val="3271502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5579C-F983-DCD8-D1FB-B17A52DDD11F}"/>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1B341A1F-39BC-F76C-8903-AF00B13C5DA4}"/>
              </a:ext>
            </a:extLst>
          </p:cNvPr>
          <p:cNvSpPr txBox="1"/>
          <p:nvPr/>
        </p:nvSpPr>
        <p:spPr>
          <a:xfrm>
            <a:off x="3081416" y="895114"/>
            <a:ext cx="6029215"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数据分析方法和实现：租赁行为聚类</a:t>
            </a:r>
          </a:p>
        </p:txBody>
      </p:sp>
      <p:sp>
        <p:nvSpPr>
          <p:cNvPr id="33" name="矩形 32">
            <a:extLst>
              <a:ext uri="{FF2B5EF4-FFF2-40B4-BE49-F238E27FC236}">
                <a16:creationId xmlns:a16="http://schemas.microsoft.com/office/drawing/2014/main" id="{23EA08BF-8417-28D6-7D00-20C4C512C75B}"/>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A28CD0F-BE4D-92A9-D37F-D19EDC4746D2}"/>
              </a:ext>
            </a:extLst>
          </p:cNvPr>
          <p:cNvSpPr txBox="1"/>
          <p:nvPr/>
        </p:nvSpPr>
        <p:spPr>
          <a:xfrm>
            <a:off x="1203158" y="1620859"/>
            <a:ext cx="9788960" cy="1538883"/>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考虑到样本量相对较大，因此可以用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fastlus</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步做</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Kmeans</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聚类</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对于</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fastlus</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的不同聚类数量有不同选择，设计宏函数进行循环遍历，直到找到伪</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F</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统计量极值</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1802</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出现在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N=5</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的位置</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相应的立方行为准则</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CCC</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为</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139</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，同样为不错的水平</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kumimoji="1" lang="zh-CN" altLang="en-US" sz="1200" dirty="0"/>
              <a:t>注：伪</a:t>
            </a:r>
            <a:r>
              <a:rPr kumimoji="1" lang="en-US" altLang="zh-CN" sz="1200" dirty="0"/>
              <a:t>F</a:t>
            </a:r>
            <a:r>
              <a:rPr kumimoji="1" lang="zh-CN" altLang="en-US" sz="1200" dirty="0"/>
              <a:t>统计量通过比较类内离差平方和（组内平方和）与类间离差平方和（组间平方和）来评估聚类效果，越大效果越好</a:t>
            </a:r>
          </a:p>
        </p:txBody>
      </p:sp>
      <p:pic>
        <p:nvPicPr>
          <p:cNvPr id="7" name="图片 6">
            <a:extLst>
              <a:ext uri="{FF2B5EF4-FFF2-40B4-BE49-F238E27FC236}">
                <a16:creationId xmlns:a16="http://schemas.microsoft.com/office/drawing/2014/main" id="{CE85E872-4979-B794-6034-F45506BF16F3}"/>
              </a:ext>
            </a:extLst>
          </p:cNvPr>
          <p:cNvPicPr>
            <a:picLocks noChangeAspect="1"/>
          </p:cNvPicPr>
          <p:nvPr/>
        </p:nvPicPr>
        <p:blipFill>
          <a:blip r:embed="rId3"/>
          <a:stretch>
            <a:fillRect/>
          </a:stretch>
        </p:blipFill>
        <p:spPr>
          <a:xfrm>
            <a:off x="996680" y="3517663"/>
            <a:ext cx="2486662" cy="2854825"/>
          </a:xfrm>
          <a:prstGeom prst="rect">
            <a:avLst/>
          </a:prstGeom>
        </p:spPr>
      </p:pic>
      <p:pic>
        <p:nvPicPr>
          <p:cNvPr id="9" name="图片 8">
            <a:extLst>
              <a:ext uri="{FF2B5EF4-FFF2-40B4-BE49-F238E27FC236}">
                <a16:creationId xmlns:a16="http://schemas.microsoft.com/office/drawing/2014/main" id="{5EFE99D3-6A1F-97E8-E74E-4D9114995777}"/>
              </a:ext>
            </a:extLst>
          </p:cNvPr>
          <p:cNvPicPr>
            <a:picLocks noChangeAspect="1"/>
          </p:cNvPicPr>
          <p:nvPr/>
        </p:nvPicPr>
        <p:blipFill>
          <a:blip r:embed="rId4"/>
          <a:stretch>
            <a:fillRect/>
          </a:stretch>
        </p:blipFill>
        <p:spPr>
          <a:xfrm>
            <a:off x="5041269" y="3540639"/>
            <a:ext cx="5017131" cy="2824745"/>
          </a:xfrm>
          <a:prstGeom prst="rect">
            <a:avLst/>
          </a:prstGeom>
        </p:spPr>
      </p:pic>
    </p:spTree>
    <p:extLst>
      <p:ext uri="{BB962C8B-B14F-4D97-AF65-F5344CB8AC3E}">
        <p14:creationId xmlns:p14="http://schemas.microsoft.com/office/powerpoint/2010/main" val="4217326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F97D-15FF-DE19-E70F-7CF6C826633F}"/>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C3E678F4-FE39-14AC-7A8B-8813A05C95C4}"/>
              </a:ext>
            </a:extLst>
          </p:cNvPr>
          <p:cNvSpPr txBox="1"/>
          <p:nvPr/>
        </p:nvSpPr>
        <p:spPr>
          <a:xfrm>
            <a:off x="2602920" y="895114"/>
            <a:ext cx="698620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数据分析方法和实现：相关性分析和可视化</a:t>
            </a:r>
          </a:p>
        </p:txBody>
      </p:sp>
      <p:sp>
        <p:nvSpPr>
          <p:cNvPr id="33" name="矩形 32">
            <a:extLst>
              <a:ext uri="{FF2B5EF4-FFF2-40B4-BE49-F238E27FC236}">
                <a16:creationId xmlns:a16="http://schemas.microsoft.com/office/drawing/2014/main" id="{DEFC2689-8711-73FC-612F-406884EE8D8B}"/>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68D38617-D868-D393-C071-E91E1B47DCB9}"/>
              </a:ext>
            </a:extLst>
          </p:cNvPr>
          <p:cNvSpPr txBox="1"/>
          <p:nvPr/>
        </p:nvSpPr>
        <p:spPr>
          <a:xfrm>
            <a:off x="1203158" y="1620859"/>
            <a:ext cx="4531895" cy="1600438"/>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corr</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步对不同变量做相关性分析</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得到相关性矩阵后写函数转置，短向量转换为长向量用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sgplot</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步完成</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heatmap</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的绘制</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endParaRPr kumimoji="1" lang="zh-CN" altLang="en-US" sz="1600" dirty="0"/>
          </a:p>
        </p:txBody>
      </p:sp>
      <p:sp>
        <p:nvSpPr>
          <p:cNvPr id="3" name="文本框 2">
            <a:extLst>
              <a:ext uri="{FF2B5EF4-FFF2-40B4-BE49-F238E27FC236}">
                <a16:creationId xmlns:a16="http://schemas.microsoft.com/office/drawing/2014/main" id="{B5CDA762-837F-F32A-B24D-CC26A9A7A418}"/>
              </a:ext>
            </a:extLst>
          </p:cNvPr>
          <p:cNvSpPr txBox="1"/>
          <p:nvPr/>
        </p:nvSpPr>
        <p:spPr>
          <a:xfrm>
            <a:off x="6456947" y="1615651"/>
            <a:ext cx="4531895" cy="1354217"/>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lang="en-US" altLang="zh-CN" dirty="0"/>
          </a:p>
          <a:p>
            <a:pPr marL="742950" lvl="1" indent="-285750">
              <a:buFont typeface="Arial" panose="020B0604020202020204" pitchFamily="34" charset="0"/>
              <a:buChar char="•"/>
            </a:pPr>
            <a:r>
              <a:rPr kumimoji="1" lang="en-US" altLang="zh-CN" sz="1600" dirty="0"/>
              <a:t>Temp </a:t>
            </a:r>
            <a:r>
              <a:rPr kumimoji="1" lang="en-US" altLang="zh-CN" sz="1600" dirty="0" err="1"/>
              <a:t>atemp</a:t>
            </a:r>
            <a:r>
              <a:rPr kumimoji="1" lang="zh-CN" altLang="en-US" sz="1600" dirty="0"/>
              <a:t>因为含义原因基本一致</a:t>
            </a:r>
            <a:endParaRPr kumimoji="1" lang="en-US" altLang="zh-CN" sz="1600" dirty="0"/>
          </a:p>
          <a:p>
            <a:pPr marL="742950" lvl="1" indent="-285750">
              <a:buFont typeface="Arial" panose="020B0604020202020204" pitchFamily="34" charset="0"/>
              <a:buChar char="•"/>
            </a:pPr>
            <a:r>
              <a:rPr kumimoji="1" lang="en-US" altLang="zh-CN" sz="1600" dirty="0"/>
              <a:t>Count</a:t>
            </a:r>
            <a:r>
              <a:rPr kumimoji="1" lang="zh-CN" altLang="en-US" sz="1600" dirty="0"/>
              <a:t>和</a:t>
            </a:r>
            <a:r>
              <a:rPr kumimoji="1" lang="en-US" altLang="zh-CN" sz="1600" dirty="0"/>
              <a:t>registered</a:t>
            </a:r>
            <a:r>
              <a:rPr kumimoji="1" lang="zh-CN" altLang="en-US" sz="1600" dirty="0"/>
              <a:t>显著正相关，和</a:t>
            </a:r>
            <a:r>
              <a:rPr kumimoji="1" lang="en-US" altLang="zh-CN" sz="1600" dirty="0"/>
              <a:t>casual</a:t>
            </a:r>
            <a:r>
              <a:rPr kumimoji="1" lang="zh-CN" altLang="en-US" sz="1600" dirty="0"/>
              <a:t>高度相关，和</a:t>
            </a:r>
            <a:r>
              <a:rPr kumimoji="1" lang="en-US" altLang="zh-CN" sz="1600" dirty="0"/>
              <a:t>temp/</a:t>
            </a:r>
            <a:r>
              <a:rPr kumimoji="1" lang="en-US" altLang="zh-CN" sz="1600" dirty="0" err="1"/>
              <a:t>atemp</a:t>
            </a:r>
            <a:r>
              <a:rPr kumimoji="1" lang="zh-CN" altLang="en-US" sz="1600" dirty="0"/>
              <a:t>正相关，和</a:t>
            </a:r>
            <a:r>
              <a:rPr kumimoji="1" lang="en-US" altLang="zh-CN" sz="1600" dirty="0"/>
              <a:t>humidity</a:t>
            </a:r>
            <a:r>
              <a:rPr kumimoji="1" lang="zh-CN" altLang="en-US" sz="1600" dirty="0"/>
              <a:t>负相关</a:t>
            </a:r>
          </a:p>
        </p:txBody>
      </p:sp>
      <p:pic>
        <p:nvPicPr>
          <p:cNvPr id="5" name="图片 4">
            <a:extLst>
              <a:ext uri="{FF2B5EF4-FFF2-40B4-BE49-F238E27FC236}">
                <a16:creationId xmlns:a16="http://schemas.microsoft.com/office/drawing/2014/main" id="{4CBF508D-A837-F419-09BE-B4D6AB19CB45}"/>
              </a:ext>
            </a:extLst>
          </p:cNvPr>
          <p:cNvPicPr>
            <a:picLocks noChangeAspect="1"/>
          </p:cNvPicPr>
          <p:nvPr/>
        </p:nvPicPr>
        <p:blipFill>
          <a:blip r:embed="rId3"/>
          <a:stretch>
            <a:fillRect/>
          </a:stretch>
        </p:blipFill>
        <p:spPr>
          <a:xfrm>
            <a:off x="680968" y="2913520"/>
            <a:ext cx="6228954" cy="615554"/>
          </a:xfrm>
          <a:prstGeom prst="rect">
            <a:avLst/>
          </a:prstGeom>
        </p:spPr>
      </p:pic>
      <p:pic>
        <p:nvPicPr>
          <p:cNvPr id="7" name="图片 6">
            <a:extLst>
              <a:ext uri="{FF2B5EF4-FFF2-40B4-BE49-F238E27FC236}">
                <a16:creationId xmlns:a16="http://schemas.microsoft.com/office/drawing/2014/main" id="{25AEE2CB-FC79-09CD-0E5F-0E546D7010F3}"/>
              </a:ext>
            </a:extLst>
          </p:cNvPr>
          <p:cNvPicPr>
            <a:picLocks noChangeAspect="1"/>
          </p:cNvPicPr>
          <p:nvPr/>
        </p:nvPicPr>
        <p:blipFill>
          <a:blip r:embed="rId4"/>
          <a:stretch>
            <a:fillRect/>
          </a:stretch>
        </p:blipFill>
        <p:spPr>
          <a:xfrm>
            <a:off x="1119668" y="3573019"/>
            <a:ext cx="4490877" cy="3135060"/>
          </a:xfrm>
          <a:prstGeom prst="rect">
            <a:avLst/>
          </a:prstGeom>
        </p:spPr>
      </p:pic>
      <p:pic>
        <p:nvPicPr>
          <p:cNvPr id="9" name="图片 8">
            <a:extLst>
              <a:ext uri="{FF2B5EF4-FFF2-40B4-BE49-F238E27FC236}">
                <a16:creationId xmlns:a16="http://schemas.microsoft.com/office/drawing/2014/main" id="{47070B0C-353B-ED54-D2F0-F098ED5BE0C6}"/>
              </a:ext>
            </a:extLst>
          </p:cNvPr>
          <p:cNvPicPr>
            <a:picLocks noChangeAspect="1"/>
          </p:cNvPicPr>
          <p:nvPr/>
        </p:nvPicPr>
        <p:blipFill>
          <a:blip r:embed="rId5"/>
          <a:stretch>
            <a:fillRect/>
          </a:stretch>
        </p:blipFill>
        <p:spPr>
          <a:xfrm>
            <a:off x="6253720" y="3081128"/>
            <a:ext cx="5391324" cy="3242648"/>
          </a:xfrm>
          <a:prstGeom prst="rect">
            <a:avLst/>
          </a:prstGeom>
        </p:spPr>
      </p:pic>
    </p:spTree>
    <p:extLst>
      <p:ext uri="{BB962C8B-B14F-4D97-AF65-F5344CB8AC3E}">
        <p14:creationId xmlns:p14="http://schemas.microsoft.com/office/powerpoint/2010/main" val="3842088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415A3-0E4C-AD88-8481-1E1F6D550691}"/>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B181F61C-D7AA-C745-673A-50D12B2904BD}"/>
              </a:ext>
            </a:extLst>
          </p:cNvPr>
          <p:cNvSpPr txBox="1"/>
          <p:nvPr/>
        </p:nvSpPr>
        <p:spPr>
          <a:xfrm>
            <a:off x="2602920" y="895114"/>
            <a:ext cx="698620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数据分析方法和实现：相关性分析和可视化</a:t>
            </a:r>
          </a:p>
        </p:txBody>
      </p:sp>
      <p:sp>
        <p:nvSpPr>
          <p:cNvPr id="33" name="矩形 32">
            <a:extLst>
              <a:ext uri="{FF2B5EF4-FFF2-40B4-BE49-F238E27FC236}">
                <a16:creationId xmlns:a16="http://schemas.microsoft.com/office/drawing/2014/main" id="{FAF7FD87-EF44-1A79-51BB-8016213992B2}"/>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90A5831-1E6B-AA99-533E-D2FE80FB353E}"/>
              </a:ext>
            </a:extLst>
          </p:cNvPr>
          <p:cNvSpPr txBox="1"/>
          <p:nvPr/>
        </p:nvSpPr>
        <p:spPr>
          <a:xfrm>
            <a:off x="1203158" y="1620859"/>
            <a:ext cx="5944617" cy="2277547"/>
          </a:xfrm>
          <a:prstGeom prst="rect">
            <a:avLst/>
          </a:prstGeom>
          <a:noFill/>
        </p:spPr>
        <p:txBody>
          <a:bodyPr wrap="square" rtlCol="0">
            <a:spAutoFit/>
          </a:bodyPr>
          <a:lstStyle/>
          <a:p>
            <a:pPr marL="285750" indent="-285750">
              <a:buFont typeface="Arial" panose="020B0604020202020204" pitchFamily="34" charset="0"/>
              <a:buChar char="•"/>
            </a:pPr>
            <a:r>
              <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dirty="0"/>
              <a:t>用</a:t>
            </a:r>
            <a:r>
              <a:rPr kumimoji="1" lang="en-US" altLang="zh-CN" sz="1400" dirty="0" err="1"/>
              <a:t>sql</a:t>
            </a:r>
            <a:r>
              <a:rPr kumimoji="1" lang="zh-CN" altLang="en-US" sz="1400" dirty="0"/>
              <a:t>步计数和去重，然后用</a:t>
            </a:r>
            <a:r>
              <a:rPr kumimoji="1" lang="en-US" altLang="zh-CN" sz="1400" dirty="0" err="1"/>
              <a:t>sgplot</a:t>
            </a:r>
            <a:r>
              <a:rPr kumimoji="1" lang="zh-CN" altLang="en-US" sz="1400" dirty="0"/>
              <a:t>绘制共享单车使用次数和气温的关系</a:t>
            </a:r>
            <a:endParaRPr kumimoji="1" lang="en-US" altLang="zh-CN" sz="1400" dirty="0"/>
          </a:p>
          <a:p>
            <a:pPr marL="742950" lvl="1" indent="-285750">
              <a:buFont typeface="Arial" panose="020B0604020202020204" pitchFamily="34" charset="0"/>
              <a:buChar char="•"/>
            </a:pPr>
            <a:r>
              <a:rPr kumimoji="1" lang="zh-CN" altLang="en-US" sz="1400" dirty="0"/>
              <a:t>数据集</a:t>
            </a:r>
            <a:r>
              <a:rPr kumimoji="1" lang="en-US" altLang="zh-CN" sz="1400" dirty="0"/>
              <a:t>1</a:t>
            </a:r>
            <a:r>
              <a:rPr kumimoji="1" lang="zh-CN" altLang="en-US" sz="1400" dirty="0"/>
              <a:t>：温度</a:t>
            </a:r>
            <a:r>
              <a:rPr kumimoji="1" lang="en-US" altLang="zh-CN" sz="1400" dirty="0"/>
              <a:t>temp</a:t>
            </a:r>
            <a:r>
              <a:rPr kumimoji="1" lang="zh-CN" altLang="en-US" sz="1400" dirty="0"/>
              <a:t>和体感温度</a:t>
            </a:r>
            <a:r>
              <a:rPr kumimoji="1" lang="en-US" altLang="zh-CN" sz="1400" dirty="0" err="1"/>
              <a:t>atemp</a:t>
            </a:r>
            <a:r>
              <a:rPr kumimoji="1" lang="zh-CN" altLang="en-US" sz="1400" dirty="0"/>
              <a:t>；</a:t>
            </a:r>
            <a:r>
              <a:rPr lang="zh-CN" altLang="en-US" sz="1400" b="0" i="0" dirty="0">
                <a:solidFill>
                  <a:srgbClr val="191B1F"/>
                </a:solidFill>
                <a:effectLst/>
                <a:latin typeface="-apple-system"/>
              </a:rPr>
              <a:t>温度越高，用户使用率越高；温度高于</a:t>
            </a:r>
            <a:r>
              <a:rPr lang="en-US" altLang="zh-CN" sz="1400" b="0" i="0" dirty="0">
                <a:solidFill>
                  <a:srgbClr val="191B1F"/>
                </a:solidFill>
                <a:effectLst/>
                <a:latin typeface="-apple-system"/>
              </a:rPr>
              <a:t>37°C,</a:t>
            </a:r>
            <a:r>
              <a:rPr lang="zh-CN" altLang="en-US" sz="1400" b="0" i="0" dirty="0">
                <a:solidFill>
                  <a:srgbClr val="191B1F"/>
                </a:solidFill>
                <a:effectLst/>
                <a:latin typeface="-apple-system"/>
              </a:rPr>
              <a:t>体感温度高于</a:t>
            </a:r>
            <a:r>
              <a:rPr lang="en-US" altLang="zh-CN" sz="1400" b="0" i="0" dirty="0">
                <a:solidFill>
                  <a:srgbClr val="191B1F"/>
                </a:solidFill>
                <a:effectLst/>
                <a:latin typeface="-apple-system"/>
              </a:rPr>
              <a:t>34°C</a:t>
            </a:r>
            <a:r>
              <a:rPr lang="zh-CN" altLang="en-US" sz="1400" b="0" i="0" dirty="0">
                <a:solidFill>
                  <a:srgbClr val="191B1F"/>
                </a:solidFill>
                <a:effectLst/>
                <a:latin typeface="-apple-system"/>
              </a:rPr>
              <a:t>时，用户使用率降低</a:t>
            </a:r>
            <a:endParaRPr lang="en-US" altLang="zh-CN" sz="1400" b="0" i="0" dirty="0">
              <a:solidFill>
                <a:srgbClr val="191B1F"/>
              </a:solidFill>
              <a:effectLst/>
              <a:latin typeface="-apple-system"/>
            </a:endParaRPr>
          </a:p>
          <a:p>
            <a:pPr marL="742950" lvl="1" indent="-285750">
              <a:buFont typeface="Arial" panose="020B0604020202020204" pitchFamily="34" charset="0"/>
              <a:buChar char="•"/>
            </a:pPr>
            <a:r>
              <a:rPr kumimoji="1" lang="zh-CN" altLang="en-US" sz="1400" dirty="0">
                <a:solidFill>
                  <a:srgbClr val="191B1F"/>
                </a:solidFill>
                <a:latin typeface="-apple-system"/>
              </a:rPr>
              <a:t>数据集</a:t>
            </a:r>
            <a:r>
              <a:rPr kumimoji="1" lang="en-US" altLang="zh-CN" sz="1400" dirty="0">
                <a:solidFill>
                  <a:srgbClr val="191B1F"/>
                </a:solidFill>
                <a:latin typeface="-apple-system"/>
              </a:rPr>
              <a:t>2</a:t>
            </a:r>
            <a:r>
              <a:rPr kumimoji="1" lang="zh-CN" altLang="en-US" sz="1400" dirty="0">
                <a:solidFill>
                  <a:srgbClr val="191B1F"/>
                </a:solidFill>
                <a:latin typeface="-apple-system"/>
              </a:rPr>
              <a:t>：最高温度和最低温度：</a:t>
            </a:r>
            <a:r>
              <a:rPr lang="zh-CN" altLang="en-US" sz="1400" b="0" i="0" dirty="0">
                <a:solidFill>
                  <a:srgbClr val="191B1F"/>
                </a:solidFill>
                <a:effectLst/>
                <a:latin typeface="-apple-system"/>
              </a:rPr>
              <a:t>温度越高，用户使用率越高；最低温度高于</a:t>
            </a:r>
            <a:r>
              <a:rPr lang="en-US" altLang="zh-CN" sz="1400" b="0" i="0" dirty="0">
                <a:solidFill>
                  <a:srgbClr val="191B1F"/>
                </a:solidFill>
                <a:effectLst/>
                <a:latin typeface="-apple-system"/>
              </a:rPr>
              <a:t>40</a:t>
            </a:r>
            <a:r>
              <a:rPr lang="zh-CN" altLang="en-US" sz="1400" b="0" i="0" dirty="0">
                <a:solidFill>
                  <a:srgbClr val="191B1F"/>
                </a:solidFill>
                <a:effectLst/>
                <a:latin typeface="-apple-system"/>
              </a:rPr>
              <a:t>度，使用率降低，最高温度升高不影响，主要原因推测是可以在一天内凉快的时候骑车</a:t>
            </a:r>
            <a:endParaRPr lang="en-US" altLang="zh-CN" sz="1400" b="0" i="0" dirty="0">
              <a:solidFill>
                <a:srgbClr val="191B1F"/>
              </a:solidFill>
              <a:effectLst/>
              <a:latin typeface="-apple-system"/>
            </a:endParaRPr>
          </a:p>
          <a:p>
            <a:pPr marL="742950" lvl="1" indent="-285750">
              <a:buFont typeface="Arial" panose="020B0604020202020204" pitchFamily="34" charset="0"/>
              <a:buChar char="•"/>
            </a:pPr>
            <a:r>
              <a:rPr kumimoji="1" lang="zh-CN" altLang="en-US" sz="1400" dirty="0">
                <a:solidFill>
                  <a:srgbClr val="191B1F"/>
                </a:solidFill>
                <a:latin typeface="-apple-system"/>
              </a:rPr>
              <a:t>注意这里要用</a:t>
            </a:r>
            <a:r>
              <a:rPr kumimoji="1" lang="zh-CN" altLang="en-US" sz="1400" b="1" dirty="0">
                <a:solidFill>
                  <a:srgbClr val="191B1F"/>
                </a:solidFill>
                <a:latin typeface="-apple-system"/>
              </a:rPr>
              <a:t>使用率</a:t>
            </a:r>
            <a:r>
              <a:rPr kumimoji="1" lang="zh-CN" altLang="en-US" sz="1400" dirty="0">
                <a:solidFill>
                  <a:srgbClr val="191B1F"/>
                </a:solidFill>
                <a:latin typeface="-apple-system"/>
              </a:rPr>
              <a:t>而不是使用总值来实验，因为不同温度总天数不同</a:t>
            </a:r>
            <a:endParaRPr kumimoji="1" lang="zh-CN" altLang="en-US" sz="1400" dirty="0"/>
          </a:p>
        </p:txBody>
      </p:sp>
      <p:pic>
        <p:nvPicPr>
          <p:cNvPr id="12" name="图片 11">
            <a:extLst>
              <a:ext uri="{FF2B5EF4-FFF2-40B4-BE49-F238E27FC236}">
                <a16:creationId xmlns:a16="http://schemas.microsoft.com/office/drawing/2014/main" id="{FC8EBC9E-E254-CC52-5580-13CD663177CA}"/>
              </a:ext>
            </a:extLst>
          </p:cNvPr>
          <p:cNvPicPr>
            <a:picLocks noChangeAspect="1"/>
          </p:cNvPicPr>
          <p:nvPr/>
        </p:nvPicPr>
        <p:blipFill>
          <a:blip r:embed="rId3"/>
          <a:stretch>
            <a:fillRect/>
          </a:stretch>
        </p:blipFill>
        <p:spPr>
          <a:xfrm>
            <a:off x="7742103" y="4085758"/>
            <a:ext cx="2934483" cy="2218449"/>
          </a:xfrm>
          <a:prstGeom prst="rect">
            <a:avLst/>
          </a:prstGeom>
        </p:spPr>
      </p:pic>
      <p:pic>
        <p:nvPicPr>
          <p:cNvPr id="14" name="图片 13">
            <a:extLst>
              <a:ext uri="{FF2B5EF4-FFF2-40B4-BE49-F238E27FC236}">
                <a16:creationId xmlns:a16="http://schemas.microsoft.com/office/drawing/2014/main" id="{CE9810E3-1CB1-2786-A62E-A869ACB59F6F}"/>
              </a:ext>
            </a:extLst>
          </p:cNvPr>
          <p:cNvPicPr>
            <a:picLocks noChangeAspect="1"/>
          </p:cNvPicPr>
          <p:nvPr/>
        </p:nvPicPr>
        <p:blipFill>
          <a:blip r:embed="rId4"/>
          <a:stretch>
            <a:fillRect/>
          </a:stretch>
        </p:blipFill>
        <p:spPr>
          <a:xfrm>
            <a:off x="7742103" y="1572733"/>
            <a:ext cx="2811524" cy="2106220"/>
          </a:xfrm>
          <a:prstGeom prst="rect">
            <a:avLst/>
          </a:prstGeom>
        </p:spPr>
      </p:pic>
      <p:pic>
        <p:nvPicPr>
          <p:cNvPr id="16" name="图片 15">
            <a:extLst>
              <a:ext uri="{FF2B5EF4-FFF2-40B4-BE49-F238E27FC236}">
                <a16:creationId xmlns:a16="http://schemas.microsoft.com/office/drawing/2014/main" id="{C4E0F8D1-8A48-4450-A64E-DA5113DC4B84}"/>
              </a:ext>
            </a:extLst>
          </p:cNvPr>
          <p:cNvPicPr>
            <a:picLocks noChangeAspect="1"/>
          </p:cNvPicPr>
          <p:nvPr/>
        </p:nvPicPr>
        <p:blipFill>
          <a:blip r:embed="rId5"/>
          <a:stretch>
            <a:fillRect/>
          </a:stretch>
        </p:blipFill>
        <p:spPr>
          <a:xfrm>
            <a:off x="1515414" y="3825058"/>
            <a:ext cx="2214974" cy="2824165"/>
          </a:xfrm>
          <a:prstGeom prst="rect">
            <a:avLst/>
          </a:prstGeom>
        </p:spPr>
      </p:pic>
      <p:pic>
        <p:nvPicPr>
          <p:cNvPr id="18" name="图片 17">
            <a:extLst>
              <a:ext uri="{FF2B5EF4-FFF2-40B4-BE49-F238E27FC236}">
                <a16:creationId xmlns:a16="http://schemas.microsoft.com/office/drawing/2014/main" id="{9F0F71BE-9FA3-6EF5-5794-BF9FF6F05912}"/>
              </a:ext>
            </a:extLst>
          </p:cNvPr>
          <p:cNvPicPr>
            <a:picLocks noChangeAspect="1"/>
          </p:cNvPicPr>
          <p:nvPr/>
        </p:nvPicPr>
        <p:blipFill>
          <a:blip r:embed="rId6"/>
          <a:stretch>
            <a:fillRect/>
          </a:stretch>
        </p:blipFill>
        <p:spPr>
          <a:xfrm>
            <a:off x="4031686" y="3968904"/>
            <a:ext cx="3164237" cy="2634874"/>
          </a:xfrm>
          <a:prstGeom prst="rect">
            <a:avLst/>
          </a:prstGeom>
        </p:spPr>
      </p:pic>
    </p:spTree>
    <p:extLst>
      <p:ext uri="{BB962C8B-B14F-4D97-AF65-F5344CB8AC3E}">
        <p14:creationId xmlns:p14="http://schemas.microsoft.com/office/powerpoint/2010/main" val="3354109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331B-57F5-2D94-1A52-61E54CA202A0}"/>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72368409-043F-169F-52A6-28F086ABF8C5}"/>
              </a:ext>
            </a:extLst>
          </p:cNvPr>
          <p:cNvSpPr txBox="1"/>
          <p:nvPr/>
        </p:nvSpPr>
        <p:spPr>
          <a:xfrm>
            <a:off x="2602920" y="895114"/>
            <a:ext cx="698620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数据分析方法和实现：相关性分析和可视化</a:t>
            </a:r>
          </a:p>
        </p:txBody>
      </p:sp>
      <p:sp>
        <p:nvSpPr>
          <p:cNvPr id="33" name="矩形 32">
            <a:extLst>
              <a:ext uri="{FF2B5EF4-FFF2-40B4-BE49-F238E27FC236}">
                <a16:creationId xmlns:a16="http://schemas.microsoft.com/office/drawing/2014/main" id="{32F10FC2-ACDA-4202-DAD0-BC80267F939A}"/>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1788B11-A753-B0C3-E319-390536894D89}"/>
              </a:ext>
            </a:extLst>
          </p:cNvPr>
          <p:cNvSpPr txBox="1"/>
          <p:nvPr/>
        </p:nvSpPr>
        <p:spPr>
          <a:xfrm>
            <a:off x="1203158" y="1620859"/>
            <a:ext cx="5944617" cy="1846659"/>
          </a:xfrm>
          <a:prstGeom prst="rect">
            <a:avLst/>
          </a:prstGeom>
          <a:noFill/>
        </p:spPr>
        <p:txBody>
          <a:bodyPr wrap="square" rtlCol="0">
            <a:spAutoFit/>
          </a:bodyPr>
          <a:lstStyle/>
          <a:p>
            <a:pPr marL="285750" indent="-285750">
              <a:buFont typeface="Arial" panose="020B0604020202020204" pitchFamily="34" charset="0"/>
              <a:buChar char="•"/>
            </a:pPr>
            <a:r>
              <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dirty="0"/>
              <a:t>用</a:t>
            </a:r>
            <a:r>
              <a:rPr kumimoji="1" lang="en-US" altLang="zh-CN" sz="1400" dirty="0" err="1"/>
              <a:t>sql</a:t>
            </a:r>
            <a:r>
              <a:rPr kumimoji="1" lang="zh-CN" altLang="en-US" sz="1400" dirty="0"/>
              <a:t>步计数和去重，然后用</a:t>
            </a:r>
            <a:r>
              <a:rPr kumimoji="1" lang="en-US" altLang="zh-CN" sz="1400" dirty="0" err="1"/>
              <a:t>sgplot</a:t>
            </a:r>
            <a:r>
              <a:rPr kumimoji="1" lang="zh-CN" altLang="en-US" sz="1400" dirty="0"/>
              <a:t>绘制共享单车使用次数和湿度、风速的关系</a:t>
            </a:r>
            <a:endParaRPr kumimoji="1" lang="en-US" altLang="zh-CN" sz="1400" dirty="0"/>
          </a:p>
          <a:p>
            <a:pPr marL="742950" lvl="1" indent="-285750">
              <a:buFont typeface="Arial" panose="020B0604020202020204" pitchFamily="34" charset="0"/>
              <a:buChar char="•"/>
            </a:pPr>
            <a:r>
              <a:rPr kumimoji="1" lang="zh-CN" altLang="en-US" sz="1400" dirty="0"/>
              <a:t>数据集</a:t>
            </a:r>
            <a:r>
              <a:rPr kumimoji="1" lang="en-US" altLang="zh-CN" sz="1400" dirty="0"/>
              <a:t>1</a:t>
            </a:r>
            <a:r>
              <a:rPr kumimoji="1" lang="zh-CN" altLang="en-US" sz="1400" dirty="0"/>
              <a:t>：湿度和风速；</a:t>
            </a:r>
            <a:endParaRPr kumimoji="1" lang="en-US" altLang="zh-CN" sz="1400" dirty="0"/>
          </a:p>
          <a:p>
            <a:pPr marL="742950" lvl="1" indent="-285750">
              <a:buFont typeface="Arial" panose="020B0604020202020204" pitchFamily="34" charset="0"/>
              <a:buChar char="•"/>
            </a:pPr>
            <a:r>
              <a:rPr lang="zh-CN" altLang="en-US" sz="1400" dirty="0">
                <a:solidFill>
                  <a:srgbClr val="191B1F"/>
                </a:solidFill>
                <a:latin typeface="-apple-system"/>
              </a:rPr>
              <a:t>湿度</a:t>
            </a:r>
            <a:r>
              <a:rPr lang="zh-CN" altLang="en-US" sz="1400" b="0" i="0" dirty="0">
                <a:solidFill>
                  <a:srgbClr val="191B1F"/>
                </a:solidFill>
                <a:effectLst/>
                <a:latin typeface="-apple-system"/>
              </a:rPr>
              <a:t>越高，用户使用率越高；湿度高于</a:t>
            </a:r>
            <a:r>
              <a:rPr lang="en-US" altLang="zh-CN" sz="1400" b="0" i="0" dirty="0">
                <a:solidFill>
                  <a:srgbClr val="191B1F"/>
                </a:solidFill>
                <a:effectLst/>
                <a:latin typeface="-apple-system"/>
              </a:rPr>
              <a:t>60</a:t>
            </a:r>
            <a:r>
              <a:rPr lang="zh-CN" altLang="en-US" sz="1400" b="0" i="0" dirty="0">
                <a:solidFill>
                  <a:srgbClr val="191B1F"/>
                </a:solidFill>
                <a:effectLst/>
                <a:latin typeface="-apple-system"/>
              </a:rPr>
              <a:t>后整体下降，出现大范围波动的情况，推测存在干扰数据，或者是由于不同湿度下出现阴雨天气的情况不同；</a:t>
            </a:r>
            <a:endParaRPr lang="en-US" altLang="zh-CN" sz="1400" b="0" i="0" dirty="0">
              <a:solidFill>
                <a:srgbClr val="191B1F"/>
              </a:solidFill>
              <a:effectLst/>
              <a:latin typeface="-apple-system"/>
            </a:endParaRPr>
          </a:p>
          <a:p>
            <a:pPr marL="742950" lvl="1" indent="-285750">
              <a:buFont typeface="Arial" panose="020B0604020202020204" pitchFamily="34" charset="0"/>
              <a:buChar char="•"/>
            </a:pPr>
            <a:r>
              <a:rPr lang="zh-CN" altLang="en-US" sz="1400" dirty="0">
                <a:solidFill>
                  <a:srgbClr val="191B1F"/>
                </a:solidFill>
                <a:latin typeface="-apple-system"/>
              </a:rPr>
              <a:t>风速越高，用户使用率越低，当风速高于</a:t>
            </a:r>
            <a:r>
              <a:rPr lang="en-US" altLang="zh-CN" sz="1400" dirty="0">
                <a:solidFill>
                  <a:srgbClr val="191B1F"/>
                </a:solidFill>
                <a:latin typeface="-apple-system"/>
              </a:rPr>
              <a:t>20</a:t>
            </a:r>
            <a:r>
              <a:rPr lang="zh-CN" altLang="en-US" sz="1400" dirty="0">
                <a:solidFill>
                  <a:srgbClr val="191B1F"/>
                </a:solidFill>
                <a:latin typeface="-apple-system"/>
              </a:rPr>
              <a:t>后出现大幅下降</a:t>
            </a:r>
            <a:endParaRPr lang="en-US" altLang="zh-CN" sz="1400" b="0" i="0" dirty="0">
              <a:solidFill>
                <a:srgbClr val="191B1F"/>
              </a:solidFill>
              <a:effectLst/>
              <a:latin typeface="-apple-system"/>
            </a:endParaRPr>
          </a:p>
        </p:txBody>
      </p:sp>
      <p:pic>
        <p:nvPicPr>
          <p:cNvPr id="4" name="图片 3">
            <a:extLst>
              <a:ext uri="{FF2B5EF4-FFF2-40B4-BE49-F238E27FC236}">
                <a16:creationId xmlns:a16="http://schemas.microsoft.com/office/drawing/2014/main" id="{1E9E6407-C626-C377-C161-09A01C2B4225}"/>
              </a:ext>
            </a:extLst>
          </p:cNvPr>
          <p:cNvPicPr>
            <a:picLocks noChangeAspect="1"/>
          </p:cNvPicPr>
          <p:nvPr/>
        </p:nvPicPr>
        <p:blipFill>
          <a:blip r:embed="rId3"/>
          <a:stretch>
            <a:fillRect/>
          </a:stretch>
        </p:blipFill>
        <p:spPr>
          <a:xfrm>
            <a:off x="4572701" y="3732852"/>
            <a:ext cx="3399322" cy="2571357"/>
          </a:xfrm>
          <a:prstGeom prst="rect">
            <a:avLst/>
          </a:prstGeom>
        </p:spPr>
      </p:pic>
      <p:pic>
        <p:nvPicPr>
          <p:cNvPr id="8" name="图片 7">
            <a:extLst>
              <a:ext uri="{FF2B5EF4-FFF2-40B4-BE49-F238E27FC236}">
                <a16:creationId xmlns:a16="http://schemas.microsoft.com/office/drawing/2014/main" id="{3A4A4674-F5AA-FB46-522A-7FBD117A5A69}"/>
              </a:ext>
            </a:extLst>
          </p:cNvPr>
          <p:cNvPicPr>
            <a:picLocks noChangeAspect="1"/>
          </p:cNvPicPr>
          <p:nvPr/>
        </p:nvPicPr>
        <p:blipFill>
          <a:blip r:embed="rId4"/>
          <a:stretch>
            <a:fillRect/>
          </a:stretch>
        </p:blipFill>
        <p:spPr>
          <a:xfrm>
            <a:off x="8322116" y="3623381"/>
            <a:ext cx="3436295" cy="2571357"/>
          </a:xfrm>
          <a:prstGeom prst="rect">
            <a:avLst/>
          </a:prstGeom>
        </p:spPr>
      </p:pic>
    </p:spTree>
    <p:extLst>
      <p:ext uri="{BB962C8B-B14F-4D97-AF65-F5344CB8AC3E}">
        <p14:creationId xmlns:p14="http://schemas.microsoft.com/office/powerpoint/2010/main" val="1157694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14AFA-0400-390E-B923-B7949CBC0128}"/>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580C948E-3E8A-D47C-E9AB-F93F6A12F45D}"/>
              </a:ext>
            </a:extLst>
          </p:cNvPr>
          <p:cNvSpPr txBox="1"/>
          <p:nvPr/>
        </p:nvSpPr>
        <p:spPr>
          <a:xfrm>
            <a:off x="2602920" y="895114"/>
            <a:ext cx="698620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数据分析方法和实现：相关性分析和可视化</a:t>
            </a:r>
          </a:p>
        </p:txBody>
      </p:sp>
      <p:sp>
        <p:nvSpPr>
          <p:cNvPr id="33" name="矩形 32">
            <a:extLst>
              <a:ext uri="{FF2B5EF4-FFF2-40B4-BE49-F238E27FC236}">
                <a16:creationId xmlns:a16="http://schemas.microsoft.com/office/drawing/2014/main" id="{95811B7D-B780-E946-AA11-F88A960117D9}"/>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595D169-A2FD-F596-5232-0A1B9E4D1C1C}"/>
              </a:ext>
            </a:extLst>
          </p:cNvPr>
          <p:cNvSpPr txBox="1"/>
          <p:nvPr/>
        </p:nvSpPr>
        <p:spPr>
          <a:xfrm>
            <a:off x="1203158" y="1620859"/>
            <a:ext cx="5944617" cy="1569660"/>
          </a:xfrm>
          <a:prstGeom prst="rect">
            <a:avLst/>
          </a:prstGeom>
          <a:noFill/>
        </p:spPr>
        <p:txBody>
          <a:bodyPr wrap="square" rtlCol="0">
            <a:spAutoFit/>
          </a:bodyPr>
          <a:lstStyle/>
          <a:p>
            <a:pPr marL="285750" indent="-285750">
              <a:buFont typeface="Arial" panose="020B0604020202020204" pitchFamily="34" charset="0"/>
              <a:buChar char="•"/>
            </a:pPr>
            <a:r>
              <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用</a:t>
            </a:r>
            <a:r>
              <a:rPr lang="en-US" altLang="zh-CN" sz="1600" kern="100" dirty="0" err="1">
                <a:latin typeface="Calibri" panose="020F0502020204030204" pitchFamily="34" charset="0"/>
                <a:ea typeface="宋体" panose="02010600030101010101" pitchFamily="2" charset="-122"/>
                <a:cs typeface="Times New Roman" panose="02020603050405020304" pitchFamily="18" charset="0"/>
              </a:rPr>
              <a:t>sgplot</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步的</a:t>
            </a:r>
            <a:r>
              <a:rPr lang="en-US" altLang="zh-CN" sz="1600" kern="100" dirty="0" err="1">
                <a:latin typeface="Calibri" panose="020F0502020204030204" pitchFamily="34" charset="0"/>
                <a:ea typeface="宋体" panose="02010600030101010101" pitchFamily="2" charset="-122"/>
                <a:cs typeface="Times New Roman" panose="02020603050405020304" pitchFamily="18" charset="0"/>
              </a:rPr>
              <a:t>vbox</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绘制数据集</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1</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的</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count</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变量相对</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season</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weather</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a:t>
            </a:r>
            <a:r>
              <a:rPr lang="en-US" altLang="zh-CN" sz="1600" kern="100" dirty="0" err="1">
                <a:latin typeface="Calibri" panose="020F0502020204030204" pitchFamily="34" charset="0"/>
                <a:ea typeface="宋体" panose="02010600030101010101" pitchFamily="2" charset="-122"/>
                <a:cs typeface="Times New Roman" panose="02020603050405020304" pitchFamily="18" charset="0"/>
              </a:rPr>
              <a:t>weekday_no</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的箱线图</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b="0" i="0" dirty="0">
                <a:solidFill>
                  <a:srgbClr val="191B1F"/>
                </a:solidFill>
                <a:effectLst/>
                <a:latin typeface="-apple-system"/>
              </a:rPr>
              <a:t>夏季、秋季使用人数较多。春季使用人数最少。</a:t>
            </a:r>
            <a:endParaRPr lang="en-US" altLang="zh-CN" sz="1600" b="0" i="0" kern="100" dirty="0">
              <a:solidFill>
                <a:srgbClr val="191B1F"/>
              </a:solidFill>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b="0" i="0" dirty="0">
                <a:solidFill>
                  <a:srgbClr val="191B1F"/>
                </a:solidFill>
                <a:effectLst/>
                <a:latin typeface="-apple-system"/>
              </a:rPr>
              <a:t>天气越好，使用人数越多，</a:t>
            </a:r>
            <a:r>
              <a:rPr lang="zh-CN" altLang="en-US" sz="1600" dirty="0">
                <a:solidFill>
                  <a:srgbClr val="191B1F"/>
                </a:solidFill>
                <a:latin typeface="-apple-system"/>
              </a:rPr>
              <a:t>天气越差，使用人数越少，</a:t>
            </a:r>
            <a:r>
              <a:rPr lang="zh-CN" altLang="en-US" sz="1600" b="0" i="0" dirty="0">
                <a:solidFill>
                  <a:srgbClr val="191B1F"/>
                </a:solidFill>
                <a:effectLst/>
                <a:latin typeface="-apple-system"/>
              </a:rPr>
              <a:t>大雨、大雪等极端天气下几乎没有用户使用。</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0910C4ED-3CF0-C4E1-9984-3637E07338BB}"/>
              </a:ext>
            </a:extLst>
          </p:cNvPr>
          <p:cNvPicPr>
            <a:picLocks noChangeAspect="1"/>
          </p:cNvPicPr>
          <p:nvPr/>
        </p:nvPicPr>
        <p:blipFill>
          <a:blip r:embed="rId3"/>
          <a:stretch>
            <a:fillRect/>
          </a:stretch>
        </p:blipFill>
        <p:spPr>
          <a:xfrm>
            <a:off x="4588761" y="3444859"/>
            <a:ext cx="3476762" cy="2580014"/>
          </a:xfrm>
          <a:prstGeom prst="rect">
            <a:avLst/>
          </a:prstGeom>
        </p:spPr>
      </p:pic>
      <p:pic>
        <p:nvPicPr>
          <p:cNvPr id="7" name="图片 6">
            <a:extLst>
              <a:ext uri="{FF2B5EF4-FFF2-40B4-BE49-F238E27FC236}">
                <a16:creationId xmlns:a16="http://schemas.microsoft.com/office/drawing/2014/main" id="{72028C0C-D9E4-8D72-CC45-4671B3716B7E}"/>
              </a:ext>
            </a:extLst>
          </p:cNvPr>
          <p:cNvPicPr>
            <a:picLocks noChangeAspect="1"/>
          </p:cNvPicPr>
          <p:nvPr/>
        </p:nvPicPr>
        <p:blipFill>
          <a:blip r:embed="rId4"/>
          <a:stretch>
            <a:fillRect/>
          </a:stretch>
        </p:blipFill>
        <p:spPr>
          <a:xfrm>
            <a:off x="536762" y="3409361"/>
            <a:ext cx="3468526" cy="2615512"/>
          </a:xfrm>
          <a:prstGeom prst="rect">
            <a:avLst/>
          </a:prstGeom>
        </p:spPr>
      </p:pic>
      <p:pic>
        <p:nvPicPr>
          <p:cNvPr id="10" name="图片 9">
            <a:extLst>
              <a:ext uri="{FF2B5EF4-FFF2-40B4-BE49-F238E27FC236}">
                <a16:creationId xmlns:a16="http://schemas.microsoft.com/office/drawing/2014/main" id="{125B587C-C5DF-69C4-FCC1-3415A418975C}"/>
              </a:ext>
            </a:extLst>
          </p:cNvPr>
          <p:cNvPicPr>
            <a:picLocks noChangeAspect="1"/>
          </p:cNvPicPr>
          <p:nvPr/>
        </p:nvPicPr>
        <p:blipFill>
          <a:blip r:embed="rId5"/>
          <a:stretch>
            <a:fillRect/>
          </a:stretch>
        </p:blipFill>
        <p:spPr>
          <a:xfrm>
            <a:off x="8531166" y="3506847"/>
            <a:ext cx="3285058" cy="2456039"/>
          </a:xfrm>
          <a:prstGeom prst="rect">
            <a:avLst/>
          </a:prstGeom>
        </p:spPr>
      </p:pic>
    </p:spTree>
    <p:extLst>
      <p:ext uri="{BB962C8B-B14F-4D97-AF65-F5344CB8AC3E}">
        <p14:creationId xmlns:p14="http://schemas.microsoft.com/office/powerpoint/2010/main" val="1411145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E5A86-6624-B5DE-F9E4-00E587E0C113}"/>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E84768C6-EA8E-E892-BA4D-CA5D2626092B}"/>
              </a:ext>
            </a:extLst>
          </p:cNvPr>
          <p:cNvSpPr txBox="1"/>
          <p:nvPr/>
        </p:nvSpPr>
        <p:spPr>
          <a:xfrm>
            <a:off x="2602920" y="895114"/>
            <a:ext cx="698620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数据分析方法和实现：相关性分析和可视化</a:t>
            </a:r>
          </a:p>
        </p:txBody>
      </p:sp>
      <p:sp>
        <p:nvSpPr>
          <p:cNvPr id="33" name="矩形 32">
            <a:extLst>
              <a:ext uri="{FF2B5EF4-FFF2-40B4-BE49-F238E27FC236}">
                <a16:creationId xmlns:a16="http://schemas.microsoft.com/office/drawing/2014/main" id="{8BA0FF6B-5DC8-C8BD-6C26-5225241B8305}"/>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D9B0B18D-A0F5-5398-1DD2-A1C17BAFDF82}"/>
              </a:ext>
            </a:extLst>
          </p:cNvPr>
          <p:cNvSpPr txBox="1"/>
          <p:nvPr/>
        </p:nvSpPr>
        <p:spPr>
          <a:xfrm>
            <a:off x="1203158" y="1620859"/>
            <a:ext cx="10201084" cy="1384995"/>
          </a:xfrm>
          <a:prstGeom prst="rect">
            <a:avLst/>
          </a:prstGeom>
          <a:noFill/>
        </p:spPr>
        <p:txBody>
          <a:bodyPr wrap="square" rtlCol="0">
            <a:spAutoFit/>
          </a:bodyPr>
          <a:lstStyle/>
          <a:p>
            <a:pPr marL="285750" indent="-285750">
              <a:buFont typeface="Arial" panose="020B0604020202020204" pitchFamily="34" charset="0"/>
              <a:buChar char="•"/>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用</a:t>
            </a:r>
            <a:r>
              <a:rPr lang="en-US" altLang="zh-CN" sz="1400" kern="100" dirty="0" err="1">
                <a:latin typeface="Calibri" panose="020F0502020204030204" pitchFamily="34" charset="0"/>
                <a:ea typeface="宋体" panose="02010600030101010101" pitchFamily="2" charset="-122"/>
                <a:cs typeface="Times New Roman" panose="02020603050405020304" pitchFamily="18" charset="0"/>
              </a:rPr>
              <a:t>sql</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步整合不同</a:t>
            </a:r>
            <a:r>
              <a:rPr lang="en-US" altLang="zh-CN" sz="1400" kern="100" dirty="0" err="1">
                <a:latin typeface="Calibri" panose="020F0502020204030204" pitchFamily="34" charset="0"/>
                <a:ea typeface="宋体" panose="02010600030101010101" pitchFamily="2" charset="-122"/>
                <a:cs typeface="Times New Roman" panose="02020603050405020304" pitchFamily="18" charset="0"/>
              </a:rPr>
              <a:t>weekday_no</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和</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hour</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数据，然后分别归并折现，用</a:t>
            </a:r>
            <a:r>
              <a:rPr lang="en-US" altLang="zh-CN" sz="1400" kern="100" dirty="0" err="1">
                <a:latin typeface="Calibri" panose="020F0502020204030204" pitchFamily="34" charset="0"/>
                <a:ea typeface="宋体" panose="02010600030101010101" pitchFamily="2" charset="-122"/>
                <a:cs typeface="Times New Roman" panose="02020603050405020304" pitchFamily="18" charset="0"/>
              </a:rPr>
              <a:t>sgplot</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步做一周中不同天</a:t>
            </a:r>
            <a:r>
              <a:rPr lang="en-US" altLang="zh-CN" sz="1400" kern="100" dirty="0">
                <a:latin typeface="Calibri" panose="020F0502020204030204" pitchFamily="34" charset="0"/>
                <a:ea typeface="宋体" panose="02010600030101010101" pitchFamily="2" charset="-122"/>
                <a:cs typeface="Times New Roman" panose="02020603050405020304" pitchFamily="18" charset="0"/>
              </a:rPr>
              <a:t>24</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小时的单车使用量情况</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周六周日租赁集中在在下午</a:t>
            </a:r>
          </a:p>
          <a:p>
            <a:pPr marL="1200150" lvl="2"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周一到周五租赁的集中在上下班高峰期。</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按照月份看，春季租赁逐渐上升，夏季达到最高水平，秋季逐渐下降，冬季最低</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effectLst/>
                <a:latin typeface="Calibri" panose="020F0502020204030204" pitchFamily="34" charset="0"/>
                <a:ea typeface="宋体" panose="02010600030101010101" pitchFamily="2" charset="-122"/>
                <a:cs typeface="Times New Roman" panose="02020603050405020304" pitchFamily="18" charset="0"/>
              </a:rPr>
              <a:t>一年中不同月份的单车使用量</a:t>
            </a:r>
            <a:endPar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B163D584-862D-983C-4F76-503CFC81ABFA}"/>
              </a:ext>
            </a:extLst>
          </p:cNvPr>
          <p:cNvPicPr>
            <a:picLocks noChangeAspect="1"/>
          </p:cNvPicPr>
          <p:nvPr/>
        </p:nvPicPr>
        <p:blipFill>
          <a:blip r:embed="rId3"/>
          <a:stretch>
            <a:fillRect/>
          </a:stretch>
        </p:blipFill>
        <p:spPr>
          <a:xfrm>
            <a:off x="6262331" y="3132434"/>
            <a:ext cx="3982813" cy="3007569"/>
          </a:xfrm>
          <a:prstGeom prst="rect">
            <a:avLst/>
          </a:prstGeom>
        </p:spPr>
      </p:pic>
      <p:pic>
        <p:nvPicPr>
          <p:cNvPr id="8" name="图片 7">
            <a:extLst>
              <a:ext uri="{FF2B5EF4-FFF2-40B4-BE49-F238E27FC236}">
                <a16:creationId xmlns:a16="http://schemas.microsoft.com/office/drawing/2014/main" id="{94F1E9BC-8361-7F7D-8DC5-01974E84F320}"/>
              </a:ext>
            </a:extLst>
          </p:cNvPr>
          <p:cNvPicPr>
            <a:picLocks noChangeAspect="1"/>
          </p:cNvPicPr>
          <p:nvPr/>
        </p:nvPicPr>
        <p:blipFill>
          <a:blip r:embed="rId4"/>
          <a:stretch>
            <a:fillRect/>
          </a:stretch>
        </p:blipFill>
        <p:spPr>
          <a:xfrm>
            <a:off x="1378915" y="3052292"/>
            <a:ext cx="4286531" cy="3258355"/>
          </a:xfrm>
          <a:prstGeom prst="rect">
            <a:avLst/>
          </a:prstGeom>
        </p:spPr>
      </p:pic>
    </p:spTree>
    <p:extLst>
      <p:ext uri="{BB962C8B-B14F-4D97-AF65-F5344CB8AC3E}">
        <p14:creationId xmlns:p14="http://schemas.microsoft.com/office/powerpoint/2010/main" val="2426915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BC9-5315-F99E-C6A8-CCC537894855}"/>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4C7909F9-DAD3-BF38-69D8-ED361F0E7537}"/>
              </a:ext>
            </a:extLst>
          </p:cNvPr>
          <p:cNvSpPr txBox="1"/>
          <p:nvPr/>
        </p:nvSpPr>
        <p:spPr>
          <a:xfrm>
            <a:off x="3310648" y="895114"/>
            <a:ext cx="5570756"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数据分析方法和实现：有趣的发现</a:t>
            </a:r>
          </a:p>
        </p:txBody>
      </p:sp>
      <p:sp>
        <p:nvSpPr>
          <p:cNvPr id="33" name="矩形 32">
            <a:extLst>
              <a:ext uri="{FF2B5EF4-FFF2-40B4-BE49-F238E27FC236}">
                <a16:creationId xmlns:a16="http://schemas.microsoft.com/office/drawing/2014/main" id="{B1813879-03EE-57CD-B1D6-94F8954319F0}"/>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33FD3E2F-4A36-F467-A687-8FCD997B601E}"/>
              </a:ext>
            </a:extLst>
          </p:cNvPr>
          <p:cNvSpPr txBox="1"/>
          <p:nvPr/>
        </p:nvSpPr>
        <p:spPr>
          <a:xfrm>
            <a:off x="1834222" y="1613118"/>
            <a:ext cx="7953721" cy="1815882"/>
          </a:xfrm>
          <a:prstGeom prst="rect">
            <a:avLst/>
          </a:prstGeom>
          <a:noFill/>
        </p:spPr>
        <p:txBody>
          <a:bodyPr wrap="square" rtlCol="0">
            <a:spAutoFit/>
          </a:bodyPr>
          <a:lstStyle/>
          <a:p>
            <a:pPr marL="285750" indent="-285750">
              <a:buFont typeface="Arial" panose="020B0604020202020204" pitchFamily="34" charset="0"/>
              <a:buChar char="•"/>
            </a:pPr>
            <a:r>
              <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类似地，用</a:t>
            </a:r>
            <a:r>
              <a:rPr lang="en-US" altLang="zh-CN" sz="1400" kern="100" dirty="0" err="1">
                <a:latin typeface="Calibri" panose="020F0502020204030204" pitchFamily="34" charset="0"/>
                <a:ea typeface="宋体" panose="02010600030101010101" pitchFamily="2" charset="-122"/>
                <a:cs typeface="Times New Roman" panose="02020603050405020304" pitchFamily="18" charset="0"/>
              </a:rPr>
              <a:t>sql</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和</a:t>
            </a:r>
            <a:r>
              <a:rPr lang="en-US" altLang="zh-CN" sz="1400" kern="100" dirty="0" err="1">
                <a:latin typeface="Calibri" panose="020F0502020204030204" pitchFamily="34" charset="0"/>
                <a:ea typeface="宋体" panose="02010600030101010101" pitchFamily="2" charset="-122"/>
                <a:cs typeface="Times New Roman" panose="02020603050405020304" pitchFamily="18" charset="0"/>
              </a:rPr>
              <a:t>sgplot</a:t>
            </a: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步做注册用户和非注册用户一天内的的租赁分布分析</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在周六和周日，两类用户租赁数都集中在白天；</a:t>
            </a: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在周一到周五， 注册用户使用时间集中在上下班高峰期；非注册用户使用时间集中在白天</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在注册和非注册会员的使用分布上，两个数据集展现了一致的规律</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可能部分用户因为自己需要高强度上下班，因此选择注册成为长期会员；反之没有这类需求的客户则不需要这么做</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kern="100" dirty="0">
                <a:latin typeface="Calibri" panose="020F0502020204030204" pitchFamily="34" charset="0"/>
                <a:ea typeface="宋体" panose="02010600030101010101" pitchFamily="2" charset="-122"/>
                <a:cs typeface="Times New Roman" panose="02020603050405020304" pitchFamily="18" charset="0"/>
              </a:rPr>
              <a:t>当然另一种解释是共享单车的注册用户为了更多的利益会更多地养成按时骑车上班的习惯</a:t>
            </a:r>
            <a:endParaRPr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3377F7CD-ED3C-4E5E-7ABA-66C5DB24E2C3}"/>
              </a:ext>
            </a:extLst>
          </p:cNvPr>
          <p:cNvPicPr>
            <a:picLocks noChangeAspect="1"/>
          </p:cNvPicPr>
          <p:nvPr/>
        </p:nvPicPr>
        <p:blipFill>
          <a:blip r:embed="rId3"/>
          <a:stretch>
            <a:fillRect/>
          </a:stretch>
        </p:blipFill>
        <p:spPr>
          <a:xfrm>
            <a:off x="4358694" y="3480774"/>
            <a:ext cx="3709920" cy="2785617"/>
          </a:xfrm>
          <a:prstGeom prst="rect">
            <a:avLst/>
          </a:prstGeom>
        </p:spPr>
      </p:pic>
      <p:pic>
        <p:nvPicPr>
          <p:cNvPr id="5" name="图片 4">
            <a:extLst>
              <a:ext uri="{FF2B5EF4-FFF2-40B4-BE49-F238E27FC236}">
                <a16:creationId xmlns:a16="http://schemas.microsoft.com/office/drawing/2014/main" id="{B16A32F9-9E07-D3EB-D12E-09700C45AFFE}"/>
              </a:ext>
            </a:extLst>
          </p:cNvPr>
          <p:cNvPicPr>
            <a:picLocks noChangeAspect="1"/>
          </p:cNvPicPr>
          <p:nvPr/>
        </p:nvPicPr>
        <p:blipFill>
          <a:blip r:embed="rId4"/>
          <a:stretch>
            <a:fillRect/>
          </a:stretch>
        </p:blipFill>
        <p:spPr>
          <a:xfrm>
            <a:off x="8189437" y="3477319"/>
            <a:ext cx="3709919" cy="2771303"/>
          </a:xfrm>
          <a:prstGeom prst="rect">
            <a:avLst/>
          </a:prstGeom>
        </p:spPr>
      </p:pic>
      <p:pic>
        <p:nvPicPr>
          <p:cNvPr id="7" name="图片 6">
            <a:extLst>
              <a:ext uri="{FF2B5EF4-FFF2-40B4-BE49-F238E27FC236}">
                <a16:creationId xmlns:a16="http://schemas.microsoft.com/office/drawing/2014/main" id="{93FED726-C4BE-D282-6A82-A0A5D2C9BA16}"/>
              </a:ext>
            </a:extLst>
          </p:cNvPr>
          <p:cNvPicPr>
            <a:picLocks noChangeAspect="1"/>
          </p:cNvPicPr>
          <p:nvPr/>
        </p:nvPicPr>
        <p:blipFill>
          <a:blip r:embed="rId5"/>
          <a:stretch>
            <a:fillRect/>
          </a:stretch>
        </p:blipFill>
        <p:spPr>
          <a:xfrm>
            <a:off x="753735" y="4114798"/>
            <a:ext cx="3261585" cy="1496343"/>
          </a:xfrm>
          <a:prstGeom prst="rect">
            <a:avLst/>
          </a:prstGeom>
        </p:spPr>
      </p:pic>
    </p:spTree>
    <p:extLst>
      <p:ext uri="{BB962C8B-B14F-4D97-AF65-F5344CB8AC3E}">
        <p14:creationId xmlns:p14="http://schemas.microsoft.com/office/powerpoint/2010/main" val="2809956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CD03F-ED8F-8DFE-B7ED-46B6109229D4}"/>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B4853537-4055-7D28-BAA0-EE7877D48A91}"/>
              </a:ext>
            </a:extLst>
          </p:cNvPr>
          <p:cNvSpPr txBox="1"/>
          <p:nvPr/>
        </p:nvSpPr>
        <p:spPr>
          <a:xfrm>
            <a:off x="3490182" y="895114"/>
            <a:ext cx="5211683"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数据分析方法和实现：线性回归</a:t>
            </a:r>
          </a:p>
        </p:txBody>
      </p:sp>
      <p:sp>
        <p:nvSpPr>
          <p:cNvPr id="33" name="矩形 32">
            <a:extLst>
              <a:ext uri="{FF2B5EF4-FFF2-40B4-BE49-F238E27FC236}">
                <a16:creationId xmlns:a16="http://schemas.microsoft.com/office/drawing/2014/main" id="{886FA004-1E56-F9A3-F830-0AB961167BB2}"/>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9F8D92EE-7F12-B0DA-C560-3879A7C10F26}"/>
              </a:ext>
            </a:extLst>
          </p:cNvPr>
          <p:cNvSpPr txBox="1"/>
          <p:nvPr/>
        </p:nvSpPr>
        <p:spPr>
          <a:xfrm>
            <a:off x="1167777" y="1615651"/>
            <a:ext cx="4531895" cy="3416320"/>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使用</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reg</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步对共享单车租用数据做线性回归</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用</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count</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为因变量，其他观测变量为自变量，共</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8</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个自由度</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得到结果</a:t>
            </a:r>
            <a:r>
              <a:rPr kumimoji="1" lang="en-US" altLang="zh-CN" kern="100" dirty="0" err="1">
                <a:latin typeface="Calibri" panose="020F0502020204030204" pitchFamily="34" charset="0"/>
                <a:ea typeface="宋体" panose="02010600030101010101" pitchFamily="2" charset="-122"/>
                <a:cs typeface="Times New Roman" panose="02020603050405020304" pitchFamily="18" charset="0"/>
              </a:rPr>
              <a:t>Pr</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&gt;F</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概率</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&lt;0.001</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，基本符合预期，计算得到的参数可用于预测</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主要不足：均方根误差较大，主要原因为参数估计上</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season windspeed</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等</a:t>
            </a:r>
            <a:r>
              <a:rPr kumimoji="1" lang="en-US" altLang="zh-CN" kern="100" dirty="0" err="1">
                <a:latin typeface="Calibri" panose="020F0502020204030204" pitchFamily="34" charset="0"/>
                <a:ea typeface="宋体" panose="02010600030101010101" pitchFamily="2" charset="-122"/>
                <a:cs typeface="Times New Roman" panose="02020603050405020304" pitchFamily="18" charset="0"/>
              </a:rPr>
              <a:t>Pr</a:t>
            </a:r>
            <a:r>
              <a:rPr kumimoji="1" lang="en-US" altLang="zh-CN" kern="100" dirty="0">
                <a:latin typeface="Calibri" panose="020F0502020204030204" pitchFamily="34" charset="0"/>
                <a:ea typeface="宋体" panose="02010600030101010101" pitchFamily="2" charset="-122"/>
                <a:cs typeface="Times New Roman" panose="02020603050405020304" pitchFamily="18" charset="0"/>
              </a:rPr>
              <a:t>&gt;t</a:t>
            </a: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的水平不足</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kern="100" dirty="0">
                <a:latin typeface="Calibri" panose="020F0502020204030204" pitchFamily="34" charset="0"/>
                <a:ea typeface="宋体" panose="02010600030101010101" pitchFamily="2" charset="-122"/>
                <a:cs typeface="Times New Roman" panose="02020603050405020304" pitchFamily="18" charset="0"/>
              </a:rPr>
              <a:t>简单的线性回归在变量数量较多时无法区分不同变量反映信息的质量</a:t>
            </a: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3993FCC9-DF4E-4BEC-94BC-D96F8FA75E6D}"/>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03BA9EBB-B849-694B-D7BF-DFCC47B9A566}"/>
              </a:ext>
            </a:extLst>
          </p:cNvPr>
          <p:cNvPicPr>
            <a:picLocks noChangeAspect="1"/>
          </p:cNvPicPr>
          <p:nvPr/>
        </p:nvPicPr>
        <p:blipFill>
          <a:blip r:embed="rId3"/>
          <a:stretch>
            <a:fillRect/>
          </a:stretch>
        </p:blipFill>
        <p:spPr>
          <a:xfrm>
            <a:off x="870485" y="5031971"/>
            <a:ext cx="5838234" cy="847306"/>
          </a:xfrm>
          <a:prstGeom prst="rect">
            <a:avLst/>
          </a:prstGeom>
        </p:spPr>
      </p:pic>
      <p:pic>
        <p:nvPicPr>
          <p:cNvPr id="7" name="图片 6">
            <a:extLst>
              <a:ext uri="{FF2B5EF4-FFF2-40B4-BE49-F238E27FC236}">
                <a16:creationId xmlns:a16="http://schemas.microsoft.com/office/drawing/2014/main" id="{1A75BCD5-1055-D692-BA69-BB8D31560F02}"/>
              </a:ext>
            </a:extLst>
          </p:cNvPr>
          <p:cNvPicPr>
            <a:picLocks noChangeAspect="1"/>
          </p:cNvPicPr>
          <p:nvPr/>
        </p:nvPicPr>
        <p:blipFill>
          <a:blip r:embed="rId4"/>
          <a:stretch>
            <a:fillRect/>
          </a:stretch>
        </p:blipFill>
        <p:spPr>
          <a:xfrm>
            <a:off x="4884896" y="5571657"/>
            <a:ext cx="7109384" cy="607005"/>
          </a:xfrm>
          <a:prstGeom prst="rect">
            <a:avLst/>
          </a:prstGeom>
        </p:spPr>
      </p:pic>
      <p:pic>
        <p:nvPicPr>
          <p:cNvPr id="9" name="图片 8">
            <a:extLst>
              <a:ext uri="{FF2B5EF4-FFF2-40B4-BE49-F238E27FC236}">
                <a16:creationId xmlns:a16="http://schemas.microsoft.com/office/drawing/2014/main" id="{78E97E53-A7D6-E137-51FB-A937DB229404}"/>
              </a:ext>
            </a:extLst>
          </p:cNvPr>
          <p:cNvPicPr>
            <a:picLocks noChangeAspect="1"/>
          </p:cNvPicPr>
          <p:nvPr/>
        </p:nvPicPr>
        <p:blipFill>
          <a:blip r:embed="rId5"/>
          <a:stretch>
            <a:fillRect/>
          </a:stretch>
        </p:blipFill>
        <p:spPr>
          <a:xfrm>
            <a:off x="6889964" y="2156317"/>
            <a:ext cx="2196081" cy="2511663"/>
          </a:xfrm>
          <a:prstGeom prst="rect">
            <a:avLst/>
          </a:prstGeom>
        </p:spPr>
      </p:pic>
      <p:pic>
        <p:nvPicPr>
          <p:cNvPr id="11" name="图片 10">
            <a:extLst>
              <a:ext uri="{FF2B5EF4-FFF2-40B4-BE49-F238E27FC236}">
                <a16:creationId xmlns:a16="http://schemas.microsoft.com/office/drawing/2014/main" id="{484B7282-65A2-88D5-9CE6-004CD6CCA3A2}"/>
              </a:ext>
            </a:extLst>
          </p:cNvPr>
          <p:cNvPicPr>
            <a:picLocks noChangeAspect="1"/>
          </p:cNvPicPr>
          <p:nvPr/>
        </p:nvPicPr>
        <p:blipFill>
          <a:blip r:embed="rId6"/>
          <a:stretch>
            <a:fillRect/>
          </a:stretch>
        </p:blipFill>
        <p:spPr>
          <a:xfrm>
            <a:off x="9474291" y="1706115"/>
            <a:ext cx="2584328" cy="3445770"/>
          </a:xfrm>
          <a:prstGeom prst="rect">
            <a:avLst/>
          </a:prstGeom>
        </p:spPr>
      </p:pic>
    </p:spTree>
    <p:extLst>
      <p:ext uri="{BB962C8B-B14F-4D97-AF65-F5344CB8AC3E}">
        <p14:creationId xmlns:p14="http://schemas.microsoft.com/office/powerpoint/2010/main" val="4269425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9B5EE-B4AB-B533-E397-DE3B8CE2E065}"/>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8A1CD9B5-177C-A30F-EDA5-15F21FF21211}"/>
              </a:ext>
            </a:extLst>
          </p:cNvPr>
          <p:cNvSpPr txBox="1"/>
          <p:nvPr/>
        </p:nvSpPr>
        <p:spPr>
          <a:xfrm>
            <a:off x="2412965" y="895114"/>
            <a:ext cx="7366119"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数据分析方法和实现：线性回归（逐步回归）</a:t>
            </a:r>
          </a:p>
        </p:txBody>
      </p:sp>
      <p:sp>
        <p:nvSpPr>
          <p:cNvPr id="33" name="矩形 32">
            <a:extLst>
              <a:ext uri="{FF2B5EF4-FFF2-40B4-BE49-F238E27FC236}">
                <a16:creationId xmlns:a16="http://schemas.microsoft.com/office/drawing/2014/main" id="{8083CC8E-0A38-1D33-1AD8-91FB29DD7148}"/>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7AA4C11D-388C-F5CE-CE7F-D893FAE4ACA0}"/>
              </a:ext>
            </a:extLst>
          </p:cNvPr>
          <p:cNvSpPr txBox="1"/>
          <p:nvPr/>
        </p:nvSpPr>
        <p:spPr>
          <a:xfrm>
            <a:off x="1203158" y="1620859"/>
            <a:ext cx="4531895" cy="3816429"/>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reg</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步进行线性分析</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不同地，使用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selection=stepwise</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的配置替换为逐步回归</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dirty="0"/>
              <a:t>除了</a:t>
            </a:r>
            <a:r>
              <a:rPr kumimoji="1" lang="en-US" altLang="zh-CN" sz="1600" dirty="0"/>
              <a:t>stepwise</a:t>
            </a:r>
            <a:r>
              <a:rPr kumimoji="1" lang="zh-CN" altLang="en-US" sz="1600" dirty="0"/>
              <a:t>之外</a:t>
            </a:r>
            <a:r>
              <a:rPr kumimoji="1" lang="en-US" altLang="zh-CN" sz="1600" dirty="0" err="1"/>
              <a:t>sas</a:t>
            </a:r>
            <a:r>
              <a:rPr kumimoji="1" lang="zh-CN" altLang="en-US" sz="1600" dirty="0"/>
              <a:t>还提供了其他几种变量选择建模</a:t>
            </a:r>
            <a:endParaRPr kumimoji="1" lang="en-US" altLang="zh-CN" sz="1600" dirty="0"/>
          </a:p>
          <a:p>
            <a:pPr marL="1200150" lvl="2" indent="-285750">
              <a:buFont typeface="Arial" panose="020B0604020202020204" pitchFamily="34" charset="0"/>
              <a:buChar char="•"/>
            </a:pPr>
            <a:r>
              <a:rPr kumimoji="1" lang="en-US" altLang="zh-CN" sz="1600" dirty="0"/>
              <a:t>forward——</a:t>
            </a:r>
            <a:r>
              <a:rPr kumimoji="1" lang="zh-CN" altLang="en-US" sz="1600" dirty="0"/>
              <a:t>前进法</a:t>
            </a:r>
          </a:p>
          <a:p>
            <a:pPr marL="1200150" lvl="2" indent="-285750">
              <a:buFont typeface="Arial" panose="020B0604020202020204" pitchFamily="34" charset="0"/>
              <a:buChar char="•"/>
            </a:pPr>
            <a:r>
              <a:rPr kumimoji="1" lang="en-US" altLang="zh-CN" sz="1600" dirty="0"/>
              <a:t>backward——</a:t>
            </a:r>
            <a:r>
              <a:rPr kumimoji="1" lang="zh-CN" altLang="en-US" sz="1600" dirty="0"/>
              <a:t>后退法</a:t>
            </a:r>
            <a:endParaRPr kumimoji="1" lang="en-US" altLang="zh-CN" sz="1600" dirty="0"/>
          </a:p>
          <a:p>
            <a:pPr marL="1200150" lvl="2" indent="-285750">
              <a:buFont typeface="Arial" panose="020B0604020202020204" pitchFamily="34" charset="0"/>
              <a:buChar char="•"/>
            </a:pPr>
            <a:r>
              <a:rPr kumimoji="1" lang="en-US" altLang="zh-CN" sz="1600" dirty="0" err="1"/>
              <a:t>maxr</a:t>
            </a:r>
            <a:r>
              <a:rPr kumimoji="1" lang="en-US" altLang="zh-CN" sz="1600" dirty="0"/>
              <a:t>——</a:t>
            </a:r>
            <a:r>
              <a:rPr kumimoji="1" lang="zh-CN" altLang="en-US" sz="1600" dirty="0"/>
              <a:t>最大</a:t>
            </a:r>
            <a:r>
              <a:rPr kumimoji="1" lang="en-US" altLang="zh-CN" sz="1600" dirty="0"/>
              <a:t>R2</a:t>
            </a:r>
            <a:r>
              <a:rPr kumimoji="1" lang="zh-CN" altLang="en-US" sz="1600" dirty="0"/>
              <a:t>增量法</a:t>
            </a:r>
          </a:p>
          <a:p>
            <a:pPr marL="1200150" lvl="2" indent="-285750">
              <a:buFont typeface="Arial" panose="020B0604020202020204" pitchFamily="34" charset="0"/>
              <a:buChar char="•"/>
            </a:pPr>
            <a:r>
              <a:rPr kumimoji="1" lang="en-US" altLang="zh-CN" sz="1600" dirty="0" err="1"/>
              <a:t>rsquare</a:t>
            </a:r>
            <a:r>
              <a:rPr kumimoji="1" lang="en-US" altLang="zh-CN" sz="1600" dirty="0"/>
              <a:t>——R2</a:t>
            </a:r>
            <a:r>
              <a:rPr kumimoji="1" lang="zh-CN" altLang="en-US" sz="1600" dirty="0"/>
              <a:t>选择法</a:t>
            </a:r>
          </a:p>
          <a:p>
            <a:pPr marL="1200150" lvl="2" indent="-285750">
              <a:buFont typeface="Arial" panose="020B0604020202020204" pitchFamily="34" charset="0"/>
              <a:buChar char="•"/>
            </a:pPr>
            <a:r>
              <a:rPr kumimoji="1" lang="en-US" altLang="zh-CN" sz="1600" dirty="0"/>
              <a:t>cp——Mallow's Cp</a:t>
            </a:r>
            <a:r>
              <a:rPr kumimoji="1" lang="zh-CN" altLang="en-US" sz="1600" dirty="0"/>
              <a:t>选择法</a:t>
            </a:r>
            <a:endParaRPr kumimoji="1" lang="en-US" altLang="zh-CN" sz="1600" dirty="0"/>
          </a:p>
          <a:p>
            <a:pPr marL="742950" lvl="1" indent="-285750">
              <a:buFont typeface="Arial" panose="020B0604020202020204" pitchFamily="34" charset="0"/>
              <a:buChar char="•"/>
            </a:pPr>
            <a:r>
              <a:rPr lang="zh-CN" altLang="en-US" sz="1600" b="0" i="0" dirty="0">
                <a:solidFill>
                  <a:srgbClr val="191B1F"/>
                </a:solidFill>
                <a:effectLst/>
                <a:latin typeface="-apple-system"/>
              </a:rPr>
              <a:t>在前进法、后退法或逐步回归的变量选择过程中，都有一个判断是否可进入或剔除的显著水平</a:t>
            </a:r>
            <a:endParaRPr lang="en-US" altLang="zh-CN" sz="1600" b="0" i="0" dirty="0">
              <a:solidFill>
                <a:srgbClr val="191B1F"/>
              </a:solidFill>
              <a:effectLst/>
              <a:latin typeface="-apple-system"/>
            </a:endParaRPr>
          </a:p>
          <a:p>
            <a:pPr marL="742950" lvl="1" indent="-285750">
              <a:buFont typeface="Arial" panose="020B0604020202020204" pitchFamily="34" charset="0"/>
              <a:buChar char="•"/>
            </a:pPr>
            <a:endParaRPr kumimoji="1" lang="zh-CN" altLang="en-US" sz="1600" dirty="0"/>
          </a:p>
        </p:txBody>
      </p:sp>
      <p:sp>
        <p:nvSpPr>
          <p:cNvPr id="3" name="文本框 2">
            <a:extLst>
              <a:ext uri="{FF2B5EF4-FFF2-40B4-BE49-F238E27FC236}">
                <a16:creationId xmlns:a16="http://schemas.microsoft.com/office/drawing/2014/main" id="{5E6F4A2E-01A5-7FA6-2F08-9F4E28FAD8E3}"/>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7" name="图片 6">
            <a:extLst>
              <a:ext uri="{FF2B5EF4-FFF2-40B4-BE49-F238E27FC236}">
                <a16:creationId xmlns:a16="http://schemas.microsoft.com/office/drawing/2014/main" id="{CAD7AD49-6BE1-20A8-0529-1F6CCC57B79D}"/>
              </a:ext>
            </a:extLst>
          </p:cNvPr>
          <p:cNvPicPr>
            <a:picLocks noChangeAspect="1"/>
          </p:cNvPicPr>
          <p:nvPr/>
        </p:nvPicPr>
        <p:blipFill>
          <a:blip r:embed="rId3"/>
          <a:stretch>
            <a:fillRect/>
          </a:stretch>
        </p:blipFill>
        <p:spPr>
          <a:xfrm>
            <a:off x="1039185" y="5701043"/>
            <a:ext cx="5720723" cy="694873"/>
          </a:xfrm>
          <a:prstGeom prst="rect">
            <a:avLst/>
          </a:prstGeom>
        </p:spPr>
      </p:pic>
      <p:pic>
        <p:nvPicPr>
          <p:cNvPr id="9" name="图片 8">
            <a:extLst>
              <a:ext uri="{FF2B5EF4-FFF2-40B4-BE49-F238E27FC236}">
                <a16:creationId xmlns:a16="http://schemas.microsoft.com/office/drawing/2014/main" id="{0EB49AA2-C421-F609-6A8A-7A88F376D5E4}"/>
              </a:ext>
            </a:extLst>
          </p:cNvPr>
          <p:cNvPicPr>
            <a:picLocks noChangeAspect="1"/>
          </p:cNvPicPr>
          <p:nvPr/>
        </p:nvPicPr>
        <p:blipFill>
          <a:blip r:embed="rId4"/>
          <a:stretch>
            <a:fillRect/>
          </a:stretch>
        </p:blipFill>
        <p:spPr>
          <a:xfrm>
            <a:off x="6540967" y="2264769"/>
            <a:ext cx="3156826" cy="1612756"/>
          </a:xfrm>
          <a:prstGeom prst="rect">
            <a:avLst/>
          </a:prstGeom>
        </p:spPr>
      </p:pic>
      <p:pic>
        <p:nvPicPr>
          <p:cNvPr id="11" name="图片 10">
            <a:extLst>
              <a:ext uri="{FF2B5EF4-FFF2-40B4-BE49-F238E27FC236}">
                <a16:creationId xmlns:a16="http://schemas.microsoft.com/office/drawing/2014/main" id="{454AF270-70B6-8E7B-0E4F-7FB182AB0159}"/>
              </a:ext>
            </a:extLst>
          </p:cNvPr>
          <p:cNvPicPr>
            <a:picLocks noChangeAspect="1"/>
          </p:cNvPicPr>
          <p:nvPr/>
        </p:nvPicPr>
        <p:blipFill>
          <a:blip r:embed="rId5"/>
          <a:stretch>
            <a:fillRect/>
          </a:stretch>
        </p:blipFill>
        <p:spPr>
          <a:xfrm>
            <a:off x="9127504" y="2297339"/>
            <a:ext cx="2695462" cy="1580186"/>
          </a:xfrm>
          <a:prstGeom prst="rect">
            <a:avLst/>
          </a:prstGeom>
        </p:spPr>
      </p:pic>
      <p:pic>
        <p:nvPicPr>
          <p:cNvPr id="13" name="图片 12">
            <a:extLst>
              <a:ext uri="{FF2B5EF4-FFF2-40B4-BE49-F238E27FC236}">
                <a16:creationId xmlns:a16="http://schemas.microsoft.com/office/drawing/2014/main" id="{697A9F2C-208F-3660-EBAF-BA996C9CA6B1}"/>
              </a:ext>
            </a:extLst>
          </p:cNvPr>
          <p:cNvPicPr>
            <a:picLocks noChangeAspect="1"/>
          </p:cNvPicPr>
          <p:nvPr/>
        </p:nvPicPr>
        <p:blipFill>
          <a:blip r:embed="rId6"/>
          <a:stretch>
            <a:fillRect/>
          </a:stretch>
        </p:blipFill>
        <p:spPr>
          <a:xfrm>
            <a:off x="6600889" y="4164281"/>
            <a:ext cx="2792167" cy="1715572"/>
          </a:xfrm>
          <a:prstGeom prst="rect">
            <a:avLst/>
          </a:prstGeom>
        </p:spPr>
      </p:pic>
      <p:pic>
        <p:nvPicPr>
          <p:cNvPr id="15" name="图片 14">
            <a:extLst>
              <a:ext uri="{FF2B5EF4-FFF2-40B4-BE49-F238E27FC236}">
                <a16:creationId xmlns:a16="http://schemas.microsoft.com/office/drawing/2014/main" id="{DEDD17DA-4DE5-8CE6-92AC-747B05637D3D}"/>
              </a:ext>
            </a:extLst>
          </p:cNvPr>
          <p:cNvPicPr>
            <a:picLocks noChangeAspect="1"/>
          </p:cNvPicPr>
          <p:nvPr/>
        </p:nvPicPr>
        <p:blipFill>
          <a:blip r:embed="rId7"/>
          <a:stretch>
            <a:fillRect/>
          </a:stretch>
        </p:blipFill>
        <p:spPr>
          <a:xfrm>
            <a:off x="9265953" y="4478985"/>
            <a:ext cx="2926047" cy="1086163"/>
          </a:xfrm>
          <a:prstGeom prst="rect">
            <a:avLst/>
          </a:prstGeom>
        </p:spPr>
      </p:pic>
    </p:spTree>
    <p:extLst>
      <p:ext uri="{BB962C8B-B14F-4D97-AF65-F5344CB8AC3E}">
        <p14:creationId xmlns:p14="http://schemas.microsoft.com/office/powerpoint/2010/main" val="110457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6737-38F4-C811-EBA0-71D95AE291AD}"/>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66E47D41-280C-55CB-46DE-0291820F94DA}"/>
              </a:ext>
            </a:extLst>
          </p:cNvPr>
          <p:cNvSpPr txBox="1"/>
          <p:nvPr/>
        </p:nvSpPr>
        <p:spPr>
          <a:xfrm>
            <a:off x="2412965" y="895114"/>
            <a:ext cx="7366119"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数据分析方法和实现：线性回归（逐步回归）</a:t>
            </a:r>
          </a:p>
        </p:txBody>
      </p:sp>
      <p:sp>
        <p:nvSpPr>
          <p:cNvPr id="33" name="矩形 32">
            <a:extLst>
              <a:ext uri="{FF2B5EF4-FFF2-40B4-BE49-F238E27FC236}">
                <a16:creationId xmlns:a16="http://schemas.microsoft.com/office/drawing/2014/main" id="{2B99E924-05AF-53CA-AECA-87DE05342BB7}"/>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C945093D-61B9-996E-BFC9-60D4A9C092CE}"/>
              </a:ext>
            </a:extLst>
          </p:cNvPr>
          <p:cNvSpPr txBox="1"/>
          <p:nvPr/>
        </p:nvSpPr>
        <p:spPr>
          <a:xfrm>
            <a:off x="1254674" y="1361151"/>
            <a:ext cx="4531895" cy="4801314"/>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在显著水平</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0.15</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下，用逐步回归法挑选出三个自变量，按</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TMIN PRCP TMAX </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先后被选入回归模型。其它变量在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0.15</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水平下是不显著的。</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b="0" i="0" dirty="0">
                <a:solidFill>
                  <a:srgbClr val="191B1F"/>
                </a:solidFill>
                <a:effectLst/>
                <a:latin typeface="-apple-system"/>
              </a:rPr>
              <a:t>输出了每个回归模型变化时的</a:t>
            </a:r>
            <a:r>
              <a:rPr lang="en-US" altLang="zh-CN" sz="1600" b="0" i="0" dirty="0">
                <a:solidFill>
                  <a:srgbClr val="191B1F"/>
                </a:solidFill>
                <a:effectLst/>
                <a:latin typeface="-apple-system"/>
              </a:rPr>
              <a:t>R2</a:t>
            </a:r>
            <a:r>
              <a:rPr lang="zh-CN" altLang="en-US" sz="1600" b="0" i="0" dirty="0">
                <a:solidFill>
                  <a:srgbClr val="191B1F"/>
                </a:solidFill>
                <a:effectLst/>
                <a:latin typeface="-apple-system"/>
              </a:rPr>
              <a:t>值增加值、</a:t>
            </a:r>
            <a:r>
              <a:rPr lang="en-US" altLang="zh-CN" sz="1600" b="0" i="0" dirty="0">
                <a:solidFill>
                  <a:srgbClr val="191B1F"/>
                </a:solidFill>
                <a:effectLst/>
                <a:latin typeface="-apple-system"/>
              </a:rPr>
              <a:t>R2</a:t>
            </a:r>
            <a:r>
              <a:rPr lang="zh-CN" altLang="en-US" sz="1600" b="0" i="0" dirty="0">
                <a:solidFill>
                  <a:srgbClr val="191B1F"/>
                </a:solidFill>
                <a:effectLst/>
                <a:latin typeface="-apple-system"/>
              </a:rPr>
              <a:t>值、</a:t>
            </a:r>
            <a:r>
              <a:rPr lang="en-US" altLang="zh-CN" sz="1600" b="0" i="0" dirty="0">
                <a:solidFill>
                  <a:srgbClr val="191B1F"/>
                </a:solidFill>
                <a:effectLst/>
                <a:latin typeface="-apple-system"/>
              </a:rPr>
              <a:t>CP</a:t>
            </a:r>
            <a:r>
              <a:rPr lang="zh-CN" altLang="en-US" sz="1600" b="0" i="0" dirty="0">
                <a:solidFill>
                  <a:srgbClr val="191B1F"/>
                </a:solidFill>
                <a:effectLst/>
                <a:latin typeface="-apple-system"/>
              </a:rPr>
              <a:t>值、相应的</a:t>
            </a:r>
            <a:r>
              <a:rPr lang="en-US" altLang="zh-CN" sz="1600" b="0" i="0" dirty="0">
                <a:solidFill>
                  <a:srgbClr val="191B1F"/>
                </a:solidFill>
                <a:effectLst/>
                <a:latin typeface="-apple-system"/>
              </a:rPr>
              <a:t>F</a:t>
            </a:r>
            <a:r>
              <a:rPr lang="zh-CN" altLang="en-US" sz="1600" b="0" i="0" dirty="0">
                <a:solidFill>
                  <a:srgbClr val="191B1F"/>
                </a:solidFill>
                <a:effectLst/>
                <a:latin typeface="-apple-system"/>
              </a:rPr>
              <a:t>统计量、</a:t>
            </a:r>
            <a:r>
              <a:rPr lang="en-US" altLang="zh-CN" sz="1600" b="0" i="0" dirty="0">
                <a:solidFill>
                  <a:srgbClr val="191B1F"/>
                </a:solidFill>
                <a:effectLst/>
                <a:latin typeface="-apple-system"/>
              </a:rPr>
              <a:t>P</a:t>
            </a:r>
            <a:r>
              <a:rPr lang="zh-CN" altLang="en-US" sz="1600" b="0" i="0" dirty="0">
                <a:solidFill>
                  <a:srgbClr val="191B1F"/>
                </a:solidFill>
                <a:effectLst/>
                <a:latin typeface="-apple-system"/>
              </a:rPr>
              <a:t>值。另外，在每步还列出了条件指数的最小值最大值，以及每一个回归变量的第</a:t>
            </a:r>
            <a:r>
              <a:rPr lang="en-US" altLang="zh-CN" sz="1600" b="0" i="0" dirty="0">
                <a:solidFill>
                  <a:srgbClr val="191B1F"/>
                </a:solidFill>
                <a:effectLst/>
                <a:latin typeface="-apple-system"/>
              </a:rPr>
              <a:t>Ⅱ</a:t>
            </a:r>
            <a:r>
              <a:rPr lang="zh-CN" altLang="en-US" sz="1600" b="0" i="0" dirty="0">
                <a:solidFill>
                  <a:srgbClr val="191B1F"/>
                </a:solidFill>
                <a:effectLst/>
                <a:latin typeface="-apple-system"/>
              </a:rPr>
              <a:t>类平方和</a:t>
            </a:r>
            <a:r>
              <a:rPr lang="zh-CN" altLang="en-US" sz="1600" dirty="0">
                <a:solidFill>
                  <a:srgbClr val="191B1F"/>
                </a:solidFill>
                <a:latin typeface="-apple-system"/>
              </a:rPr>
              <a:t>；每个变量进入时对</a:t>
            </a:r>
            <a:r>
              <a:rPr lang="en-US" altLang="zh-CN" sz="1600" dirty="0">
                <a:solidFill>
                  <a:srgbClr val="191B1F"/>
                </a:solidFill>
                <a:latin typeface="-apple-system"/>
              </a:rPr>
              <a:t>R2</a:t>
            </a:r>
            <a:r>
              <a:rPr lang="zh-CN" altLang="en-US" sz="1600" dirty="0">
                <a:solidFill>
                  <a:srgbClr val="191B1F"/>
                </a:solidFill>
                <a:latin typeface="-apple-system"/>
              </a:rPr>
              <a:t>提供了一定贡献</a:t>
            </a:r>
            <a:endParaRPr lang="en-US" altLang="zh-CN" sz="1600" dirty="0">
              <a:solidFill>
                <a:srgbClr val="191B1F"/>
              </a:solidFill>
              <a:latin typeface="-apple-system"/>
            </a:endParaRPr>
          </a:p>
          <a:p>
            <a:pPr marL="742950" lvl="1" indent="-285750">
              <a:buFont typeface="Arial" panose="020B0604020202020204" pitchFamily="34" charset="0"/>
              <a:buChar char="•"/>
            </a:pPr>
            <a:r>
              <a:rPr lang="en-US" altLang="zh-CN" sz="1600" dirty="0">
                <a:solidFill>
                  <a:srgbClr val="191B1F"/>
                </a:solidFill>
                <a:latin typeface="-apple-system"/>
              </a:rPr>
              <a:t>CP</a:t>
            </a:r>
            <a:r>
              <a:rPr lang="zh-CN" altLang="en-US" sz="1600" dirty="0">
                <a:solidFill>
                  <a:srgbClr val="191B1F"/>
                </a:solidFill>
                <a:latin typeface="-apple-system"/>
              </a:rPr>
              <a:t>验证：</a:t>
            </a:r>
            <a:r>
              <a:rPr lang="zh-CN" altLang="en-US" sz="1600" b="0" i="0" dirty="0">
                <a:solidFill>
                  <a:srgbClr val="191B1F"/>
                </a:solidFill>
                <a:effectLst/>
                <a:latin typeface="-apple-system"/>
              </a:rPr>
              <a:t>按照</a:t>
            </a:r>
            <a:r>
              <a:rPr lang="en-US" altLang="zh-CN" sz="1600" b="0" i="0" dirty="0">
                <a:solidFill>
                  <a:srgbClr val="191B1F"/>
                </a:solidFill>
                <a:effectLst/>
                <a:latin typeface="-apple-system"/>
              </a:rPr>
              <a:t>Mallows</a:t>
            </a:r>
            <a:r>
              <a:rPr lang="zh-CN" altLang="en-US" sz="1600" b="0" i="0" dirty="0">
                <a:solidFill>
                  <a:srgbClr val="191B1F"/>
                </a:solidFill>
                <a:effectLst/>
                <a:latin typeface="-apple-system"/>
              </a:rPr>
              <a:t>提出的回归模型最优自变量个数的选择准则，可以看出依次有</a:t>
            </a:r>
            <a:r>
              <a:rPr lang="en-US" altLang="zh-CN" sz="1600" b="0" i="0" dirty="0">
                <a:solidFill>
                  <a:srgbClr val="191B1F"/>
                </a:solidFill>
                <a:effectLst/>
                <a:latin typeface="-apple-system"/>
              </a:rPr>
              <a:t>28.8864 14.3616 4.0000</a:t>
            </a:r>
            <a:r>
              <a:rPr lang="zh-CN" altLang="en-US" sz="1600" b="0" i="0" dirty="0">
                <a:solidFill>
                  <a:srgbClr val="191B1F"/>
                </a:solidFill>
                <a:effectLst/>
                <a:latin typeface="-apple-system"/>
              </a:rPr>
              <a:t>，因此得到的模型是最接近自变量个数和</a:t>
            </a:r>
            <a:r>
              <a:rPr lang="en-US" altLang="zh-CN" sz="1600" b="0" i="0" dirty="0">
                <a:solidFill>
                  <a:srgbClr val="191B1F"/>
                </a:solidFill>
                <a:effectLst/>
                <a:latin typeface="-apple-system"/>
              </a:rPr>
              <a:t>CP</a:t>
            </a:r>
            <a:r>
              <a:rPr lang="zh-CN" altLang="en-US" sz="1600" b="0" i="0" dirty="0">
                <a:solidFill>
                  <a:srgbClr val="191B1F"/>
                </a:solidFill>
                <a:effectLst/>
                <a:latin typeface="-apple-system"/>
              </a:rPr>
              <a:t>值关系的模型</a:t>
            </a:r>
            <a:endParaRPr lang="en-US" altLang="zh-CN" sz="1600" dirty="0">
              <a:solidFill>
                <a:srgbClr val="191B1F"/>
              </a:solidFill>
              <a:latin typeface="-apple-system"/>
            </a:endParaRPr>
          </a:p>
          <a:p>
            <a:pPr marL="742950" lvl="1" indent="-285750">
              <a:buFont typeface="Arial" panose="020B0604020202020204" pitchFamily="34" charset="0"/>
              <a:buChar char="•"/>
            </a:pPr>
            <a:r>
              <a:rPr kumimoji="1" lang="zh-CN" altLang="en-US" sz="1600" dirty="0">
                <a:solidFill>
                  <a:srgbClr val="191B1F"/>
                </a:solidFill>
                <a:latin typeface="-apple-system"/>
              </a:rPr>
              <a:t>逐步回归最后得到的模型为</a:t>
            </a:r>
            <a:endParaRPr kumimoji="1" lang="en-US" altLang="zh-CN" sz="1600" dirty="0">
              <a:solidFill>
                <a:srgbClr val="191B1F"/>
              </a:solidFill>
              <a:latin typeface="-apple-system"/>
            </a:endParaRPr>
          </a:p>
          <a:p>
            <a:pPr marL="742950" lvl="1" indent="-285750">
              <a:buFont typeface="Arial" panose="020B0604020202020204" pitchFamily="34" charset="0"/>
              <a:buChar char="•"/>
            </a:pPr>
            <a:r>
              <a:rPr kumimoji="1" lang="en-US" altLang="zh-CN" sz="1600" dirty="0">
                <a:solidFill>
                  <a:srgbClr val="191B1F"/>
                </a:solidFill>
                <a:latin typeface="-apple-system"/>
              </a:rPr>
              <a:t>COUNT = -605.56-482.30*PRCP+19.85*TMAX+30.61*TMIN</a:t>
            </a:r>
            <a:endParaRPr kumimoji="1" lang="zh-CN" altLang="en-US" sz="1600" dirty="0"/>
          </a:p>
        </p:txBody>
      </p:sp>
      <p:sp>
        <p:nvSpPr>
          <p:cNvPr id="3" name="文本框 2">
            <a:extLst>
              <a:ext uri="{FF2B5EF4-FFF2-40B4-BE49-F238E27FC236}">
                <a16:creationId xmlns:a16="http://schemas.microsoft.com/office/drawing/2014/main" id="{0D4A12DD-2387-4DBE-728F-5D415BCF5AC2}"/>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7" name="图片 6">
            <a:extLst>
              <a:ext uri="{FF2B5EF4-FFF2-40B4-BE49-F238E27FC236}">
                <a16:creationId xmlns:a16="http://schemas.microsoft.com/office/drawing/2014/main" id="{0D695A10-3C46-FE8F-C903-D92F36767DAE}"/>
              </a:ext>
            </a:extLst>
          </p:cNvPr>
          <p:cNvPicPr>
            <a:picLocks noChangeAspect="1"/>
          </p:cNvPicPr>
          <p:nvPr/>
        </p:nvPicPr>
        <p:blipFill>
          <a:blip r:embed="rId3"/>
          <a:stretch>
            <a:fillRect/>
          </a:stretch>
        </p:blipFill>
        <p:spPr>
          <a:xfrm>
            <a:off x="1066849" y="6093698"/>
            <a:ext cx="5720723" cy="694873"/>
          </a:xfrm>
          <a:prstGeom prst="rect">
            <a:avLst/>
          </a:prstGeom>
        </p:spPr>
      </p:pic>
      <p:pic>
        <p:nvPicPr>
          <p:cNvPr id="9" name="图片 8">
            <a:extLst>
              <a:ext uri="{FF2B5EF4-FFF2-40B4-BE49-F238E27FC236}">
                <a16:creationId xmlns:a16="http://schemas.microsoft.com/office/drawing/2014/main" id="{8CE6D99C-7775-573E-B4E4-5A0112D1F874}"/>
              </a:ext>
            </a:extLst>
          </p:cNvPr>
          <p:cNvPicPr>
            <a:picLocks noChangeAspect="1"/>
          </p:cNvPicPr>
          <p:nvPr/>
        </p:nvPicPr>
        <p:blipFill>
          <a:blip r:embed="rId4"/>
          <a:stretch>
            <a:fillRect/>
          </a:stretch>
        </p:blipFill>
        <p:spPr>
          <a:xfrm>
            <a:off x="6540967" y="2264769"/>
            <a:ext cx="3156826" cy="1612756"/>
          </a:xfrm>
          <a:prstGeom prst="rect">
            <a:avLst/>
          </a:prstGeom>
        </p:spPr>
      </p:pic>
      <p:pic>
        <p:nvPicPr>
          <p:cNvPr id="11" name="图片 10">
            <a:extLst>
              <a:ext uri="{FF2B5EF4-FFF2-40B4-BE49-F238E27FC236}">
                <a16:creationId xmlns:a16="http://schemas.microsoft.com/office/drawing/2014/main" id="{FF56875A-D24A-F7D0-E1FF-4DEE989F11A1}"/>
              </a:ext>
            </a:extLst>
          </p:cNvPr>
          <p:cNvPicPr>
            <a:picLocks noChangeAspect="1"/>
          </p:cNvPicPr>
          <p:nvPr/>
        </p:nvPicPr>
        <p:blipFill>
          <a:blip r:embed="rId5"/>
          <a:stretch>
            <a:fillRect/>
          </a:stretch>
        </p:blipFill>
        <p:spPr>
          <a:xfrm>
            <a:off x="9127504" y="2297339"/>
            <a:ext cx="2695462" cy="1580186"/>
          </a:xfrm>
          <a:prstGeom prst="rect">
            <a:avLst/>
          </a:prstGeom>
        </p:spPr>
      </p:pic>
      <p:pic>
        <p:nvPicPr>
          <p:cNvPr id="13" name="图片 12">
            <a:extLst>
              <a:ext uri="{FF2B5EF4-FFF2-40B4-BE49-F238E27FC236}">
                <a16:creationId xmlns:a16="http://schemas.microsoft.com/office/drawing/2014/main" id="{1488ACDD-BBDE-51D8-3161-B7B441212347}"/>
              </a:ext>
            </a:extLst>
          </p:cNvPr>
          <p:cNvPicPr>
            <a:picLocks noChangeAspect="1"/>
          </p:cNvPicPr>
          <p:nvPr/>
        </p:nvPicPr>
        <p:blipFill>
          <a:blip r:embed="rId6"/>
          <a:stretch>
            <a:fillRect/>
          </a:stretch>
        </p:blipFill>
        <p:spPr>
          <a:xfrm>
            <a:off x="6600889" y="4164281"/>
            <a:ext cx="2792167" cy="1715572"/>
          </a:xfrm>
          <a:prstGeom prst="rect">
            <a:avLst/>
          </a:prstGeom>
        </p:spPr>
      </p:pic>
      <p:pic>
        <p:nvPicPr>
          <p:cNvPr id="15" name="图片 14">
            <a:extLst>
              <a:ext uri="{FF2B5EF4-FFF2-40B4-BE49-F238E27FC236}">
                <a16:creationId xmlns:a16="http://schemas.microsoft.com/office/drawing/2014/main" id="{8B23C44E-5D82-3C72-25B4-077ADCBF3468}"/>
              </a:ext>
            </a:extLst>
          </p:cNvPr>
          <p:cNvPicPr>
            <a:picLocks noChangeAspect="1"/>
          </p:cNvPicPr>
          <p:nvPr/>
        </p:nvPicPr>
        <p:blipFill>
          <a:blip r:embed="rId7"/>
          <a:stretch>
            <a:fillRect/>
          </a:stretch>
        </p:blipFill>
        <p:spPr>
          <a:xfrm>
            <a:off x="9265953" y="4478985"/>
            <a:ext cx="2926047" cy="1086163"/>
          </a:xfrm>
          <a:prstGeom prst="rect">
            <a:avLst/>
          </a:prstGeom>
        </p:spPr>
      </p:pic>
    </p:spTree>
    <p:extLst>
      <p:ext uri="{BB962C8B-B14F-4D97-AF65-F5344CB8AC3E}">
        <p14:creationId xmlns:p14="http://schemas.microsoft.com/office/powerpoint/2010/main" val="1373004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D11B-34C2-B9B6-01DA-5C5594D7F7FE}"/>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ACF0DB08-3B31-9274-EB7A-719D01EB8917}"/>
              </a:ext>
            </a:extLst>
          </p:cNvPr>
          <p:cNvSpPr txBox="1"/>
          <p:nvPr/>
        </p:nvSpPr>
        <p:spPr>
          <a:xfrm>
            <a:off x="1153011" y="895114"/>
            <a:ext cx="9886041"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数据分析方法和实现：保存回归结果用于预测并比较准确率</a:t>
            </a:r>
          </a:p>
        </p:txBody>
      </p:sp>
      <p:sp>
        <p:nvSpPr>
          <p:cNvPr id="33" name="矩形 32">
            <a:extLst>
              <a:ext uri="{FF2B5EF4-FFF2-40B4-BE49-F238E27FC236}">
                <a16:creationId xmlns:a16="http://schemas.microsoft.com/office/drawing/2014/main" id="{7E8F4DB5-C5FF-9466-2E38-0F472D29AE0C}"/>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7498B862-483F-BD01-4D04-987D7EE0A731}"/>
              </a:ext>
            </a:extLst>
          </p:cNvPr>
          <p:cNvSpPr txBox="1"/>
          <p:nvPr/>
        </p:nvSpPr>
        <p:spPr>
          <a:xfrm>
            <a:off x="1203158" y="1620859"/>
            <a:ext cx="4531895" cy="4093428"/>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reg</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步拟合过程中用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outest</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输出包含拟合参数的结果数据表，用于后续计算</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需要从数据表中只读取一次数据，而不是和一般数据表一样按列批量处理</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我们需要用拟合的模型参数在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test</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数据集（评测集）上进行回归预测</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有两种处理方法：</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在计算步中使用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set</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引入参数数据集，并用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if _N_=1</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来获取单参数</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直接用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sql</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语句进行矩阵形式访问，得到拟合参数，用常量形式保存和使用</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1200150" lvl="2"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使用宏把这个过程写成结构化语句</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lvl="2"/>
            <a:endParaRPr kumimoji="1" lang="zh-CN" altLang="en-US" sz="1600" dirty="0"/>
          </a:p>
        </p:txBody>
      </p:sp>
      <p:sp>
        <p:nvSpPr>
          <p:cNvPr id="3" name="文本框 2">
            <a:extLst>
              <a:ext uri="{FF2B5EF4-FFF2-40B4-BE49-F238E27FC236}">
                <a16:creationId xmlns:a16="http://schemas.microsoft.com/office/drawing/2014/main" id="{018E9111-78D2-F9EF-E0B3-3F744D06FF50}"/>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7" name="图片 6">
            <a:extLst>
              <a:ext uri="{FF2B5EF4-FFF2-40B4-BE49-F238E27FC236}">
                <a16:creationId xmlns:a16="http://schemas.microsoft.com/office/drawing/2014/main" id="{058D0C80-0D26-D645-1555-0FEEF7DA98F9}"/>
              </a:ext>
            </a:extLst>
          </p:cNvPr>
          <p:cNvPicPr>
            <a:picLocks noChangeAspect="1"/>
          </p:cNvPicPr>
          <p:nvPr/>
        </p:nvPicPr>
        <p:blipFill>
          <a:blip r:embed="rId3"/>
          <a:stretch>
            <a:fillRect/>
          </a:stretch>
        </p:blipFill>
        <p:spPr>
          <a:xfrm>
            <a:off x="5735053" y="2231924"/>
            <a:ext cx="6446457" cy="2700003"/>
          </a:xfrm>
          <a:prstGeom prst="rect">
            <a:avLst/>
          </a:prstGeom>
        </p:spPr>
      </p:pic>
      <p:pic>
        <p:nvPicPr>
          <p:cNvPr id="5" name="图片 4">
            <a:extLst>
              <a:ext uri="{FF2B5EF4-FFF2-40B4-BE49-F238E27FC236}">
                <a16:creationId xmlns:a16="http://schemas.microsoft.com/office/drawing/2014/main" id="{CDA0B8CE-977A-CE87-7C22-EA07B280BDA1}"/>
              </a:ext>
            </a:extLst>
          </p:cNvPr>
          <p:cNvPicPr>
            <a:picLocks noChangeAspect="1"/>
          </p:cNvPicPr>
          <p:nvPr/>
        </p:nvPicPr>
        <p:blipFill>
          <a:blip r:embed="rId4"/>
          <a:stretch>
            <a:fillRect/>
          </a:stretch>
        </p:blipFill>
        <p:spPr>
          <a:xfrm>
            <a:off x="6039948" y="5037442"/>
            <a:ext cx="4999104" cy="1641135"/>
          </a:xfrm>
          <a:prstGeom prst="rect">
            <a:avLst/>
          </a:prstGeom>
        </p:spPr>
      </p:pic>
    </p:spTree>
    <p:extLst>
      <p:ext uri="{BB962C8B-B14F-4D97-AF65-F5344CB8AC3E}">
        <p14:creationId xmlns:p14="http://schemas.microsoft.com/office/powerpoint/2010/main" val="2132071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3736A-8AB8-D77C-4500-3E6D0667C0D8}"/>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50821879-52AC-50A8-1265-62D617C339FE}"/>
              </a:ext>
            </a:extLst>
          </p:cNvPr>
          <p:cNvSpPr txBox="1"/>
          <p:nvPr/>
        </p:nvSpPr>
        <p:spPr>
          <a:xfrm>
            <a:off x="3310656" y="895114"/>
            <a:ext cx="5570756"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数据分析方法和实现：非线性回归</a:t>
            </a:r>
          </a:p>
        </p:txBody>
      </p:sp>
      <p:sp>
        <p:nvSpPr>
          <p:cNvPr id="33" name="矩形 32">
            <a:extLst>
              <a:ext uri="{FF2B5EF4-FFF2-40B4-BE49-F238E27FC236}">
                <a16:creationId xmlns:a16="http://schemas.microsoft.com/office/drawing/2014/main" id="{529EE0AA-D165-0C6D-CE5A-20BF54207C65}"/>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D1F233AA-42AA-62FD-24A5-03FCC03230E5}"/>
              </a:ext>
            </a:extLst>
          </p:cNvPr>
          <p:cNvSpPr txBox="1"/>
          <p:nvPr/>
        </p:nvSpPr>
        <p:spPr>
          <a:xfrm>
            <a:off x="1203158" y="1620859"/>
            <a:ext cx="4531895" cy="1600438"/>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使用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glm</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步对模型进行非线性拟合</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对数据进行先验观察，用</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class</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语句指定类型变量（枚举变量、离散分布）</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解决了</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reg</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回归离散变量分布没有得到对应处理的问题</a:t>
            </a:r>
            <a:endParaRPr kumimoji="1" lang="zh-CN" altLang="en-US" sz="1600" dirty="0"/>
          </a:p>
        </p:txBody>
      </p:sp>
      <p:sp>
        <p:nvSpPr>
          <p:cNvPr id="3" name="文本框 2">
            <a:extLst>
              <a:ext uri="{FF2B5EF4-FFF2-40B4-BE49-F238E27FC236}">
                <a16:creationId xmlns:a16="http://schemas.microsoft.com/office/drawing/2014/main" id="{A687A4E4-16BE-B8A0-D756-A4F5E3E5B1A9}"/>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1F6E5366-C8A2-E041-BD29-0CD78E4CD6DC}"/>
              </a:ext>
            </a:extLst>
          </p:cNvPr>
          <p:cNvPicPr>
            <a:picLocks noChangeAspect="1"/>
          </p:cNvPicPr>
          <p:nvPr/>
        </p:nvPicPr>
        <p:blipFill>
          <a:blip r:embed="rId3"/>
          <a:stretch>
            <a:fillRect/>
          </a:stretch>
        </p:blipFill>
        <p:spPr>
          <a:xfrm>
            <a:off x="901522" y="4292389"/>
            <a:ext cx="9163318" cy="867210"/>
          </a:xfrm>
          <a:prstGeom prst="rect">
            <a:avLst/>
          </a:prstGeom>
        </p:spPr>
      </p:pic>
      <p:pic>
        <p:nvPicPr>
          <p:cNvPr id="7" name="图片 6">
            <a:extLst>
              <a:ext uri="{FF2B5EF4-FFF2-40B4-BE49-F238E27FC236}">
                <a16:creationId xmlns:a16="http://schemas.microsoft.com/office/drawing/2014/main" id="{784C5556-1FF2-2A35-010F-3CF3299BFBA9}"/>
              </a:ext>
            </a:extLst>
          </p:cNvPr>
          <p:cNvPicPr>
            <a:picLocks noChangeAspect="1"/>
          </p:cNvPicPr>
          <p:nvPr/>
        </p:nvPicPr>
        <p:blipFill>
          <a:blip r:embed="rId4"/>
          <a:stretch>
            <a:fillRect/>
          </a:stretch>
        </p:blipFill>
        <p:spPr>
          <a:xfrm>
            <a:off x="7585174" y="1997460"/>
            <a:ext cx="4041172" cy="1505762"/>
          </a:xfrm>
          <a:prstGeom prst="rect">
            <a:avLst/>
          </a:prstGeom>
        </p:spPr>
      </p:pic>
      <p:pic>
        <p:nvPicPr>
          <p:cNvPr id="9" name="图片 8">
            <a:extLst>
              <a:ext uri="{FF2B5EF4-FFF2-40B4-BE49-F238E27FC236}">
                <a16:creationId xmlns:a16="http://schemas.microsoft.com/office/drawing/2014/main" id="{CDEB0C4A-E6C9-FE02-D537-E784D678BF89}"/>
              </a:ext>
            </a:extLst>
          </p:cNvPr>
          <p:cNvPicPr>
            <a:picLocks noChangeAspect="1"/>
          </p:cNvPicPr>
          <p:nvPr/>
        </p:nvPicPr>
        <p:blipFill>
          <a:blip r:embed="rId5"/>
          <a:stretch>
            <a:fillRect/>
          </a:stretch>
        </p:blipFill>
        <p:spPr>
          <a:xfrm>
            <a:off x="7821413" y="3798367"/>
            <a:ext cx="2825916" cy="2691685"/>
          </a:xfrm>
          <a:prstGeom prst="rect">
            <a:avLst/>
          </a:prstGeom>
        </p:spPr>
      </p:pic>
    </p:spTree>
    <p:extLst>
      <p:ext uri="{BB962C8B-B14F-4D97-AF65-F5344CB8AC3E}">
        <p14:creationId xmlns:p14="http://schemas.microsoft.com/office/powerpoint/2010/main" val="3068659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85310-7559-C911-4EF2-9EACF4347F90}"/>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38BCE5A4-7F86-71D9-E02B-4BD74F21A238}"/>
              </a:ext>
            </a:extLst>
          </p:cNvPr>
          <p:cNvSpPr txBox="1"/>
          <p:nvPr/>
        </p:nvSpPr>
        <p:spPr>
          <a:xfrm>
            <a:off x="3310656" y="895114"/>
            <a:ext cx="5570756"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数据分析方法和实现：非线性回归</a:t>
            </a:r>
          </a:p>
        </p:txBody>
      </p:sp>
      <p:sp>
        <p:nvSpPr>
          <p:cNvPr id="33" name="矩形 32">
            <a:extLst>
              <a:ext uri="{FF2B5EF4-FFF2-40B4-BE49-F238E27FC236}">
                <a16:creationId xmlns:a16="http://schemas.microsoft.com/office/drawing/2014/main" id="{85FF6185-168F-E953-6D06-37BC58C615D8}"/>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CA5E8E5-31FD-C539-9FCC-B3CAB08D9887}"/>
              </a:ext>
            </a:extLst>
          </p:cNvPr>
          <p:cNvSpPr txBox="1"/>
          <p:nvPr/>
        </p:nvSpPr>
        <p:spPr>
          <a:xfrm>
            <a:off x="1203158" y="1620859"/>
            <a:ext cx="4531895" cy="2308324"/>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用</a:t>
            </a:r>
            <a:r>
              <a:rPr lang="en-US" altLang="zh-CN" kern="100" dirty="0" err="1">
                <a:effectLst/>
                <a:latin typeface="Calibri" panose="020F0502020204030204" pitchFamily="34" charset="0"/>
                <a:ea typeface="宋体" panose="02010600030101010101" pitchFamily="2" charset="-122"/>
                <a:cs typeface="Times New Roman" panose="02020603050405020304" pitchFamily="18" charset="0"/>
              </a:rPr>
              <a:t>nlin</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步进行非线性回归</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通过观察散点分布估计</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COUNT</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和</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PRCP</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存在对数函数关系，因此给定对数函数的先验，并给定从</a:t>
            </a:r>
            <a:r>
              <a:rPr lang="en-US" altLang="zh-CN" kern="100" dirty="0">
                <a:effectLst/>
                <a:latin typeface="Calibri" panose="020F0502020204030204" pitchFamily="34" charset="0"/>
                <a:ea typeface="宋体" panose="02010600030101010101" pitchFamily="2" charset="-122"/>
                <a:cs typeface="Times New Roman" panose="02020603050405020304" pitchFamily="18" charset="0"/>
              </a:rPr>
              <a:t>0</a:t>
            </a:r>
            <a:r>
              <a:rPr lang="zh-CN" altLang="en-US" kern="100" dirty="0">
                <a:effectLst/>
                <a:latin typeface="Calibri" panose="020F0502020204030204" pitchFamily="34" charset="0"/>
                <a:ea typeface="宋体" panose="02010600030101010101" pitchFamily="2" charset="-122"/>
                <a:cs typeface="Times New Roman" panose="02020603050405020304" pitchFamily="18" charset="0"/>
              </a:rPr>
              <a:t>开始计算回归参数</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kern="100" dirty="0">
                <a:latin typeface="Calibri" panose="020F0502020204030204" pitchFamily="34" charset="0"/>
                <a:ea typeface="宋体" panose="02010600030101010101" pitchFamily="2" charset="-122"/>
                <a:cs typeface="Times New Roman" panose="02020603050405020304" pitchFamily="18" charset="0"/>
              </a:rPr>
              <a:t>保存回归参数，用于回归预测并绘制曲线图</a:t>
            </a:r>
            <a:endParaRPr lang="en-US" altLang="zh-CN"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EDEBBDB6-EFFE-E6BC-3016-E244869EF247}"/>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6" name="图片 5">
            <a:extLst>
              <a:ext uri="{FF2B5EF4-FFF2-40B4-BE49-F238E27FC236}">
                <a16:creationId xmlns:a16="http://schemas.microsoft.com/office/drawing/2014/main" id="{CEF173CB-0822-4524-E184-505DF1C6447F}"/>
              </a:ext>
            </a:extLst>
          </p:cNvPr>
          <p:cNvPicPr>
            <a:picLocks noChangeAspect="1"/>
          </p:cNvPicPr>
          <p:nvPr/>
        </p:nvPicPr>
        <p:blipFill>
          <a:blip r:embed="rId3"/>
          <a:stretch>
            <a:fillRect/>
          </a:stretch>
        </p:blipFill>
        <p:spPr>
          <a:xfrm>
            <a:off x="1193791" y="3864663"/>
            <a:ext cx="6269486" cy="798156"/>
          </a:xfrm>
          <a:prstGeom prst="rect">
            <a:avLst/>
          </a:prstGeom>
        </p:spPr>
      </p:pic>
      <p:pic>
        <p:nvPicPr>
          <p:cNvPr id="10" name="图片 9">
            <a:extLst>
              <a:ext uri="{FF2B5EF4-FFF2-40B4-BE49-F238E27FC236}">
                <a16:creationId xmlns:a16="http://schemas.microsoft.com/office/drawing/2014/main" id="{48D09DBE-BBEE-CA1D-1677-3744134F1346}"/>
              </a:ext>
            </a:extLst>
          </p:cNvPr>
          <p:cNvPicPr>
            <a:picLocks noChangeAspect="1"/>
          </p:cNvPicPr>
          <p:nvPr/>
        </p:nvPicPr>
        <p:blipFill>
          <a:blip r:embed="rId4"/>
          <a:stretch>
            <a:fillRect/>
          </a:stretch>
        </p:blipFill>
        <p:spPr>
          <a:xfrm>
            <a:off x="1503104" y="4827584"/>
            <a:ext cx="3932001" cy="1962558"/>
          </a:xfrm>
          <a:prstGeom prst="rect">
            <a:avLst/>
          </a:prstGeom>
        </p:spPr>
      </p:pic>
      <p:pic>
        <p:nvPicPr>
          <p:cNvPr id="12" name="图片 11">
            <a:extLst>
              <a:ext uri="{FF2B5EF4-FFF2-40B4-BE49-F238E27FC236}">
                <a16:creationId xmlns:a16="http://schemas.microsoft.com/office/drawing/2014/main" id="{DCCA5884-08AC-B500-04BF-BC236F92D8A1}"/>
              </a:ext>
            </a:extLst>
          </p:cNvPr>
          <p:cNvPicPr>
            <a:picLocks noChangeAspect="1"/>
          </p:cNvPicPr>
          <p:nvPr/>
        </p:nvPicPr>
        <p:blipFill>
          <a:blip r:embed="rId5"/>
          <a:stretch>
            <a:fillRect/>
          </a:stretch>
        </p:blipFill>
        <p:spPr>
          <a:xfrm>
            <a:off x="7090227" y="2062867"/>
            <a:ext cx="4328666" cy="1859723"/>
          </a:xfrm>
          <a:prstGeom prst="rect">
            <a:avLst/>
          </a:prstGeom>
        </p:spPr>
      </p:pic>
      <p:pic>
        <p:nvPicPr>
          <p:cNvPr id="14" name="图片 13">
            <a:extLst>
              <a:ext uri="{FF2B5EF4-FFF2-40B4-BE49-F238E27FC236}">
                <a16:creationId xmlns:a16="http://schemas.microsoft.com/office/drawing/2014/main" id="{630F7D48-9A0D-10C7-AF2A-8C7B29FC579B}"/>
              </a:ext>
            </a:extLst>
          </p:cNvPr>
          <p:cNvPicPr>
            <a:picLocks noChangeAspect="1"/>
          </p:cNvPicPr>
          <p:nvPr/>
        </p:nvPicPr>
        <p:blipFill>
          <a:blip r:embed="rId6"/>
          <a:stretch>
            <a:fillRect/>
          </a:stretch>
        </p:blipFill>
        <p:spPr>
          <a:xfrm>
            <a:off x="7511162" y="4119357"/>
            <a:ext cx="3601289" cy="2588243"/>
          </a:xfrm>
          <a:prstGeom prst="rect">
            <a:avLst/>
          </a:prstGeom>
        </p:spPr>
      </p:pic>
    </p:spTree>
    <p:extLst>
      <p:ext uri="{BB962C8B-B14F-4D97-AF65-F5344CB8AC3E}">
        <p14:creationId xmlns:p14="http://schemas.microsoft.com/office/powerpoint/2010/main" val="163730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FA88-FFA8-362B-D253-57C6C9F7B2DC}"/>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E03C800C-3FCC-EC8E-2128-2470B2732207}"/>
              </a:ext>
            </a:extLst>
          </p:cNvPr>
          <p:cNvSpPr txBox="1"/>
          <p:nvPr/>
        </p:nvSpPr>
        <p:spPr>
          <a:xfrm>
            <a:off x="2951588" y="895114"/>
            <a:ext cx="6288901"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数据分析方法和实现：季节性信息评估</a:t>
            </a:r>
          </a:p>
        </p:txBody>
      </p:sp>
      <p:sp>
        <p:nvSpPr>
          <p:cNvPr id="33" name="矩形 32">
            <a:extLst>
              <a:ext uri="{FF2B5EF4-FFF2-40B4-BE49-F238E27FC236}">
                <a16:creationId xmlns:a16="http://schemas.microsoft.com/office/drawing/2014/main" id="{3CCBB76A-6C10-B859-75B4-1512211AA304}"/>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D2945E05-8CCC-F7F6-9547-D0355E544A6E}"/>
              </a:ext>
            </a:extLst>
          </p:cNvPr>
          <p:cNvSpPr txBox="1"/>
          <p:nvPr/>
        </p:nvSpPr>
        <p:spPr>
          <a:xfrm>
            <a:off x="1203158" y="1620859"/>
            <a:ext cx="4531895" cy="3600986"/>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对数据集</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1</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（左图）用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freq</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步统计星期几对应的共享单车使用计数，用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sgplot</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步绘制条形图</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对数据集</a:t>
            </a:r>
            <a:r>
              <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rPr>
              <a:t>2</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（右图）用</a:t>
            </a:r>
            <a:r>
              <a:rPr kumimoji="1" lang="en-US" altLang="zh-CN" sz="1600" kern="100" dirty="0" err="1">
                <a:latin typeface="Calibri" panose="020F0502020204030204" pitchFamily="34" charset="0"/>
                <a:ea typeface="宋体" panose="02010600030101010101" pitchFamily="2" charset="-122"/>
                <a:cs typeface="Times New Roman" panose="02020603050405020304" pitchFamily="18" charset="0"/>
              </a:rPr>
              <a:t>sql</a:t>
            </a: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步转换不同日期对应的是星期几，然后根据得到的星期几对日期使用计数进行统计，得到不同星期几的计数</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从中看出，共享单车作为一种生活一般必需品，维持相对稳定的使用情况，在星期的层面上不存在显著的季节性</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kern="100" dirty="0">
                <a:latin typeface="Calibri" panose="020F0502020204030204" pitchFamily="34" charset="0"/>
                <a:ea typeface="宋体" panose="02010600030101010101" pitchFamily="2" charset="-122"/>
                <a:cs typeface="Times New Roman" panose="02020603050405020304" pitchFamily="18" charset="0"/>
              </a:rPr>
              <a:t>排除了季节性因素的干扰</a:t>
            </a: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endParaRPr kumimoji="1" lang="zh-CN" altLang="en-US" sz="1600" dirty="0"/>
          </a:p>
        </p:txBody>
      </p:sp>
      <p:sp>
        <p:nvSpPr>
          <p:cNvPr id="3" name="文本框 2">
            <a:extLst>
              <a:ext uri="{FF2B5EF4-FFF2-40B4-BE49-F238E27FC236}">
                <a16:creationId xmlns:a16="http://schemas.microsoft.com/office/drawing/2014/main" id="{98B3DF71-8043-0B9C-D4C7-2C2904F29DAB}"/>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E7642020-FD7F-A26B-257B-3AABED52C611}"/>
              </a:ext>
            </a:extLst>
          </p:cNvPr>
          <p:cNvPicPr>
            <a:picLocks noChangeAspect="1"/>
          </p:cNvPicPr>
          <p:nvPr/>
        </p:nvPicPr>
        <p:blipFill>
          <a:blip r:embed="rId3"/>
          <a:stretch>
            <a:fillRect/>
          </a:stretch>
        </p:blipFill>
        <p:spPr>
          <a:xfrm>
            <a:off x="8957854" y="2133248"/>
            <a:ext cx="2402061" cy="1774822"/>
          </a:xfrm>
          <a:prstGeom prst="rect">
            <a:avLst/>
          </a:prstGeom>
        </p:spPr>
      </p:pic>
      <p:pic>
        <p:nvPicPr>
          <p:cNvPr id="7" name="图片 6">
            <a:extLst>
              <a:ext uri="{FF2B5EF4-FFF2-40B4-BE49-F238E27FC236}">
                <a16:creationId xmlns:a16="http://schemas.microsoft.com/office/drawing/2014/main" id="{73348FCC-A174-E141-067D-70A6842C583C}"/>
              </a:ext>
            </a:extLst>
          </p:cNvPr>
          <p:cNvPicPr>
            <a:picLocks noChangeAspect="1"/>
          </p:cNvPicPr>
          <p:nvPr/>
        </p:nvPicPr>
        <p:blipFill>
          <a:blip r:embed="rId4"/>
          <a:stretch>
            <a:fillRect/>
          </a:stretch>
        </p:blipFill>
        <p:spPr>
          <a:xfrm>
            <a:off x="6096000" y="2182300"/>
            <a:ext cx="2500907" cy="1841131"/>
          </a:xfrm>
          <a:prstGeom prst="rect">
            <a:avLst/>
          </a:prstGeom>
        </p:spPr>
      </p:pic>
      <p:pic>
        <p:nvPicPr>
          <p:cNvPr id="11" name="图片 10">
            <a:extLst>
              <a:ext uri="{FF2B5EF4-FFF2-40B4-BE49-F238E27FC236}">
                <a16:creationId xmlns:a16="http://schemas.microsoft.com/office/drawing/2014/main" id="{36DF1EA0-81C7-4E56-E79E-5BC4F3738FF7}"/>
              </a:ext>
            </a:extLst>
          </p:cNvPr>
          <p:cNvPicPr>
            <a:picLocks noChangeAspect="1"/>
          </p:cNvPicPr>
          <p:nvPr/>
        </p:nvPicPr>
        <p:blipFill>
          <a:blip r:embed="rId5"/>
          <a:stretch>
            <a:fillRect/>
          </a:stretch>
        </p:blipFill>
        <p:spPr>
          <a:xfrm>
            <a:off x="5846770" y="5040115"/>
            <a:ext cx="2999366" cy="1067342"/>
          </a:xfrm>
          <a:prstGeom prst="rect">
            <a:avLst/>
          </a:prstGeom>
        </p:spPr>
      </p:pic>
      <p:pic>
        <p:nvPicPr>
          <p:cNvPr id="13" name="图片 12">
            <a:extLst>
              <a:ext uri="{FF2B5EF4-FFF2-40B4-BE49-F238E27FC236}">
                <a16:creationId xmlns:a16="http://schemas.microsoft.com/office/drawing/2014/main" id="{36F53FAE-AF7D-724C-C5A5-19604A817A2B}"/>
              </a:ext>
            </a:extLst>
          </p:cNvPr>
          <p:cNvPicPr>
            <a:picLocks noChangeAspect="1"/>
          </p:cNvPicPr>
          <p:nvPr/>
        </p:nvPicPr>
        <p:blipFill>
          <a:blip r:embed="rId6"/>
          <a:stretch>
            <a:fillRect/>
          </a:stretch>
        </p:blipFill>
        <p:spPr>
          <a:xfrm>
            <a:off x="9240489" y="4581295"/>
            <a:ext cx="2378465" cy="1984982"/>
          </a:xfrm>
          <a:prstGeom prst="rect">
            <a:avLst/>
          </a:prstGeom>
        </p:spPr>
      </p:pic>
    </p:spTree>
    <p:extLst>
      <p:ext uri="{BB962C8B-B14F-4D97-AF65-F5344CB8AC3E}">
        <p14:creationId xmlns:p14="http://schemas.microsoft.com/office/powerpoint/2010/main" val="309725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2E9A-549C-DD4D-D212-8C286546FC31}"/>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BC47097C-29DF-ACD7-2060-9037A2A54227}"/>
              </a:ext>
            </a:extLst>
          </p:cNvPr>
          <p:cNvSpPr txBox="1"/>
          <p:nvPr/>
        </p:nvSpPr>
        <p:spPr>
          <a:xfrm>
            <a:off x="3089447" y="895114"/>
            <a:ext cx="6013186"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数据分析方法和实现：时序分析预测</a:t>
            </a:r>
          </a:p>
        </p:txBody>
      </p:sp>
      <p:sp>
        <p:nvSpPr>
          <p:cNvPr id="33" name="矩形 32">
            <a:extLst>
              <a:ext uri="{FF2B5EF4-FFF2-40B4-BE49-F238E27FC236}">
                <a16:creationId xmlns:a16="http://schemas.microsoft.com/office/drawing/2014/main" id="{13C09289-D652-518B-0D17-881C5866ECCD}"/>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EE129C86-B620-5DAD-A6FE-33ACC751F7A3}"/>
              </a:ext>
            </a:extLst>
          </p:cNvPr>
          <p:cNvSpPr txBox="1"/>
          <p:nvPr/>
        </p:nvSpPr>
        <p:spPr>
          <a:xfrm>
            <a:off x="1203158" y="1620859"/>
            <a:ext cx="4892842" cy="3139321"/>
          </a:xfrm>
          <a:prstGeom prst="rect">
            <a:avLst/>
          </a:prstGeom>
          <a:noFill/>
        </p:spPr>
        <p:txBody>
          <a:bodyPr wrap="square" rtlCol="0">
            <a:spAutoFit/>
          </a:bodyPr>
          <a:lstStyle/>
          <a:p>
            <a:pPr marL="285750" indent="-285750">
              <a:buFont typeface="Arial" panose="020B0604020202020204" pitchFamily="34" charset="0"/>
              <a:buChar char="•"/>
            </a:pPr>
            <a:r>
              <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考虑进一步用</a:t>
            </a:r>
            <a:r>
              <a:rPr kumimoji="1" lang="en-US" altLang="zh-CN" sz="1400" kern="100" dirty="0" err="1">
                <a:latin typeface="Calibri" panose="020F0502020204030204" pitchFamily="34" charset="0"/>
                <a:ea typeface="宋体" panose="02010600030101010101" pitchFamily="2" charset="-122"/>
                <a:cs typeface="Times New Roman" panose="02020603050405020304" pitchFamily="18" charset="0"/>
              </a:rPr>
              <a:t>arima</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步建立</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ARIMA</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模型来做时序分析和预测</a:t>
            </a:r>
            <a:endPar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先给定</a:t>
            </a:r>
            <a:r>
              <a:rPr kumimoji="1" lang="en-US" altLang="zh-CN" sz="1400" kern="100" dirty="0" err="1">
                <a:latin typeface="Calibri" panose="020F0502020204030204" pitchFamily="34" charset="0"/>
                <a:ea typeface="宋体" panose="02010600030101010101" pitchFamily="2" charset="-122"/>
                <a:cs typeface="Times New Roman" panose="02020603050405020304" pitchFamily="18" charset="0"/>
              </a:rPr>
              <a:t>p,q</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范围进行阶数搜寻，找到</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p=0 q=4</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的最佳阶数，但是最小信息准则水平和表值基数较差</a:t>
            </a:r>
            <a:endPar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做一阶差分后，在检验的显著性水平取</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0.05</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的条件下，延迟</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6</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阶的卡方检验统计量的𝑝值＜</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0.001</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，差分后序列不能视为白噪声序列，还是有信息的</a:t>
            </a:r>
            <a:endPar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做建模拟合后，虽然近似满足正态分布，残差的</a:t>
            </a:r>
            <a:r>
              <a:rPr kumimoji="1" lang="en-US" altLang="zh-CN" sz="1400" kern="100" dirty="0" err="1">
                <a:latin typeface="Calibri" panose="020F0502020204030204" pitchFamily="34" charset="0"/>
                <a:ea typeface="宋体" panose="02010600030101010101" pitchFamily="2" charset="-122"/>
                <a:cs typeface="Times New Roman" panose="02020603050405020304" pitchFamily="18" charset="0"/>
              </a:rPr>
              <a:t>Pr</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依然</a:t>
            </a:r>
            <a:r>
              <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rPr>
              <a:t>&lt;0.001</a:t>
            </a: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，不能认为该残差序列是白噪声序列，自相关截尾性并不显著，残差是白噪声概率极低</a:t>
            </a:r>
            <a:endPar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最终预测的置信度区间过大，近似随机分布</a:t>
            </a:r>
            <a:endParaRPr kumimoji="1" lang="en-US" altLang="zh-CN" sz="14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400" kern="100" dirty="0">
                <a:latin typeface="Calibri" panose="020F0502020204030204" pitchFamily="34" charset="0"/>
                <a:ea typeface="宋体" panose="02010600030101010101" pitchFamily="2" charset="-122"/>
                <a:cs typeface="Times New Roman" panose="02020603050405020304" pitchFamily="18" charset="0"/>
              </a:rPr>
              <a:t>得出结论：传统的时序差分预测方法很难取得更多有效的信息</a:t>
            </a:r>
            <a:endParaRPr kumimoji="1" lang="zh-CN" altLang="en-US" sz="1400" dirty="0"/>
          </a:p>
        </p:txBody>
      </p:sp>
      <p:sp>
        <p:nvSpPr>
          <p:cNvPr id="3" name="文本框 2">
            <a:extLst>
              <a:ext uri="{FF2B5EF4-FFF2-40B4-BE49-F238E27FC236}">
                <a16:creationId xmlns:a16="http://schemas.microsoft.com/office/drawing/2014/main" id="{75758174-0A78-FA94-F12F-FE7F081EC432}"/>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F1CFC97D-FAFB-FBF9-2674-D6C91F3B92E1}"/>
              </a:ext>
            </a:extLst>
          </p:cNvPr>
          <p:cNvPicPr>
            <a:picLocks noChangeAspect="1"/>
          </p:cNvPicPr>
          <p:nvPr/>
        </p:nvPicPr>
        <p:blipFill>
          <a:blip r:embed="rId3"/>
          <a:stretch>
            <a:fillRect/>
          </a:stretch>
        </p:blipFill>
        <p:spPr>
          <a:xfrm>
            <a:off x="6429166" y="2281924"/>
            <a:ext cx="1902879" cy="1444017"/>
          </a:xfrm>
          <a:prstGeom prst="rect">
            <a:avLst/>
          </a:prstGeom>
        </p:spPr>
      </p:pic>
      <p:pic>
        <p:nvPicPr>
          <p:cNvPr id="9" name="图片 8">
            <a:extLst>
              <a:ext uri="{FF2B5EF4-FFF2-40B4-BE49-F238E27FC236}">
                <a16:creationId xmlns:a16="http://schemas.microsoft.com/office/drawing/2014/main" id="{29AA2747-8343-7195-6932-30495671A28B}"/>
              </a:ext>
            </a:extLst>
          </p:cNvPr>
          <p:cNvPicPr>
            <a:picLocks noChangeAspect="1"/>
          </p:cNvPicPr>
          <p:nvPr/>
        </p:nvPicPr>
        <p:blipFill>
          <a:blip r:embed="rId4"/>
          <a:stretch>
            <a:fillRect/>
          </a:stretch>
        </p:blipFill>
        <p:spPr>
          <a:xfrm>
            <a:off x="500106" y="300400"/>
            <a:ext cx="2385133" cy="1035126"/>
          </a:xfrm>
          <a:prstGeom prst="rect">
            <a:avLst/>
          </a:prstGeom>
        </p:spPr>
      </p:pic>
      <p:pic>
        <p:nvPicPr>
          <p:cNvPr id="11" name="图片 10">
            <a:extLst>
              <a:ext uri="{FF2B5EF4-FFF2-40B4-BE49-F238E27FC236}">
                <a16:creationId xmlns:a16="http://schemas.microsoft.com/office/drawing/2014/main" id="{81C6D38A-47BA-468A-B14E-56BFF5BE0EFC}"/>
              </a:ext>
            </a:extLst>
          </p:cNvPr>
          <p:cNvPicPr>
            <a:picLocks noChangeAspect="1"/>
          </p:cNvPicPr>
          <p:nvPr/>
        </p:nvPicPr>
        <p:blipFill>
          <a:blip r:embed="rId5"/>
          <a:stretch>
            <a:fillRect/>
          </a:stretch>
        </p:blipFill>
        <p:spPr>
          <a:xfrm>
            <a:off x="6456947" y="4022883"/>
            <a:ext cx="2768595" cy="783745"/>
          </a:xfrm>
          <a:prstGeom prst="rect">
            <a:avLst/>
          </a:prstGeom>
        </p:spPr>
      </p:pic>
      <p:pic>
        <p:nvPicPr>
          <p:cNvPr id="13" name="图片 12">
            <a:extLst>
              <a:ext uri="{FF2B5EF4-FFF2-40B4-BE49-F238E27FC236}">
                <a16:creationId xmlns:a16="http://schemas.microsoft.com/office/drawing/2014/main" id="{B1529848-D8E0-0E55-95C3-BBCB0241F84F}"/>
              </a:ext>
            </a:extLst>
          </p:cNvPr>
          <p:cNvPicPr>
            <a:picLocks noChangeAspect="1"/>
          </p:cNvPicPr>
          <p:nvPr/>
        </p:nvPicPr>
        <p:blipFill>
          <a:blip r:embed="rId6"/>
          <a:stretch>
            <a:fillRect/>
          </a:stretch>
        </p:blipFill>
        <p:spPr>
          <a:xfrm>
            <a:off x="6456947" y="4981405"/>
            <a:ext cx="2768595" cy="1257326"/>
          </a:xfrm>
          <a:prstGeom prst="rect">
            <a:avLst/>
          </a:prstGeom>
        </p:spPr>
      </p:pic>
      <p:pic>
        <p:nvPicPr>
          <p:cNvPr id="15" name="图片 14">
            <a:extLst>
              <a:ext uri="{FF2B5EF4-FFF2-40B4-BE49-F238E27FC236}">
                <a16:creationId xmlns:a16="http://schemas.microsoft.com/office/drawing/2014/main" id="{855E1378-935E-46E9-4A8B-C172B0CA9005}"/>
              </a:ext>
            </a:extLst>
          </p:cNvPr>
          <p:cNvPicPr>
            <a:picLocks noChangeAspect="1"/>
          </p:cNvPicPr>
          <p:nvPr/>
        </p:nvPicPr>
        <p:blipFill>
          <a:blip r:embed="rId7"/>
          <a:stretch>
            <a:fillRect/>
          </a:stretch>
        </p:blipFill>
        <p:spPr>
          <a:xfrm>
            <a:off x="8465271" y="1876595"/>
            <a:ext cx="3581840" cy="1510026"/>
          </a:xfrm>
          <a:prstGeom prst="rect">
            <a:avLst/>
          </a:prstGeom>
        </p:spPr>
      </p:pic>
      <p:pic>
        <p:nvPicPr>
          <p:cNvPr id="17" name="图片 16">
            <a:extLst>
              <a:ext uri="{FF2B5EF4-FFF2-40B4-BE49-F238E27FC236}">
                <a16:creationId xmlns:a16="http://schemas.microsoft.com/office/drawing/2014/main" id="{E3C50EF0-BB91-02DD-7462-478B32F84F49}"/>
              </a:ext>
            </a:extLst>
          </p:cNvPr>
          <p:cNvPicPr>
            <a:picLocks noChangeAspect="1"/>
          </p:cNvPicPr>
          <p:nvPr/>
        </p:nvPicPr>
        <p:blipFill>
          <a:blip r:embed="rId8"/>
          <a:stretch>
            <a:fillRect/>
          </a:stretch>
        </p:blipFill>
        <p:spPr>
          <a:xfrm>
            <a:off x="306549" y="4806628"/>
            <a:ext cx="5505718" cy="528207"/>
          </a:xfrm>
          <a:prstGeom prst="rect">
            <a:avLst/>
          </a:prstGeom>
        </p:spPr>
      </p:pic>
      <p:pic>
        <p:nvPicPr>
          <p:cNvPr id="19" name="图片 18">
            <a:extLst>
              <a:ext uri="{FF2B5EF4-FFF2-40B4-BE49-F238E27FC236}">
                <a16:creationId xmlns:a16="http://schemas.microsoft.com/office/drawing/2014/main" id="{5D70B9B0-EF02-7BEC-61B4-4C8866140941}"/>
              </a:ext>
            </a:extLst>
          </p:cNvPr>
          <p:cNvPicPr>
            <a:picLocks noChangeAspect="1"/>
          </p:cNvPicPr>
          <p:nvPr/>
        </p:nvPicPr>
        <p:blipFill>
          <a:blip r:embed="rId9"/>
          <a:stretch>
            <a:fillRect/>
          </a:stretch>
        </p:blipFill>
        <p:spPr>
          <a:xfrm>
            <a:off x="9446221" y="3672127"/>
            <a:ext cx="1951581" cy="1109391"/>
          </a:xfrm>
          <a:prstGeom prst="rect">
            <a:avLst/>
          </a:prstGeom>
        </p:spPr>
      </p:pic>
      <p:pic>
        <p:nvPicPr>
          <p:cNvPr id="21" name="图片 20">
            <a:extLst>
              <a:ext uri="{FF2B5EF4-FFF2-40B4-BE49-F238E27FC236}">
                <a16:creationId xmlns:a16="http://schemas.microsoft.com/office/drawing/2014/main" id="{1AA7C221-613D-6BAE-C734-EC3F443C5B6B}"/>
              </a:ext>
            </a:extLst>
          </p:cNvPr>
          <p:cNvPicPr>
            <a:picLocks noChangeAspect="1"/>
          </p:cNvPicPr>
          <p:nvPr/>
        </p:nvPicPr>
        <p:blipFill>
          <a:blip r:embed="rId10"/>
          <a:stretch>
            <a:fillRect/>
          </a:stretch>
        </p:blipFill>
        <p:spPr>
          <a:xfrm>
            <a:off x="9447994" y="4981405"/>
            <a:ext cx="2048546" cy="1417278"/>
          </a:xfrm>
          <a:prstGeom prst="rect">
            <a:avLst/>
          </a:prstGeom>
        </p:spPr>
      </p:pic>
      <p:pic>
        <p:nvPicPr>
          <p:cNvPr id="23" name="图片 22">
            <a:extLst>
              <a:ext uri="{FF2B5EF4-FFF2-40B4-BE49-F238E27FC236}">
                <a16:creationId xmlns:a16="http://schemas.microsoft.com/office/drawing/2014/main" id="{F5ED7C83-3621-D8EE-BFC8-A81088551413}"/>
              </a:ext>
            </a:extLst>
          </p:cNvPr>
          <p:cNvPicPr>
            <a:picLocks noChangeAspect="1"/>
          </p:cNvPicPr>
          <p:nvPr/>
        </p:nvPicPr>
        <p:blipFill>
          <a:blip r:embed="rId11"/>
          <a:stretch>
            <a:fillRect/>
          </a:stretch>
        </p:blipFill>
        <p:spPr>
          <a:xfrm>
            <a:off x="572935" y="5505902"/>
            <a:ext cx="4787045" cy="889584"/>
          </a:xfrm>
          <a:prstGeom prst="rect">
            <a:avLst/>
          </a:prstGeom>
        </p:spPr>
      </p:pic>
    </p:spTree>
    <p:extLst>
      <p:ext uri="{BB962C8B-B14F-4D97-AF65-F5344CB8AC3E}">
        <p14:creationId xmlns:p14="http://schemas.microsoft.com/office/powerpoint/2010/main" val="3287522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03E25-B1BF-B58D-2BC2-3E29EC12AB15}"/>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FBC2DC1F-E160-A09B-D691-BCA8B97F35A1}"/>
              </a:ext>
            </a:extLst>
          </p:cNvPr>
          <p:cNvSpPr txBox="1"/>
          <p:nvPr/>
        </p:nvSpPr>
        <p:spPr>
          <a:xfrm>
            <a:off x="3119908" y="895114"/>
            <a:ext cx="5952270"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数据分析方法和实现：深度学习预测</a:t>
            </a:r>
          </a:p>
        </p:txBody>
      </p:sp>
      <p:sp>
        <p:nvSpPr>
          <p:cNvPr id="33" name="矩形 32">
            <a:extLst>
              <a:ext uri="{FF2B5EF4-FFF2-40B4-BE49-F238E27FC236}">
                <a16:creationId xmlns:a16="http://schemas.microsoft.com/office/drawing/2014/main" id="{3880F1A6-C7F9-C592-D85C-3538ECBC7088}"/>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96E18979-5D3D-3654-CF16-F5AE2AE67C1F}"/>
              </a:ext>
            </a:extLst>
          </p:cNvPr>
          <p:cNvSpPr txBox="1"/>
          <p:nvPr/>
        </p:nvSpPr>
        <p:spPr>
          <a:xfrm>
            <a:off x="1203158" y="1620859"/>
            <a:ext cx="4531895" cy="2616101"/>
          </a:xfrm>
          <a:prstGeom prst="rect">
            <a:avLst/>
          </a:prstGeom>
          <a:noFill/>
        </p:spPr>
        <p:txBody>
          <a:bodyPr wrap="square" rtlCol="0">
            <a:spAutoFit/>
          </a:bodyPr>
          <a:lstStyle/>
          <a:p>
            <a:pPr marL="285750" indent="-285750">
              <a:buFont typeface="Arial" panose="020B0604020202020204" pitchFamily="34" charset="0"/>
              <a:buChar char="•"/>
            </a:pP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kumimoji="1"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kumimoji="1" lang="zh-CN" altLang="en-US" sz="1600" dirty="0"/>
              <a:t>设计了使用</a:t>
            </a:r>
            <a:r>
              <a:rPr kumimoji="1" lang="en-US" altLang="zh-CN" sz="1600" dirty="0" err="1"/>
              <a:t>nnet</a:t>
            </a:r>
            <a:r>
              <a:rPr kumimoji="1" lang="zh-CN" altLang="en-US" sz="1600" dirty="0"/>
              <a:t>步和</a:t>
            </a:r>
            <a:r>
              <a:rPr kumimoji="1" lang="en-US" altLang="zh-CN" sz="1600" dirty="0" err="1"/>
              <a:t>neuroNet</a:t>
            </a:r>
            <a:r>
              <a:rPr kumimoji="1" lang="zh-CN" altLang="en-US" sz="1600" dirty="0"/>
              <a:t>步使用深度学习对多自变量进行建模和预测的流程</a:t>
            </a:r>
            <a:endParaRPr kumimoji="1" lang="en-US" altLang="zh-CN" sz="1600" dirty="0"/>
          </a:p>
          <a:p>
            <a:pPr marL="742950" lvl="1" indent="-285750">
              <a:buFont typeface="Arial" panose="020B0604020202020204" pitchFamily="34" charset="0"/>
              <a:buChar char="•"/>
            </a:pPr>
            <a:r>
              <a:rPr kumimoji="1" lang="zh-CN" altLang="en-US" sz="1600" dirty="0"/>
              <a:t>定义</a:t>
            </a:r>
            <a:r>
              <a:rPr kumimoji="1" lang="en-US" altLang="zh-CN" sz="1600" dirty="0"/>
              <a:t>hidden</a:t>
            </a:r>
            <a:r>
              <a:rPr kumimoji="1" lang="zh-CN" altLang="en-US" sz="1600" dirty="0"/>
              <a:t>层</a:t>
            </a:r>
            <a:endParaRPr kumimoji="1" lang="en-US" altLang="zh-CN" sz="1600" dirty="0"/>
          </a:p>
          <a:p>
            <a:pPr marL="742950" lvl="1" indent="-285750">
              <a:buFont typeface="Arial" panose="020B0604020202020204" pitchFamily="34" charset="0"/>
              <a:buChar char="•"/>
            </a:pPr>
            <a:r>
              <a:rPr kumimoji="1" lang="zh-CN" altLang="en-US" sz="1600" dirty="0"/>
              <a:t>定义</a:t>
            </a:r>
            <a:r>
              <a:rPr kumimoji="1" lang="en-US" altLang="zh-CN" sz="1600" dirty="0"/>
              <a:t>target</a:t>
            </a:r>
            <a:r>
              <a:rPr kumimoji="1" lang="zh-CN" altLang="en-US" sz="1600" dirty="0"/>
              <a:t>变量，</a:t>
            </a:r>
            <a:r>
              <a:rPr kumimoji="1" lang="en-US" altLang="zh-CN" sz="1600" dirty="0"/>
              <a:t>inputs</a:t>
            </a:r>
            <a:r>
              <a:rPr kumimoji="1" lang="zh-CN" altLang="en-US" sz="1600" dirty="0"/>
              <a:t>变量，最大迭代次数，随机种子，误差函数，目标函数处理等</a:t>
            </a:r>
            <a:endParaRPr kumimoji="1" lang="en-US" altLang="zh-CN" sz="1600" dirty="0"/>
          </a:p>
          <a:p>
            <a:pPr marL="742950" lvl="1" indent="-285750">
              <a:buFont typeface="Arial" panose="020B0604020202020204" pitchFamily="34" charset="0"/>
              <a:buChar char="•"/>
            </a:pPr>
            <a:r>
              <a:rPr kumimoji="1" lang="zh-CN" altLang="en-US" sz="1600" dirty="0"/>
              <a:t>深度学习需要</a:t>
            </a:r>
            <a:r>
              <a:rPr kumimoji="1" lang="en-US" altLang="zh-CN" sz="1600" dirty="0" err="1"/>
              <a:t>viya</a:t>
            </a:r>
            <a:r>
              <a:rPr kumimoji="1" lang="zh-CN" altLang="en-US" sz="1600" dirty="0"/>
              <a:t>，暂时没有跑出结果</a:t>
            </a:r>
          </a:p>
        </p:txBody>
      </p:sp>
      <p:sp>
        <p:nvSpPr>
          <p:cNvPr id="3" name="文本框 2">
            <a:extLst>
              <a:ext uri="{FF2B5EF4-FFF2-40B4-BE49-F238E27FC236}">
                <a16:creationId xmlns:a16="http://schemas.microsoft.com/office/drawing/2014/main" id="{A67C5C84-B15D-B765-9205-8D931DB91C38}"/>
              </a:ext>
            </a:extLst>
          </p:cNvPr>
          <p:cNvSpPr txBox="1"/>
          <p:nvPr/>
        </p:nvSpPr>
        <p:spPr>
          <a:xfrm>
            <a:off x="6456947" y="1615651"/>
            <a:ext cx="4531895" cy="36933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数据分析实验</a:t>
            </a:r>
            <a:endParaRPr kumimoji="1" lang="zh-CN" altLang="en-US" sz="1600" dirty="0"/>
          </a:p>
        </p:txBody>
      </p:sp>
      <p:pic>
        <p:nvPicPr>
          <p:cNvPr id="5" name="图片 4">
            <a:extLst>
              <a:ext uri="{FF2B5EF4-FFF2-40B4-BE49-F238E27FC236}">
                <a16:creationId xmlns:a16="http://schemas.microsoft.com/office/drawing/2014/main" id="{F56D9E08-670B-94AB-AFBA-30D6E8911015}"/>
              </a:ext>
            </a:extLst>
          </p:cNvPr>
          <p:cNvPicPr>
            <a:picLocks noChangeAspect="1"/>
          </p:cNvPicPr>
          <p:nvPr/>
        </p:nvPicPr>
        <p:blipFill>
          <a:blip r:embed="rId3"/>
          <a:stretch>
            <a:fillRect/>
          </a:stretch>
        </p:blipFill>
        <p:spPr>
          <a:xfrm>
            <a:off x="5634507" y="2678804"/>
            <a:ext cx="6427258" cy="3186017"/>
          </a:xfrm>
          <a:prstGeom prst="rect">
            <a:avLst/>
          </a:prstGeom>
        </p:spPr>
      </p:pic>
    </p:spTree>
    <p:extLst>
      <p:ext uri="{BB962C8B-B14F-4D97-AF65-F5344CB8AC3E}">
        <p14:creationId xmlns:p14="http://schemas.microsoft.com/office/powerpoint/2010/main" val="3612785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8D62A-207B-F5EE-F7D7-A94D3C870657}"/>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61796CDC-9D7D-5EFE-5530-61E8127D0643}"/>
              </a:ext>
            </a:extLst>
          </p:cNvPr>
          <p:cNvSpPr txBox="1"/>
          <p:nvPr/>
        </p:nvSpPr>
        <p:spPr>
          <a:xfrm>
            <a:off x="1634736" y="895114"/>
            <a:ext cx="8922635"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数据分析方法和实现：边缘预测</a:t>
            </a:r>
            <a:r>
              <a:rPr lang="en-US" altLang="zh-CN"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车站单车营运转送估计</a:t>
            </a:r>
          </a:p>
        </p:txBody>
      </p:sp>
      <p:sp>
        <p:nvSpPr>
          <p:cNvPr id="33" name="矩形 32">
            <a:extLst>
              <a:ext uri="{FF2B5EF4-FFF2-40B4-BE49-F238E27FC236}">
                <a16:creationId xmlns:a16="http://schemas.microsoft.com/office/drawing/2014/main" id="{A9854A7F-EB47-CF44-2CFF-F30C4D1930C5}"/>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698C75FC-B57B-9782-22DE-E1845968BE86}"/>
              </a:ext>
            </a:extLst>
          </p:cNvPr>
          <p:cNvSpPr txBox="1"/>
          <p:nvPr/>
        </p:nvSpPr>
        <p:spPr>
          <a:xfrm>
            <a:off x="1203158" y="1620859"/>
            <a:ext cx="10046538" cy="2585323"/>
          </a:xfrm>
          <a:prstGeom prst="rect">
            <a:avLst/>
          </a:prstGeom>
          <a:noFill/>
        </p:spPr>
        <p:txBody>
          <a:bodyPr wrap="square" rtlCol="0">
            <a:spAutoFit/>
          </a:bodyPr>
          <a:lstStyle/>
          <a:p>
            <a:pPr marL="285750" indent="-285750">
              <a:buFont typeface="Arial" panose="020B0604020202020204" pitchFamily="34" charset="0"/>
              <a:buChar char="•"/>
            </a:pPr>
            <a:r>
              <a:rPr lang="zh-CN" altLang="zh-CN" sz="1600" kern="100" dirty="0">
                <a:effectLst/>
                <a:latin typeface="Calibri" panose="020F0502020204030204" pitchFamily="34" charset="0"/>
                <a:ea typeface="宋体" panose="02010600030101010101" pitchFamily="2" charset="-122"/>
                <a:cs typeface="Times New Roman" panose="02020603050405020304" pitchFamily="18" charset="0"/>
              </a:rPr>
              <a:t>数据分析方法</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考虑共享单车租赁记录里包含的起始和终止站点，统计分析不同站点单车数量变化情况</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宏观</a:t>
            </a: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结果上来看，大部分站点都保持了相对稳定的单车自动回归（出入均衡：紫色部分），少部分站点存在净流出（骑走大于骑来：红色），少部分存在净流入（骑来大于骑走：蓝色），因此可以建议运营方在后面两部分站点需要持续补充单车</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累积分析：统计</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Minnehaha Park</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特定站点</a:t>
            </a:r>
            <a:r>
              <a:rPr lang="en-US" altLang="zh-CN" sz="1600" kern="100" dirty="0">
                <a:latin typeface="Calibri" panose="020F0502020204030204" pitchFamily="34" charset="0"/>
                <a:ea typeface="宋体" panose="02010600030101010101" pitchFamily="2" charset="-122"/>
                <a:cs typeface="Times New Roman" panose="02020603050405020304" pitchFamily="18" charset="0"/>
              </a:rPr>
              <a:t>24</a:t>
            </a:r>
            <a:r>
              <a:rPr lang="zh-CN" altLang="en-US" sz="1600" kern="100" dirty="0">
                <a:latin typeface="Calibri" panose="020F0502020204030204" pitchFamily="34" charset="0"/>
                <a:ea typeface="宋体" panose="02010600030101010101" pitchFamily="2" charset="-122"/>
                <a:cs typeface="Times New Roman" panose="02020603050405020304" pitchFamily="18" charset="0"/>
              </a:rPr>
              <a:t>小时内的累积净出入</a:t>
            </a:r>
            <a:endParaRPr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kern="100" dirty="0">
                <a:effectLst/>
                <a:latin typeface="Calibri" panose="020F0502020204030204" pitchFamily="34" charset="0"/>
                <a:ea typeface="宋体" panose="02010600030101010101" pitchFamily="2" charset="-122"/>
                <a:cs typeface="Times New Roman" panose="02020603050405020304" pitchFamily="18" charset="0"/>
              </a:rPr>
              <a:t>从累积的需求差异来看，中午有很多自行车被从这个车站带走，晚上只有少量流入。所以，如果尼斯骑行不把自行车重新分配给这个车站，那么持续一段时间后这里的自行车会比晚上少很多。</a:t>
            </a:r>
            <a:endPar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endParaRPr kumimoji="1" lang="en-US" altLang="zh-CN" sz="1600" kern="100" dirty="0">
              <a:latin typeface="Calibri" panose="020F0502020204030204" pitchFamily="34" charset="0"/>
              <a:ea typeface="宋体" panose="02010600030101010101" pitchFamily="2" charset="-122"/>
              <a:cs typeface="Times New Roman" panose="02020603050405020304" pitchFamily="18" charset="0"/>
            </a:endParaRPr>
          </a:p>
          <a:p>
            <a:pPr marL="742950" lvl="1" indent="-285750">
              <a:buFont typeface="Arial" panose="020B0604020202020204" pitchFamily="34" charset="0"/>
              <a:buChar char="•"/>
            </a:pPr>
            <a:endParaRPr kumimoji="1" lang="zh-CN" altLang="en-US" sz="1400" dirty="0"/>
          </a:p>
        </p:txBody>
      </p:sp>
      <p:pic>
        <p:nvPicPr>
          <p:cNvPr id="4" name="图片 3">
            <a:extLst>
              <a:ext uri="{FF2B5EF4-FFF2-40B4-BE49-F238E27FC236}">
                <a16:creationId xmlns:a16="http://schemas.microsoft.com/office/drawing/2014/main" id="{25E46832-3B5E-182E-9DE0-5E490E6D60B3}"/>
              </a:ext>
            </a:extLst>
          </p:cNvPr>
          <p:cNvPicPr>
            <a:picLocks noChangeAspect="1"/>
          </p:cNvPicPr>
          <p:nvPr/>
        </p:nvPicPr>
        <p:blipFill>
          <a:blip r:embed="rId3"/>
          <a:stretch>
            <a:fillRect/>
          </a:stretch>
        </p:blipFill>
        <p:spPr>
          <a:xfrm>
            <a:off x="3096038" y="3834011"/>
            <a:ext cx="3318923" cy="2356834"/>
          </a:xfrm>
          <a:prstGeom prst="rect">
            <a:avLst/>
          </a:prstGeom>
        </p:spPr>
      </p:pic>
      <p:pic>
        <p:nvPicPr>
          <p:cNvPr id="6" name="图片 5">
            <a:extLst>
              <a:ext uri="{FF2B5EF4-FFF2-40B4-BE49-F238E27FC236}">
                <a16:creationId xmlns:a16="http://schemas.microsoft.com/office/drawing/2014/main" id="{87CF55B2-DFCB-DA86-910A-62ABC4723D27}"/>
              </a:ext>
            </a:extLst>
          </p:cNvPr>
          <p:cNvPicPr>
            <a:picLocks noChangeAspect="1"/>
          </p:cNvPicPr>
          <p:nvPr/>
        </p:nvPicPr>
        <p:blipFill>
          <a:blip r:embed="rId4"/>
          <a:stretch>
            <a:fillRect/>
          </a:stretch>
        </p:blipFill>
        <p:spPr>
          <a:xfrm>
            <a:off x="353461" y="4050693"/>
            <a:ext cx="2384435" cy="1415988"/>
          </a:xfrm>
          <a:prstGeom prst="rect">
            <a:avLst/>
          </a:prstGeom>
        </p:spPr>
      </p:pic>
      <p:pic>
        <p:nvPicPr>
          <p:cNvPr id="8" name="图片 7">
            <a:extLst>
              <a:ext uri="{FF2B5EF4-FFF2-40B4-BE49-F238E27FC236}">
                <a16:creationId xmlns:a16="http://schemas.microsoft.com/office/drawing/2014/main" id="{F78F70D7-19FC-392F-751D-88C1A7852D94}"/>
              </a:ext>
            </a:extLst>
          </p:cNvPr>
          <p:cNvPicPr>
            <a:picLocks noChangeAspect="1"/>
          </p:cNvPicPr>
          <p:nvPr/>
        </p:nvPicPr>
        <p:blipFill>
          <a:blip r:embed="rId5"/>
          <a:stretch>
            <a:fillRect/>
          </a:stretch>
        </p:blipFill>
        <p:spPr>
          <a:xfrm>
            <a:off x="6580832" y="3850742"/>
            <a:ext cx="2436353" cy="1815890"/>
          </a:xfrm>
          <a:prstGeom prst="rect">
            <a:avLst/>
          </a:prstGeom>
        </p:spPr>
      </p:pic>
      <p:pic>
        <p:nvPicPr>
          <p:cNvPr id="10" name="图片 9">
            <a:extLst>
              <a:ext uri="{FF2B5EF4-FFF2-40B4-BE49-F238E27FC236}">
                <a16:creationId xmlns:a16="http://schemas.microsoft.com/office/drawing/2014/main" id="{AB8B63BE-63E5-3CFE-4D3B-ADB3C5FBB250}"/>
              </a:ext>
            </a:extLst>
          </p:cNvPr>
          <p:cNvPicPr>
            <a:picLocks noChangeAspect="1"/>
          </p:cNvPicPr>
          <p:nvPr/>
        </p:nvPicPr>
        <p:blipFill>
          <a:blip r:embed="rId6"/>
          <a:stretch>
            <a:fillRect/>
          </a:stretch>
        </p:blipFill>
        <p:spPr>
          <a:xfrm>
            <a:off x="9286413" y="3935742"/>
            <a:ext cx="2541916" cy="1921517"/>
          </a:xfrm>
          <a:prstGeom prst="rect">
            <a:avLst/>
          </a:prstGeom>
        </p:spPr>
      </p:pic>
    </p:spTree>
    <p:extLst>
      <p:ext uri="{BB962C8B-B14F-4D97-AF65-F5344CB8AC3E}">
        <p14:creationId xmlns:p14="http://schemas.microsoft.com/office/powerpoint/2010/main" val="6593385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DBD91-F1BC-758A-9BD0-F0ADBF695D95}"/>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852B283E-3F6A-BF20-D4D2-6229121840E8}"/>
              </a:ext>
            </a:extLst>
          </p:cNvPr>
          <p:cNvSpPr txBox="1"/>
          <p:nvPr/>
        </p:nvSpPr>
        <p:spPr>
          <a:xfrm>
            <a:off x="2691111" y="895114"/>
            <a:ext cx="6809878"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基于两个独立数据集的数据分析结论总结</a:t>
            </a:r>
          </a:p>
        </p:txBody>
      </p:sp>
      <p:sp>
        <p:nvSpPr>
          <p:cNvPr id="33" name="矩形 32">
            <a:extLst>
              <a:ext uri="{FF2B5EF4-FFF2-40B4-BE49-F238E27FC236}">
                <a16:creationId xmlns:a16="http://schemas.microsoft.com/office/drawing/2014/main" id="{9AEC303B-C12D-BA17-806B-58871036737C}"/>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CF4C3E7C-360C-8B37-AD3D-43AE9E423752}"/>
              </a:ext>
            </a:extLst>
          </p:cNvPr>
          <p:cNvSpPr txBox="1"/>
          <p:nvPr/>
        </p:nvSpPr>
        <p:spPr>
          <a:xfrm>
            <a:off x="737710" y="1764406"/>
            <a:ext cx="10625071" cy="3970318"/>
          </a:xfrm>
          <a:prstGeom prst="rect">
            <a:avLst/>
          </a:prstGeom>
          <a:noFill/>
        </p:spPr>
        <p:txBody>
          <a:bodyPr wrap="square" rtlCol="0">
            <a:spAutoFit/>
          </a:bodyPr>
          <a:lstStyle/>
          <a:p>
            <a:pPr marL="342900" indent="-342900">
              <a:buFont typeface="+mj-lt"/>
              <a:buAutoNum type="arabicPeriod"/>
            </a:pPr>
            <a:r>
              <a:rPr lang="zh-CN" altLang="en-US" dirty="0"/>
              <a:t>整体来说，用户倾向于在更好的天气、更舒适的气温湿度下使用共享单车；</a:t>
            </a:r>
            <a:endParaRPr lang="en-US" altLang="zh-CN" dirty="0"/>
          </a:p>
          <a:p>
            <a:pPr marL="742950" lvl="1" indent="-285750">
              <a:buFont typeface="Arial" panose="020B0604020202020204" pitchFamily="34" charset="0"/>
              <a:buChar char="•"/>
            </a:pPr>
            <a:r>
              <a:rPr lang="zh-CN" altLang="en-US" dirty="0"/>
              <a:t>共享单车用户使用率对温度、天气因素依赖性大。</a:t>
            </a:r>
          </a:p>
          <a:p>
            <a:pPr marL="742950" lvl="1" indent="-285750">
              <a:buFont typeface="Arial" panose="020B0604020202020204" pitchFamily="34" charset="0"/>
              <a:buChar char="•"/>
            </a:pPr>
            <a:r>
              <a:rPr lang="zh-CN" altLang="en-US" dirty="0"/>
              <a:t>风速一般情况对使用率影响稳定，除非是大风天气；</a:t>
            </a:r>
          </a:p>
          <a:p>
            <a:pPr marL="342900" indent="-342900">
              <a:buFont typeface="+mj-lt"/>
              <a:buAutoNum type="arabicPeriod"/>
            </a:pPr>
            <a:r>
              <a:rPr lang="zh-CN" altLang="en-US" dirty="0"/>
              <a:t>朝九晚五的人群更有可能成为共享单车的注册用户，这些人群在工作日的使用时间集中在上下班高峰期；非工作日和节假日使用时间集中在白天</a:t>
            </a:r>
          </a:p>
          <a:p>
            <a:pPr marL="342900" indent="-342900">
              <a:buFont typeface="+mj-lt"/>
              <a:buAutoNum type="arabicPeriod"/>
            </a:pPr>
            <a:r>
              <a:rPr lang="zh-CN" altLang="en-US" dirty="0"/>
              <a:t>非注册用户对天气的要求较于注册用户更高，使用时间集中在白天</a:t>
            </a:r>
            <a:endParaRPr lang="en-US" altLang="zh-CN" dirty="0"/>
          </a:p>
          <a:p>
            <a:pPr marL="342900" indent="-342900">
              <a:buFont typeface="+mj-lt"/>
              <a:buAutoNum type="arabicPeriod"/>
            </a:pPr>
            <a:r>
              <a:rPr lang="en-US" altLang="zh-CN" b="0" i="0" dirty="0">
                <a:solidFill>
                  <a:srgbClr val="191B1F"/>
                </a:solidFill>
                <a:effectLst/>
                <a:latin typeface="-apple-system"/>
              </a:rPr>
              <a:t>5-10</a:t>
            </a:r>
            <a:r>
              <a:rPr lang="zh-CN" altLang="en-US" b="0" i="0" dirty="0">
                <a:solidFill>
                  <a:srgbClr val="191B1F"/>
                </a:solidFill>
                <a:effectLst/>
                <a:latin typeface="-apple-system"/>
              </a:rPr>
              <a:t>月的租车人数较多，从</a:t>
            </a:r>
            <a:r>
              <a:rPr lang="en-US" altLang="zh-CN" b="0" i="0" dirty="0">
                <a:solidFill>
                  <a:srgbClr val="191B1F"/>
                </a:solidFill>
                <a:effectLst/>
                <a:latin typeface="-apple-system"/>
              </a:rPr>
              <a:t>1</a:t>
            </a:r>
            <a:r>
              <a:rPr lang="zh-CN" altLang="en-US" b="0" i="0" dirty="0">
                <a:solidFill>
                  <a:srgbClr val="191B1F"/>
                </a:solidFill>
                <a:effectLst/>
                <a:latin typeface="-apple-system"/>
              </a:rPr>
              <a:t>月到</a:t>
            </a:r>
            <a:r>
              <a:rPr lang="en-US" altLang="zh-CN" b="0" i="0" dirty="0">
                <a:solidFill>
                  <a:srgbClr val="191B1F"/>
                </a:solidFill>
                <a:effectLst/>
                <a:latin typeface="-apple-system"/>
              </a:rPr>
              <a:t>5</a:t>
            </a:r>
            <a:r>
              <a:rPr lang="zh-CN" altLang="en-US" b="0" i="0" dirty="0">
                <a:solidFill>
                  <a:srgbClr val="191B1F"/>
                </a:solidFill>
                <a:effectLst/>
                <a:latin typeface="-apple-system"/>
              </a:rPr>
              <a:t>月，总体呈上升趋势，</a:t>
            </a:r>
            <a:r>
              <a:rPr lang="en-US" altLang="zh-CN" b="0" i="0" dirty="0">
                <a:solidFill>
                  <a:srgbClr val="191B1F"/>
                </a:solidFill>
                <a:effectLst/>
                <a:latin typeface="-apple-system"/>
              </a:rPr>
              <a:t>10</a:t>
            </a:r>
            <a:r>
              <a:rPr lang="zh-CN" altLang="en-US" b="0" i="0" dirty="0">
                <a:solidFill>
                  <a:srgbClr val="191B1F"/>
                </a:solidFill>
                <a:effectLst/>
                <a:latin typeface="-apple-system"/>
              </a:rPr>
              <a:t>月以后有明显的下降趋势</a:t>
            </a:r>
            <a:endParaRPr lang="en-US" altLang="zh-CN" b="0" i="0" dirty="0">
              <a:solidFill>
                <a:srgbClr val="191B1F"/>
              </a:solidFill>
              <a:effectLst/>
              <a:latin typeface="-apple-system"/>
            </a:endParaRPr>
          </a:p>
          <a:p>
            <a:pPr marL="342900" indent="-342900">
              <a:buFont typeface="+mj-lt"/>
              <a:buAutoNum type="arabicPeriod"/>
            </a:pPr>
            <a:r>
              <a:rPr lang="zh-CN" altLang="en-US" dirty="0"/>
              <a:t>周六和周天租车高峰期在下午期间，而工作日租车的高峰期是上下班高峰期。</a:t>
            </a:r>
            <a:endParaRPr lang="en-US" altLang="zh-CN" dirty="0"/>
          </a:p>
          <a:p>
            <a:pPr marL="342900" indent="-342900">
              <a:buAutoNum type="arabicPeriod" startAt="6"/>
            </a:pPr>
            <a:r>
              <a:rPr lang="zh-CN" altLang="en-US" dirty="0"/>
              <a:t>部分站点的共享单车会出现一段时间内供需不平衡的问题，需要运营方手动进行调度</a:t>
            </a:r>
            <a:endParaRPr lang="en-US" altLang="zh-CN" dirty="0"/>
          </a:p>
          <a:p>
            <a:pPr marL="342900" indent="-342900">
              <a:buAutoNum type="arabicPeriod" startAt="6"/>
            </a:pPr>
            <a:r>
              <a:rPr lang="zh-CN" altLang="en-US" dirty="0"/>
              <a:t>共享单车租赁情况季节性（周期性）不显著</a:t>
            </a:r>
            <a:endParaRPr lang="en-US" altLang="zh-CN" dirty="0"/>
          </a:p>
          <a:p>
            <a:pPr marL="342900" indent="-342900">
              <a:buAutoNum type="arabicPeriod" startAt="6"/>
            </a:pPr>
            <a:r>
              <a:rPr lang="zh-CN" altLang="en-US" dirty="0"/>
              <a:t>共享单车租赁情况是较为复杂的变化趋势，用经典的</a:t>
            </a:r>
            <a:r>
              <a:rPr lang="en-US" altLang="zh-CN" dirty="0"/>
              <a:t>ARIMA</a:t>
            </a:r>
            <a:r>
              <a:rPr lang="zh-CN" altLang="en-US" dirty="0"/>
              <a:t>较难进行准确拟合，但依然可以用线性、非线性模型、</a:t>
            </a:r>
            <a:r>
              <a:rPr lang="en-US" altLang="zh-CN" dirty="0"/>
              <a:t>ARIMA</a:t>
            </a:r>
            <a:r>
              <a:rPr lang="zh-CN" altLang="en-US" dirty="0"/>
              <a:t>模型等进行尝试和比较；需要深度学习等新方法的引入</a:t>
            </a:r>
            <a:endParaRPr lang="en-US" altLang="zh-CN" dirty="0"/>
          </a:p>
          <a:p>
            <a:pPr marL="342900" indent="-342900">
              <a:buAutoNum type="arabicPeriod" startAt="6"/>
            </a:pPr>
            <a:r>
              <a:rPr lang="zh-CN" altLang="en-US" dirty="0"/>
              <a:t>共享单车租赁是个复杂的系统，还有其他的隐变量可能没有收集到</a:t>
            </a:r>
            <a:endParaRPr lang="en-US" altLang="zh-CN" dirty="0"/>
          </a:p>
          <a:p>
            <a:pPr marL="285750" indent="-285750">
              <a:buFont typeface="Arial" panose="020B0604020202020204" pitchFamily="34" charset="0"/>
              <a:buChar char="•"/>
            </a:pPr>
            <a:endParaRPr lang="zh-CN" altLang="en-US" dirty="0"/>
          </a:p>
        </p:txBody>
      </p:sp>
    </p:spTree>
    <p:extLst>
      <p:ext uri="{BB962C8B-B14F-4D97-AF65-F5344CB8AC3E}">
        <p14:creationId xmlns:p14="http://schemas.microsoft.com/office/powerpoint/2010/main" val="3910691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ED58B-745B-530E-72BC-B5B633E30F9E}"/>
            </a:ext>
          </a:extLst>
        </p:cNvPr>
        <p:cNvGrpSpPr/>
        <p:nvPr/>
      </p:nvGrpSpPr>
      <p:grpSpPr>
        <a:xfrm>
          <a:off x="0" y="0"/>
          <a:ext cx="0" cy="0"/>
          <a:chOff x="0" y="0"/>
          <a:chExt cx="0" cy="0"/>
        </a:xfrm>
      </p:grpSpPr>
      <p:sp>
        <p:nvSpPr>
          <p:cNvPr id="27" name="文本框 26">
            <a:extLst>
              <a:ext uri="{FF2B5EF4-FFF2-40B4-BE49-F238E27FC236}">
                <a16:creationId xmlns:a16="http://schemas.microsoft.com/office/drawing/2014/main" id="{4BFE6540-0697-40A8-0411-DD2ED6D98C5A}"/>
              </a:ext>
            </a:extLst>
          </p:cNvPr>
          <p:cNvSpPr txBox="1"/>
          <p:nvPr/>
        </p:nvSpPr>
        <p:spPr>
          <a:xfrm>
            <a:off x="5285532" y="895114"/>
            <a:ext cx="1620957" cy="523220"/>
          </a:xfrm>
          <a:prstGeom prst="rect">
            <a:avLst/>
          </a:prstGeom>
          <a:noFill/>
        </p:spPr>
        <p:txBody>
          <a:bodyPr wrap="none" rtlCol="0">
            <a:spAutoFit/>
            <a:scene3d>
              <a:camera prst="orthographicFront"/>
              <a:lightRig rig="threePt" dir="t"/>
            </a:scene3d>
            <a:sp3d contourW="12700"/>
          </a:bodyPr>
          <a:lstStyle/>
          <a:p>
            <a:pPr algn="ctr"/>
            <a:r>
              <a:rPr lang="zh-CN" altLang="en-US" sz="2800" dirty="0">
                <a:solidFill>
                  <a:srgbClr val="1259A5"/>
                </a:solidFill>
                <a:latin typeface="Times New Roman" panose="02020603050405020304" pitchFamily="18" charset="0"/>
                <a:ea typeface="微软雅黑" panose="020B0503020204020204" pitchFamily="34" charset="-122"/>
                <a:sym typeface="Times New Roman" panose="02020603050405020304" pitchFamily="18" charset="0"/>
              </a:rPr>
              <a:t>参考文献</a:t>
            </a:r>
          </a:p>
        </p:txBody>
      </p:sp>
      <p:sp>
        <p:nvSpPr>
          <p:cNvPr id="33" name="矩形 32">
            <a:extLst>
              <a:ext uri="{FF2B5EF4-FFF2-40B4-BE49-F238E27FC236}">
                <a16:creationId xmlns:a16="http://schemas.microsoft.com/office/drawing/2014/main" id="{7DC30195-367B-E8AF-D589-1C69209B140C}"/>
              </a:ext>
            </a:extLst>
          </p:cNvPr>
          <p:cNvSpPr/>
          <p:nvPr/>
        </p:nvSpPr>
        <p:spPr>
          <a:xfrm rot="16200000">
            <a:off x="5888321" y="-203612"/>
            <a:ext cx="323850" cy="1564804"/>
          </a:xfrm>
          <a:prstGeom prst="rect">
            <a:avLst/>
          </a:prstGeom>
          <a:solidFill>
            <a:srgbClr val="51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b="1" i="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 name="文本框 1">
            <a:extLst>
              <a:ext uri="{FF2B5EF4-FFF2-40B4-BE49-F238E27FC236}">
                <a16:creationId xmlns:a16="http://schemas.microsoft.com/office/drawing/2014/main" id="{524E3D86-07BF-8655-57B8-8F16821FEEF9}"/>
              </a:ext>
            </a:extLst>
          </p:cNvPr>
          <p:cNvSpPr txBox="1"/>
          <p:nvPr/>
        </p:nvSpPr>
        <p:spPr>
          <a:xfrm>
            <a:off x="1203158" y="1620859"/>
            <a:ext cx="8559028" cy="5016758"/>
          </a:xfrm>
          <a:prstGeom prst="rect">
            <a:avLst/>
          </a:prstGeom>
          <a:noFill/>
        </p:spPr>
        <p:txBody>
          <a:bodyPr wrap="square" rtlCol="0">
            <a:spAutoFit/>
          </a:bodyPr>
          <a:lstStyle/>
          <a:p>
            <a:pPr marL="342900" indent="-342900">
              <a:buFont typeface="+mj-lt"/>
              <a:buAutoNum type="arabicPeriod"/>
            </a:pPr>
            <a:endParaRPr kumimoji="1" lang="en-US" altLang="zh-CN" sz="1600" dirty="0"/>
          </a:p>
          <a:p>
            <a:pPr marL="342900" indent="-342900">
              <a:buFont typeface="+mj-lt"/>
              <a:buAutoNum type="arabicPeriod"/>
            </a:pPr>
            <a:r>
              <a:rPr lang="zh-CN" altLang="en-US" sz="1600" dirty="0"/>
              <a:t>文献聚类结果可视分析方法研究，余敏槠等，计算机辅助设计与图形学学报 </a:t>
            </a:r>
            <a:r>
              <a:rPr lang="en-US" altLang="zh-CN" sz="1600" dirty="0"/>
              <a:t>2020</a:t>
            </a:r>
            <a:r>
              <a:rPr lang="zh-CN" altLang="en-US" sz="1600" dirty="0"/>
              <a:t>年</a:t>
            </a:r>
            <a:r>
              <a:rPr lang="en-US" altLang="zh-CN" sz="1600" dirty="0"/>
              <a:t>10</a:t>
            </a:r>
            <a:r>
              <a:rPr lang="zh-CN" altLang="en-US" sz="1600" dirty="0"/>
              <a:t>月</a:t>
            </a:r>
            <a:endParaRPr kumimoji="1" lang="en-US" altLang="zh-CN" sz="1600" dirty="0"/>
          </a:p>
          <a:p>
            <a:pPr marL="342900" indent="-342900">
              <a:buFont typeface="+mj-lt"/>
              <a:buAutoNum type="arabicPeriod"/>
            </a:pPr>
            <a:endParaRPr kumimoji="1" lang="en-US" altLang="zh-CN" sz="1600" dirty="0"/>
          </a:p>
          <a:p>
            <a:pPr marL="342900" indent="-342900">
              <a:buFont typeface="+mj-lt"/>
              <a:buAutoNum type="arabicPeriod"/>
            </a:pPr>
            <a:r>
              <a:rPr lang="zh-CN" altLang="en-US" sz="1600" dirty="0"/>
              <a:t>高频交易数据分析</a:t>
            </a:r>
            <a:r>
              <a:rPr lang="en-US" altLang="zh-CN" sz="1600" dirty="0"/>
              <a:t>: </a:t>
            </a:r>
            <a:r>
              <a:rPr lang="zh-CN" altLang="en-US" sz="1600" dirty="0"/>
              <a:t>交易成本计算与</a:t>
            </a:r>
            <a:r>
              <a:rPr lang="en-US" altLang="zh-CN" sz="1600" dirty="0"/>
              <a:t>VAR</a:t>
            </a:r>
            <a:r>
              <a:rPr lang="zh-CN" altLang="en-US" sz="1600" dirty="0"/>
              <a:t>分析 </a:t>
            </a:r>
            <a:r>
              <a:rPr kumimoji="1" lang="en-US" altLang="zh-CN" sz="1600" dirty="0">
                <a:hlinkClick r:id="rId3"/>
              </a:rPr>
              <a:t>https://fe.uibe.edu.cn/qflab/docs/20180327111352173050.pdf</a:t>
            </a:r>
            <a:endParaRPr kumimoji="1" lang="en-US" altLang="zh-CN" sz="1600" dirty="0"/>
          </a:p>
          <a:p>
            <a:pPr marL="342900" indent="-342900">
              <a:buFont typeface="+mj-lt"/>
              <a:buAutoNum type="arabicPeriod"/>
            </a:pPr>
            <a:endParaRPr kumimoji="1" lang="en-US" altLang="zh-CN" sz="1600" dirty="0"/>
          </a:p>
          <a:p>
            <a:pPr marL="342900" indent="-342900">
              <a:buFont typeface="+mj-lt"/>
              <a:buAutoNum type="arabicPeriod"/>
            </a:pPr>
            <a:endParaRPr kumimoji="1" lang="en-US" altLang="zh-CN" sz="1600" dirty="0"/>
          </a:p>
          <a:p>
            <a:pPr marL="342900" indent="-342900">
              <a:buFont typeface="+mj-lt"/>
              <a:buAutoNum type="arabicPeriod"/>
            </a:pPr>
            <a:r>
              <a:rPr kumimoji="1" lang="en-US" altLang="zh-CN" sz="1600" dirty="0"/>
              <a:t>Sas</a:t>
            </a:r>
            <a:r>
              <a:rPr kumimoji="1" lang="zh-CN" altLang="en-US" sz="1600" dirty="0"/>
              <a:t>官方文档 </a:t>
            </a:r>
            <a:r>
              <a:rPr kumimoji="1" lang="en-US" altLang="zh-CN" sz="1600" dirty="0">
                <a:hlinkClick r:id="rId4"/>
              </a:rPr>
              <a:t>https://support.sas.com/en/documentation.html</a:t>
            </a:r>
            <a:r>
              <a:rPr kumimoji="1" lang="en-US" altLang="zh-CN" sz="1600" dirty="0"/>
              <a:t> </a:t>
            </a:r>
          </a:p>
          <a:p>
            <a:pPr marL="342900" indent="-342900">
              <a:buFont typeface="+mj-lt"/>
              <a:buAutoNum type="arabicPeriod"/>
            </a:pPr>
            <a:endParaRPr kumimoji="1" lang="en-US" altLang="zh-CN" sz="1600" dirty="0"/>
          </a:p>
          <a:p>
            <a:pPr marL="342900" indent="-342900">
              <a:buFont typeface="+mj-lt"/>
              <a:buAutoNum type="arabicPeriod"/>
            </a:pPr>
            <a:r>
              <a:rPr kumimoji="1" lang="en-US" altLang="zh-CN" sz="1600" dirty="0"/>
              <a:t>Sas</a:t>
            </a:r>
            <a:r>
              <a:rPr kumimoji="1" lang="zh-CN" altLang="en-US" sz="1600" dirty="0"/>
              <a:t>社区支持 </a:t>
            </a:r>
            <a:r>
              <a:rPr kumimoji="1" lang="en-US" altLang="zh-CN" sz="1600" dirty="0">
                <a:hlinkClick r:id="rId5"/>
              </a:rPr>
              <a:t>https://www.sas.com/en_us/navigation/header/global-header/navigation/support/documentation.html</a:t>
            </a:r>
            <a:r>
              <a:rPr kumimoji="1" lang="en-US" altLang="zh-CN" sz="1600" dirty="0"/>
              <a:t> </a:t>
            </a:r>
          </a:p>
          <a:p>
            <a:pPr marL="342900" indent="-342900">
              <a:buFont typeface="+mj-lt"/>
              <a:buAutoNum type="arabicPeriod"/>
            </a:pPr>
            <a:endParaRPr kumimoji="1" lang="en-US" altLang="zh-CN" sz="1600" dirty="0"/>
          </a:p>
          <a:p>
            <a:pPr marL="342900" indent="-342900">
              <a:buFont typeface="+mj-lt"/>
              <a:buAutoNum type="arabicPeriod"/>
            </a:pPr>
            <a:r>
              <a:rPr kumimoji="1" lang="zh-CN" altLang="en-US" sz="1600" dirty="0"/>
              <a:t>基于主成分分析及时间序列预测的我国就业问题研究</a:t>
            </a:r>
            <a:r>
              <a:rPr kumimoji="1" lang="en-US" altLang="zh-CN" sz="1600" dirty="0">
                <a:hlinkClick r:id="rId6"/>
              </a:rPr>
              <a:t>https://www.xueweilunwen.com/doc/1657941</a:t>
            </a:r>
            <a:r>
              <a:rPr kumimoji="1" lang="en-US" altLang="zh-CN" sz="1600" dirty="0"/>
              <a:t>   </a:t>
            </a:r>
          </a:p>
          <a:p>
            <a:pPr marL="342900" indent="-342900">
              <a:buFont typeface="+mj-lt"/>
              <a:buAutoNum type="arabicPeriod"/>
            </a:pPr>
            <a:endParaRPr kumimoji="1" lang="en-US" altLang="zh-CN" sz="1600" dirty="0"/>
          </a:p>
          <a:p>
            <a:pPr marL="342900" indent="-342900">
              <a:buFont typeface="+mj-lt"/>
              <a:buAutoNum type="arabicPeriod"/>
            </a:pPr>
            <a:r>
              <a:rPr kumimoji="1" lang="zh-CN" altLang="en-US" sz="1600" dirty="0"/>
              <a:t>基于主成分分析和</a:t>
            </a:r>
            <a:r>
              <a:rPr kumimoji="1" lang="en-US" altLang="zh-CN" sz="1600" dirty="0"/>
              <a:t>BP</a:t>
            </a:r>
            <a:r>
              <a:rPr kumimoji="1" lang="zh-CN" altLang="en-US" sz="1600" dirty="0"/>
              <a:t>神经网络的股价预测</a:t>
            </a:r>
            <a:r>
              <a:rPr kumimoji="1" lang="en-US" altLang="zh-CN" sz="1600" dirty="0">
                <a:hlinkClick r:id="rId7"/>
              </a:rPr>
              <a:t>https://xueshu.baidu.com/usercenter/paper/show?paperid=7ecc5d72e2eb5920db0d72cb0d0fa102</a:t>
            </a:r>
            <a:r>
              <a:rPr kumimoji="1" lang="en-US" altLang="zh-CN" sz="1600" dirty="0"/>
              <a:t> </a:t>
            </a:r>
          </a:p>
          <a:p>
            <a:pPr marL="342900" indent="-342900">
              <a:buFont typeface="+mj-lt"/>
              <a:buAutoNum type="arabicPeriod"/>
            </a:pPr>
            <a:endParaRPr kumimoji="1" lang="en-US" altLang="zh-CN" sz="1600" dirty="0"/>
          </a:p>
          <a:p>
            <a:pPr marL="342900" indent="-342900">
              <a:buFont typeface="+mj-lt"/>
              <a:buAutoNum type="arabicPeriod"/>
            </a:pPr>
            <a:r>
              <a:rPr kumimoji="1" lang="zh-CN" altLang="en-US" sz="1600" dirty="0"/>
              <a:t>基于</a:t>
            </a:r>
            <a:r>
              <a:rPr kumimoji="1" lang="en-US" altLang="zh-CN" sz="1600" dirty="0"/>
              <a:t>python</a:t>
            </a:r>
            <a:r>
              <a:rPr kumimoji="1" lang="zh-CN" altLang="en-US" sz="1600" dirty="0"/>
              <a:t>的共享单车数据分析及可视化 </a:t>
            </a:r>
            <a:r>
              <a:rPr kumimoji="1" lang="en-US" altLang="zh-CN" sz="1600" dirty="0">
                <a:hlinkClick r:id="rId8"/>
              </a:rPr>
              <a:t>https://zhuanlan.zhihu.com/p/38281571</a:t>
            </a:r>
            <a:r>
              <a:rPr kumimoji="1" lang="en-US" altLang="zh-CN" sz="1600" dirty="0"/>
              <a:t> </a:t>
            </a:r>
          </a:p>
        </p:txBody>
      </p:sp>
    </p:spTree>
    <p:extLst>
      <p:ext uri="{BB962C8B-B14F-4D97-AF65-F5344CB8AC3E}">
        <p14:creationId xmlns:p14="http://schemas.microsoft.com/office/powerpoint/2010/main" val="3334579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69064E9-15DB-BF68-D8AC-2AA896E1DD5B}"/>
              </a:ext>
            </a:extLst>
          </p:cNvPr>
          <p:cNvPicPr>
            <a:picLocks noChangeAspect="1"/>
          </p:cNvPicPr>
          <p:nvPr/>
        </p:nvPicPr>
        <p:blipFill>
          <a:blip r:embed="rId2"/>
          <a:stretch>
            <a:fillRect/>
          </a:stretch>
        </p:blipFill>
        <p:spPr>
          <a:xfrm>
            <a:off x="2254" y="0"/>
            <a:ext cx="12187491" cy="6858000"/>
          </a:xfrm>
          <a:prstGeom prst="rect">
            <a:avLst/>
          </a:prstGeom>
        </p:spPr>
      </p:pic>
    </p:spTree>
    <p:extLst>
      <p:ext uri="{BB962C8B-B14F-4D97-AF65-F5344CB8AC3E}">
        <p14:creationId xmlns:p14="http://schemas.microsoft.com/office/powerpoint/2010/main" val="27869795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3303</Words>
  <Application>Microsoft Office PowerPoint</Application>
  <PresentationFormat>宽屏</PresentationFormat>
  <Paragraphs>328</Paragraphs>
  <Slides>33</Slides>
  <Notes>32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-apple-system</vt:lpstr>
      <vt:lpstr>等线</vt:lpstr>
      <vt:lpstr>等线 Light</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宇森 吴</dc:creator>
  <cp:lastModifiedBy>宇森 吴</cp:lastModifiedBy>
  <cp:revision>212</cp:revision>
  <dcterms:created xsi:type="dcterms:W3CDTF">2024-12-31T10:06:01Z</dcterms:created>
  <dcterms:modified xsi:type="dcterms:W3CDTF">2025-01-02T04:29:32Z</dcterms:modified>
</cp:coreProperties>
</file>